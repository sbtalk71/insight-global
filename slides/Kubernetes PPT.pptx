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84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0525" y="644933"/>
            <a:ext cx="640294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1758" y="1784412"/>
            <a:ext cx="7820482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489" y="1600061"/>
            <a:ext cx="7327020" cy="258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bernetes/kubernetes/blob/master/cmd/kube-controller-manager/app/controllermanager.go#L33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concepts/overview/working-with-objects/labels/#syntax-and-character-se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85541" y="1679078"/>
            <a:ext cx="3590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65" dirty="0"/>
              <a:t>Kubernetes</a:t>
            </a:r>
            <a:endParaRPr sz="4800"/>
          </a:p>
        </p:txBody>
      </p:sp>
      <p:sp>
        <p:nvSpPr>
          <p:cNvPr id="9" name="object 9"/>
          <p:cNvSpPr txBox="1"/>
          <p:nvPr/>
        </p:nvSpPr>
        <p:spPr>
          <a:xfrm>
            <a:off x="5055025" y="2306933"/>
            <a:ext cx="3763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Comprehensive</a:t>
            </a:r>
            <a:r>
              <a:rPr sz="2400" spc="-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6632" y="4843029"/>
            <a:ext cx="112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v1.8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0" dirty="0"/>
              <a:t>Agenda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596747"/>
            <a:ext cx="2453005" cy="18319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Who</a:t>
            </a:r>
            <a:r>
              <a:rPr sz="110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am </a:t>
            </a:r>
            <a:r>
              <a:rPr sz="1100" spc="-80" dirty="0">
                <a:solidFill>
                  <a:srgbClr val="FFFFFF"/>
                </a:solidFill>
                <a:latin typeface="Tahoma"/>
                <a:cs typeface="Tahoma"/>
              </a:rPr>
              <a:t>I?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100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is Kubernetes?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does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do?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Master</a:t>
            </a:r>
            <a:r>
              <a:rPr sz="11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1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Additional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Networking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5154" y="1596747"/>
            <a:ext cx="2950845" cy="18319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Concepts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Workloads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Configuration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Auth</a:t>
            </a:r>
            <a:r>
              <a:rPr sz="1100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Behind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Scenes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Beginning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End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31635" y="2030030"/>
            <a:ext cx="322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05" dirty="0"/>
              <a:t>Introduction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231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0" dirty="0"/>
              <a:t>Intro </a:t>
            </a:r>
            <a:r>
              <a:rPr sz="2400" spc="180" dirty="0"/>
              <a:t>- </a:t>
            </a:r>
            <a:r>
              <a:rPr sz="2400" spc="330" dirty="0"/>
              <a:t>What</a:t>
            </a:r>
            <a:r>
              <a:rPr sz="2400" spc="-245" dirty="0"/>
              <a:t> </a:t>
            </a:r>
            <a:r>
              <a:rPr sz="2400" spc="160" dirty="0"/>
              <a:t>is </a:t>
            </a:r>
            <a:r>
              <a:rPr sz="2400" spc="280" dirty="0"/>
              <a:t>Kubernetes?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781165" cy="17075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634365" indent="38735" algn="just">
              <a:lnSpc>
                <a:spcPct val="101600"/>
              </a:lnSpc>
              <a:spcBef>
                <a:spcPts val="7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5" dirty="0">
                <a:solidFill>
                  <a:srgbClr val="FFFFFF"/>
                </a:solidFill>
                <a:latin typeface="Gill Sans MT"/>
                <a:cs typeface="Gill Sans MT"/>
              </a:rPr>
              <a:t>K8s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spun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Google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open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source 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next-gen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lessons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learned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 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developing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Borg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Omega.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1600"/>
              </a:lnSpc>
              <a:spcBef>
                <a:spcPts val="157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ground-up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loosely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coupled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collection 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components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centered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deploying, maintaining, and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scaling  applications.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253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0" dirty="0"/>
              <a:t>Intro</a:t>
            </a:r>
            <a:r>
              <a:rPr sz="2400" spc="85" dirty="0"/>
              <a:t> </a:t>
            </a:r>
            <a:r>
              <a:rPr sz="2400" spc="180" dirty="0"/>
              <a:t>-</a:t>
            </a:r>
            <a:r>
              <a:rPr sz="2400" spc="85" dirty="0"/>
              <a:t> </a:t>
            </a:r>
            <a:r>
              <a:rPr sz="2400" spc="330" dirty="0"/>
              <a:t>What</a:t>
            </a:r>
            <a:r>
              <a:rPr sz="2400" spc="85" dirty="0"/>
              <a:t> </a:t>
            </a:r>
            <a:r>
              <a:rPr sz="2400" spc="305" dirty="0"/>
              <a:t>Does</a:t>
            </a:r>
            <a:r>
              <a:rPr sz="2400" spc="85" dirty="0"/>
              <a:t> </a:t>
            </a:r>
            <a:r>
              <a:rPr sz="2400" spc="280" dirty="0"/>
              <a:t>Kubernetes</a:t>
            </a:r>
            <a:r>
              <a:rPr sz="2400" spc="85" dirty="0"/>
              <a:t> </a:t>
            </a:r>
            <a:r>
              <a:rPr sz="2400" spc="280" dirty="0"/>
              <a:t>do?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328410" cy="121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linux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kernel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distributed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systems.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1600"/>
              </a:lnSpc>
              <a:spcBef>
                <a:spcPts val="1575"/>
              </a:spcBef>
            </a:pP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abstracts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away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underlying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hardware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uniform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applications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deployed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shared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pool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1514" marR="1178560" algn="ctr">
              <a:lnSpc>
                <a:spcPct val="100000"/>
              </a:lnSpc>
              <a:spcBef>
                <a:spcPts val="100"/>
              </a:spcBef>
            </a:pPr>
            <a:r>
              <a:rPr spc="425" dirty="0"/>
              <a:t>Kubernetes</a:t>
            </a:r>
          </a:p>
          <a:p>
            <a:pPr marL="2947670" algn="ctr">
              <a:lnSpc>
                <a:spcPct val="100000"/>
              </a:lnSpc>
              <a:spcBef>
                <a:spcPts val="30"/>
              </a:spcBef>
            </a:pPr>
            <a:r>
              <a:rPr spc="365" dirty="0"/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44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40" dirty="0"/>
              <a:t>Architecture</a:t>
            </a:r>
            <a:r>
              <a:rPr sz="2400" spc="50" dirty="0"/>
              <a:t> </a:t>
            </a:r>
            <a:r>
              <a:rPr sz="2400" spc="245" dirty="0"/>
              <a:t>Overview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5080">
              <a:lnSpc>
                <a:spcPct val="113300"/>
              </a:lnSpc>
              <a:spcBef>
                <a:spcPts val="100"/>
              </a:spcBef>
            </a:pPr>
            <a:r>
              <a:rPr sz="1600" b="1" spc="-5" dirty="0">
                <a:latin typeface="Gill Sans MT"/>
                <a:cs typeface="Gill Sans MT"/>
              </a:rPr>
              <a:t>Masters </a:t>
            </a:r>
            <a:r>
              <a:rPr sz="1600" spc="-30" dirty="0"/>
              <a:t>- </a:t>
            </a:r>
            <a:r>
              <a:rPr sz="1600" spc="40" dirty="0"/>
              <a:t>Acts </a:t>
            </a:r>
            <a:r>
              <a:rPr sz="1600" spc="-25" dirty="0"/>
              <a:t>as </a:t>
            </a:r>
            <a:r>
              <a:rPr sz="1600" spc="15" dirty="0"/>
              <a:t>the </a:t>
            </a:r>
            <a:r>
              <a:rPr sz="1600" spc="20" dirty="0"/>
              <a:t>primary </a:t>
            </a:r>
            <a:r>
              <a:rPr sz="1600" spc="30" dirty="0"/>
              <a:t>control </a:t>
            </a:r>
            <a:r>
              <a:rPr sz="1600" dirty="0"/>
              <a:t>plane </a:t>
            </a:r>
            <a:r>
              <a:rPr sz="1600" spc="35" dirty="0"/>
              <a:t>for </a:t>
            </a:r>
            <a:r>
              <a:rPr sz="1600" spc="5" dirty="0"/>
              <a:t>Kubernetes. </a:t>
            </a:r>
            <a:r>
              <a:rPr sz="1600" spc="40" dirty="0"/>
              <a:t>Masters </a:t>
            </a:r>
            <a:r>
              <a:rPr sz="1600" spc="10" dirty="0"/>
              <a:t>are  responsible</a:t>
            </a:r>
            <a:r>
              <a:rPr sz="1600" spc="-195" dirty="0"/>
              <a:t> </a:t>
            </a:r>
            <a:r>
              <a:rPr sz="1600" spc="15" dirty="0"/>
              <a:t>at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-5" dirty="0"/>
              <a:t>minimum</a:t>
            </a:r>
            <a:r>
              <a:rPr sz="1600" spc="-190" dirty="0"/>
              <a:t> </a:t>
            </a:r>
            <a:r>
              <a:rPr sz="1600" spc="35" dirty="0"/>
              <a:t>for</a:t>
            </a:r>
            <a:r>
              <a:rPr sz="1600" spc="-190" dirty="0"/>
              <a:t> </a:t>
            </a:r>
            <a:r>
              <a:rPr sz="1600" spc="5" dirty="0"/>
              <a:t>running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35" dirty="0"/>
              <a:t>API</a:t>
            </a:r>
            <a:r>
              <a:rPr sz="1600" spc="-195" dirty="0"/>
              <a:t> </a:t>
            </a:r>
            <a:r>
              <a:rPr sz="1600" spc="-10" dirty="0"/>
              <a:t>Server,</a:t>
            </a:r>
            <a:r>
              <a:rPr sz="1600" spc="125" dirty="0"/>
              <a:t> </a:t>
            </a:r>
            <a:r>
              <a:rPr sz="1600" spc="-5" dirty="0"/>
              <a:t>scheduler,</a:t>
            </a:r>
            <a:r>
              <a:rPr sz="1600" spc="-190" dirty="0"/>
              <a:t> </a:t>
            </a:r>
            <a:r>
              <a:rPr sz="1600" spc="-10" dirty="0"/>
              <a:t>and</a:t>
            </a:r>
            <a:r>
              <a:rPr sz="1600" spc="-190" dirty="0"/>
              <a:t> </a:t>
            </a:r>
            <a:r>
              <a:rPr sz="1600" spc="20" dirty="0"/>
              <a:t>cluster  </a:t>
            </a:r>
            <a:r>
              <a:rPr sz="1600" spc="15" dirty="0"/>
              <a:t>controller.</a:t>
            </a:r>
            <a:r>
              <a:rPr sz="1600" spc="-195" dirty="0"/>
              <a:t> </a:t>
            </a:r>
            <a:r>
              <a:rPr sz="1600" spc="5" dirty="0"/>
              <a:t>They</a:t>
            </a:r>
            <a:r>
              <a:rPr sz="1600" spc="-195" dirty="0"/>
              <a:t> </a:t>
            </a:r>
            <a:r>
              <a:rPr sz="1600" spc="5" dirty="0"/>
              <a:t>commonly</a:t>
            </a:r>
            <a:r>
              <a:rPr sz="1600" spc="-195" dirty="0"/>
              <a:t> </a:t>
            </a:r>
            <a:r>
              <a:rPr sz="1600" dirty="0"/>
              <a:t>also</a:t>
            </a:r>
            <a:r>
              <a:rPr sz="1600" spc="-190" dirty="0"/>
              <a:t> </a:t>
            </a:r>
            <a:r>
              <a:rPr sz="1600" spc="-30" dirty="0"/>
              <a:t>manage</a:t>
            </a:r>
            <a:r>
              <a:rPr sz="1600" spc="-195" dirty="0"/>
              <a:t> </a:t>
            </a:r>
            <a:r>
              <a:rPr sz="1600" spc="15" dirty="0"/>
              <a:t>storing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0" dirty="0"/>
              <a:t> </a:t>
            </a:r>
            <a:r>
              <a:rPr sz="1600" spc="-15" dirty="0"/>
              <a:t>state,</a:t>
            </a:r>
            <a:r>
              <a:rPr sz="1600" spc="-195" dirty="0"/>
              <a:t> </a:t>
            </a:r>
            <a:r>
              <a:rPr sz="1600" spc="20" dirty="0"/>
              <a:t>cloud-provider  </a:t>
            </a:r>
            <a:r>
              <a:rPr sz="1600" spc="10" dirty="0"/>
              <a:t>specific</a:t>
            </a:r>
            <a:r>
              <a:rPr sz="1600" spc="-195" dirty="0"/>
              <a:t> </a:t>
            </a:r>
            <a:r>
              <a:rPr sz="1600" spc="5" dirty="0"/>
              <a:t>components</a:t>
            </a:r>
            <a:r>
              <a:rPr sz="1600" spc="-195" dirty="0"/>
              <a:t> </a:t>
            </a:r>
            <a:r>
              <a:rPr sz="1600" spc="-10" dirty="0"/>
              <a:t>and</a:t>
            </a:r>
            <a:r>
              <a:rPr sz="1600" spc="-195" dirty="0"/>
              <a:t> </a:t>
            </a:r>
            <a:r>
              <a:rPr sz="1600" spc="25" dirty="0"/>
              <a:t>other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5" dirty="0"/>
              <a:t> </a:t>
            </a:r>
            <a:r>
              <a:rPr sz="1600" spc="5" dirty="0"/>
              <a:t>essential</a:t>
            </a:r>
            <a:r>
              <a:rPr sz="1600" spc="-190" dirty="0"/>
              <a:t> </a:t>
            </a:r>
            <a:r>
              <a:rPr sz="1600" spc="-10" dirty="0"/>
              <a:t>services.</a:t>
            </a:r>
            <a:endParaRPr sz="1600">
              <a:latin typeface="Gill Sans MT"/>
              <a:cs typeface="Gill Sans MT"/>
            </a:endParaRPr>
          </a:p>
          <a:p>
            <a:pPr marL="474345" marR="69850">
              <a:lnSpc>
                <a:spcPct val="113300"/>
              </a:lnSpc>
              <a:spcBef>
                <a:spcPts val="1650"/>
              </a:spcBef>
            </a:pPr>
            <a:r>
              <a:rPr sz="1600" b="1" spc="-45" dirty="0">
                <a:latin typeface="Gill Sans MT"/>
                <a:cs typeface="Gill Sans MT"/>
              </a:rPr>
              <a:t>Nodes</a:t>
            </a:r>
            <a:r>
              <a:rPr sz="1600" b="1" spc="-140" dirty="0">
                <a:latin typeface="Gill Sans MT"/>
                <a:cs typeface="Gill Sans MT"/>
              </a:rPr>
              <a:t> </a:t>
            </a:r>
            <a:r>
              <a:rPr sz="1600" spc="-30" dirty="0"/>
              <a:t>-</a:t>
            </a:r>
            <a:r>
              <a:rPr sz="1600" spc="-195" dirty="0"/>
              <a:t> </a:t>
            </a:r>
            <a:r>
              <a:rPr sz="1600" spc="60" dirty="0"/>
              <a:t>Are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20" dirty="0"/>
              <a:t>‘workers’</a:t>
            </a:r>
            <a:r>
              <a:rPr sz="1600" spc="-190" dirty="0"/>
              <a:t> </a:t>
            </a:r>
            <a:r>
              <a:rPr sz="1600" spc="25" dirty="0"/>
              <a:t>of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25" dirty="0"/>
              <a:t>Kubernetes</a:t>
            </a:r>
            <a:r>
              <a:rPr sz="1600" spc="-195" dirty="0"/>
              <a:t> </a:t>
            </a:r>
            <a:r>
              <a:rPr sz="1600" dirty="0"/>
              <a:t>cluster.</a:t>
            </a:r>
            <a:r>
              <a:rPr sz="1600" spc="-190" dirty="0"/>
              <a:t> </a:t>
            </a:r>
            <a:r>
              <a:rPr sz="1600" spc="5" dirty="0"/>
              <a:t>They</a:t>
            </a:r>
            <a:r>
              <a:rPr sz="1600" spc="-195" dirty="0"/>
              <a:t> </a:t>
            </a:r>
            <a:r>
              <a:rPr sz="1600" spc="20" dirty="0"/>
              <a:t>run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5" dirty="0"/>
              <a:t>minimal</a:t>
            </a:r>
            <a:r>
              <a:rPr sz="1600" spc="-190" dirty="0"/>
              <a:t> </a:t>
            </a:r>
            <a:r>
              <a:rPr sz="1600" spc="-10" dirty="0"/>
              <a:t>agent  </a:t>
            </a:r>
            <a:r>
              <a:rPr sz="1600" spc="20" dirty="0"/>
              <a:t>that</a:t>
            </a:r>
            <a:r>
              <a:rPr sz="1600" spc="114" dirty="0"/>
              <a:t> </a:t>
            </a:r>
            <a:r>
              <a:rPr sz="1600" spc="-30" dirty="0"/>
              <a:t>manages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5" dirty="0"/>
              <a:t>node</a:t>
            </a:r>
            <a:r>
              <a:rPr sz="1600" spc="-195" dirty="0"/>
              <a:t> </a:t>
            </a:r>
            <a:r>
              <a:rPr sz="1600" dirty="0"/>
              <a:t>itself,</a:t>
            </a:r>
            <a:r>
              <a:rPr sz="1600" spc="-195" dirty="0"/>
              <a:t> </a:t>
            </a:r>
            <a:r>
              <a:rPr sz="1600" spc="-10" dirty="0"/>
              <a:t>and</a:t>
            </a:r>
            <a:r>
              <a:rPr sz="1600" spc="-195" dirty="0"/>
              <a:t> </a:t>
            </a:r>
            <a:r>
              <a:rPr sz="1600" spc="10" dirty="0"/>
              <a:t>are</a:t>
            </a:r>
            <a:r>
              <a:rPr sz="1600" spc="-195" dirty="0"/>
              <a:t> </a:t>
            </a:r>
            <a:r>
              <a:rPr sz="1600" spc="10" dirty="0"/>
              <a:t>tasked</a:t>
            </a:r>
            <a:r>
              <a:rPr sz="1600" spc="-195" dirty="0"/>
              <a:t> </a:t>
            </a:r>
            <a:r>
              <a:rPr sz="1600" spc="35" dirty="0"/>
              <a:t>with</a:t>
            </a:r>
            <a:r>
              <a:rPr sz="1600" spc="-195" dirty="0"/>
              <a:t> </a:t>
            </a:r>
            <a:r>
              <a:rPr sz="1600" spc="5" dirty="0"/>
              <a:t>executing</a:t>
            </a:r>
            <a:r>
              <a:rPr sz="1600" spc="-195" dirty="0"/>
              <a:t> </a:t>
            </a:r>
            <a:r>
              <a:rPr sz="1600" spc="20" dirty="0"/>
              <a:t>workloads</a:t>
            </a:r>
            <a:r>
              <a:rPr sz="1600" spc="-195" dirty="0"/>
              <a:t> </a:t>
            </a:r>
            <a:r>
              <a:rPr sz="1600" spc="-25" dirty="0"/>
              <a:t>as  </a:t>
            </a:r>
            <a:r>
              <a:rPr sz="1600" dirty="0"/>
              <a:t>designated</a:t>
            </a:r>
            <a:r>
              <a:rPr sz="1600" spc="-200" dirty="0"/>
              <a:t> </a:t>
            </a:r>
            <a:r>
              <a:rPr sz="1600" spc="15" dirty="0"/>
              <a:t>by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-15" dirty="0"/>
              <a:t>master.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5956" y="216106"/>
            <a:ext cx="146240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ct val="100699"/>
              </a:lnSpc>
              <a:spcBef>
                <a:spcPts val="85"/>
              </a:spcBef>
            </a:pPr>
            <a:r>
              <a:rPr sz="1800" spc="170" dirty="0"/>
              <a:t>Architecture  </a:t>
            </a:r>
            <a:r>
              <a:rPr sz="1800" spc="185" dirty="0"/>
              <a:t>Overview</a:t>
            </a:r>
            <a:endParaRPr sz="1800"/>
          </a:p>
        </p:txBody>
      </p:sp>
      <p:sp>
        <p:nvSpPr>
          <p:cNvPr id="6" name="object 6"/>
          <p:cNvSpPr/>
          <p:nvPr/>
        </p:nvSpPr>
        <p:spPr>
          <a:xfrm>
            <a:off x="2043300" y="152400"/>
            <a:ext cx="6880293" cy="4838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42600" y="2171801"/>
            <a:ext cx="274320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0" dirty="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endParaRPr sz="2800">
              <a:latin typeface="Calibri"/>
              <a:cs typeface="Calibri"/>
            </a:endParaRPr>
          </a:p>
          <a:p>
            <a:pPr marL="395605">
              <a:lnSpc>
                <a:spcPct val="100000"/>
              </a:lnSpc>
              <a:spcBef>
                <a:spcPts val="15"/>
              </a:spcBef>
            </a:pPr>
            <a:r>
              <a:rPr sz="2800" spc="385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156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15" dirty="0"/>
              <a:t>Master</a:t>
            </a:r>
            <a:r>
              <a:rPr sz="2400" spc="5" dirty="0"/>
              <a:t> </a:t>
            </a:r>
            <a:r>
              <a:rPr sz="2400" spc="330" dirty="0"/>
              <a:t>Components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875158" y="1603490"/>
            <a:ext cx="2250440" cy="1168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Kube-apiserver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Kube-controller-manager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Cloud-controller-manager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Kube-scheduler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500" y="1567549"/>
            <a:ext cx="2186144" cy="29947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31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45" dirty="0"/>
              <a:t>kube-apiserver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140335">
              <a:lnSpc>
                <a:spcPct val="113300"/>
              </a:lnSpc>
              <a:spcBef>
                <a:spcPts val="100"/>
              </a:spcBef>
            </a:pPr>
            <a:r>
              <a:rPr sz="1600" dirty="0"/>
              <a:t>The</a:t>
            </a:r>
            <a:r>
              <a:rPr sz="1600" spc="-190" dirty="0"/>
              <a:t> </a:t>
            </a:r>
            <a:r>
              <a:rPr sz="1600" spc="15" dirty="0"/>
              <a:t>apiserver</a:t>
            </a:r>
            <a:r>
              <a:rPr sz="1600" spc="-185" dirty="0"/>
              <a:t> </a:t>
            </a:r>
            <a:r>
              <a:rPr sz="1600" spc="15" dirty="0"/>
              <a:t>provides</a:t>
            </a:r>
            <a:r>
              <a:rPr sz="1600" spc="-185" dirty="0"/>
              <a:t> </a:t>
            </a:r>
            <a:r>
              <a:rPr sz="1600" spc="-30" dirty="0"/>
              <a:t>a</a:t>
            </a:r>
            <a:r>
              <a:rPr sz="1600" spc="-185" dirty="0"/>
              <a:t> </a:t>
            </a:r>
            <a:r>
              <a:rPr sz="1600" spc="25" dirty="0"/>
              <a:t>forward</a:t>
            </a:r>
            <a:r>
              <a:rPr sz="1600" spc="-185" dirty="0"/>
              <a:t> </a:t>
            </a:r>
            <a:r>
              <a:rPr sz="1600" spc="-5" dirty="0"/>
              <a:t>facing</a:t>
            </a:r>
            <a:r>
              <a:rPr sz="1600" spc="-185" dirty="0"/>
              <a:t> </a:t>
            </a:r>
            <a:r>
              <a:rPr sz="1600" spc="5" dirty="0"/>
              <a:t>REST</a:t>
            </a:r>
            <a:r>
              <a:rPr sz="1600" spc="-185" dirty="0"/>
              <a:t> </a:t>
            </a:r>
            <a:r>
              <a:rPr sz="1600" spc="15" dirty="0"/>
              <a:t>interface</a:t>
            </a:r>
            <a:r>
              <a:rPr sz="1600" spc="-185" dirty="0"/>
              <a:t> </a:t>
            </a:r>
            <a:r>
              <a:rPr sz="1600" spc="30" dirty="0"/>
              <a:t>into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10" dirty="0"/>
              <a:t>kubernetes  </a:t>
            </a:r>
            <a:r>
              <a:rPr sz="1600" spc="30" dirty="0"/>
              <a:t>control </a:t>
            </a:r>
            <a:r>
              <a:rPr sz="1600" dirty="0"/>
              <a:t>plane </a:t>
            </a:r>
            <a:r>
              <a:rPr sz="1600" spc="-10" dirty="0"/>
              <a:t>and </a:t>
            </a:r>
            <a:r>
              <a:rPr sz="1600" spc="-5" dirty="0"/>
              <a:t>datastore. </a:t>
            </a:r>
            <a:r>
              <a:rPr sz="1600" spc="70" dirty="0"/>
              <a:t>All </a:t>
            </a:r>
            <a:r>
              <a:rPr sz="1600" spc="-5" dirty="0"/>
              <a:t>clients, </a:t>
            </a:r>
            <a:r>
              <a:rPr sz="1600" spc="5" dirty="0"/>
              <a:t>including </a:t>
            </a:r>
            <a:r>
              <a:rPr sz="1600" spc="-25" dirty="0"/>
              <a:t>nodes, </a:t>
            </a:r>
            <a:r>
              <a:rPr sz="1600" dirty="0"/>
              <a:t>users </a:t>
            </a:r>
            <a:r>
              <a:rPr sz="1600" spc="-10" dirty="0"/>
              <a:t>and </a:t>
            </a:r>
            <a:r>
              <a:rPr sz="1600" spc="25" dirty="0"/>
              <a:t>other  </a:t>
            </a:r>
            <a:r>
              <a:rPr sz="1600" spc="10" dirty="0"/>
              <a:t>applications</a:t>
            </a:r>
            <a:r>
              <a:rPr sz="1600" spc="-195" dirty="0"/>
              <a:t> </a:t>
            </a:r>
            <a:r>
              <a:rPr sz="1600" spc="25" dirty="0"/>
              <a:t>interact</a:t>
            </a:r>
            <a:r>
              <a:rPr sz="1600" spc="-195" dirty="0"/>
              <a:t> </a:t>
            </a:r>
            <a:r>
              <a:rPr sz="1600" spc="35" dirty="0"/>
              <a:t>with</a:t>
            </a:r>
            <a:r>
              <a:rPr sz="1600" spc="-190" dirty="0"/>
              <a:t> </a:t>
            </a:r>
            <a:r>
              <a:rPr sz="1600" spc="10" dirty="0"/>
              <a:t>kubernetes</a:t>
            </a:r>
            <a:r>
              <a:rPr sz="1600" spc="-200" dirty="0"/>
              <a:t> </a:t>
            </a:r>
            <a:r>
              <a:rPr sz="1600" b="1" spc="-15" dirty="0">
                <a:latin typeface="Gill Sans MT"/>
                <a:cs typeface="Gill Sans MT"/>
              </a:rPr>
              <a:t>strictly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spc="10" dirty="0"/>
              <a:t>through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35" dirty="0"/>
              <a:t>API</a:t>
            </a:r>
            <a:r>
              <a:rPr sz="1600" spc="-195" dirty="0"/>
              <a:t> </a:t>
            </a:r>
            <a:r>
              <a:rPr sz="1600" spc="-10" dirty="0"/>
              <a:t>Server.</a:t>
            </a:r>
            <a:endParaRPr sz="1600">
              <a:latin typeface="Gill Sans MT"/>
              <a:cs typeface="Gill Sans MT"/>
            </a:endParaRPr>
          </a:p>
          <a:p>
            <a:pPr marL="474345" marR="5080">
              <a:lnSpc>
                <a:spcPct val="113300"/>
              </a:lnSpc>
              <a:spcBef>
                <a:spcPts val="1650"/>
              </a:spcBef>
            </a:pPr>
            <a:r>
              <a:rPr sz="1600" spc="-25" dirty="0"/>
              <a:t>It</a:t>
            </a:r>
            <a:r>
              <a:rPr sz="1600" spc="-195" dirty="0"/>
              <a:t> </a:t>
            </a:r>
            <a:r>
              <a:rPr sz="1600" spc="10" dirty="0"/>
              <a:t>is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30" dirty="0"/>
              <a:t>true</a:t>
            </a:r>
            <a:r>
              <a:rPr sz="1600" spc="-195" dirty="0"/>
              <a:t> </a:t>
            </a:r>
            <a:r>
              <a:rPr sz="1600" spc="20" dirty="0"/>
              <a:t>core</a:t>
            </a:r>
            <a:r>
              <a:rPr sz="1600" spc="-195" dirty="0"/>
              <a:t> </a:t>
            </a:r>
            <a:r>
              <a:rPr sz="1600" spc="25" dirty="0"/>
              <a:t>of</a:t>
            </a:r>
            <a:r>
              <a:rPr sz="1600" spc="-195" dirty="0"/>
              <a:t> </a:t>
            </a:r>
            <a:r>
              <a:rPr sz="1600" spc="25" dirty="0"/>
              <a:t>Kubernetes</a:t>
            </a:r>
            <a:r>
              <a:rPr sz="1600" spc="-195" dirty="0"/>
              <a:t> </a:t>
            </a:r>
            <a:r>
              <a:rPr sz="1600" dirty="0"/>
              <a:t>acting</a:t>
            </a:r>
            <a:r>
              <a:rPr sz="1600" spc="-195" dirty="0"/>
              <a:t> </a:t>
            </a:r>
            <a:r>
              <a:rPr sz="1600" spc="-25" dirty="0"/>
              <a:t>as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5" dirty="0"/>
              <a:t>gatekeeper</a:t>
            </a:r>
            <a:r>
              <a:rPr sz="1600" spc="-195" dirty="0"/>
              <a:t> </a:t>
            </a:r>
            <a:r>
              <a:rPr sz="1600" spc="40" dirty="0"/>
              <a:t>to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5" dirty="0"/>
              <a:t> </a:t>
            </a:r>
            <a:r>
              <a:rPr sz="1600" spc="15" dirty="0"/>
              <a:t>by  </a:t>
            </a:r>
            <a:r>
              <a:rPr sz="1600" spc="-5" dirty="0"/>
              <a:t>handling</a:t>
            </a:r>
            <a:r>
              <a:rPr sz="1600" spc="-185" dirty="0"/>
              <a:t> </a:t>
            </a:r>
            <a:r>
              <a:rPr sz="1600" spc="15" dirty="0"/>
              <a:t>authentication</a:t>
            </a:r>
            <a:r>
              <a:rPr sz="1600" spc="-180" dirty="0"/>
              <a:t> </a:t>
            </a:r>
            <a:r>
              <a:rPr sz="1600" spc="-10" dirty="0"/>
              <a:t>and</a:t>
            </a:r>
            <a:r>
              <a:rPr sz="1600" spc="-185" dirty="0"/>
              <a:t> </a:t>
            </a:r>
            <a:r>
              <a:rPr sz="1600" spc="5" dirty="0"/>
              <a:t>authorization,</a:t>
            </a:r>
            <a:r>
              <a:rPr sz="1600" spc="-180" dirty="0"/>
              <a:t> </a:t>
            </a:r>
            <a:r>
              <a:rPr sz="1600" spc="15" dirty="0"/>
              <a:t>request</a:t>
            </a:r>
            <a:r>
              <a:rPr sz="1600" spc="-180" dirty="0"/>
              <a:t> </a:t>
            </a:r>
            <a:r>
              <a:rPr sz="1600" dirty="0"/>
              <a:t>validation,</a:t>
            </a:r>
            <a:r>
              <a:rPr sz="1600" spc="-185" dirty="0"/>
              <a:t> </a:t>
            </a:r>
            <a:r>
              <a:rPr sz="1600" spc="-5" dirty="0"/>
              <a:t>mutation,</a:t>
            </a:r>
            <a:r>
              <a:rPr sz="1600" spc="-180" dirty="0"/>
              <a:t> </a:t>
            </a:r>
            <a:r>
              <a:rPr sz="1600" spc="-10" dirty="0"/>
              <a:t>and  </a:t>
            </a:r>
            <a:r>
              <a:rPr sz="1600" dirty="0"/>
              <a:t>admission</a:t>
            </a:r>
            <a:r>
              <a:rPr sz="1600" spc="-190" dirty="0"/>
              <a:t> </a:t>
            </a:r>
            <a:r>
              <a:rPr sz="1600" spc="30" dirty="0"/>
              <a:t>control</a:t>
            </a:r>
            <a:r>
              <a:rPr sz="1600" spc="-190" dirty="0"/>
              <a:t> </a:t>
            </a:r>
            <a:r>
              <a:rPr sz="1600" spc="20" dirty="0"/>
              <a:t>in</a:t>
            </a:r>
            <a:r>
              <a:rPr sz="1600" spc="-185" dirty="0"/>
              <a:t> </a:t>
            </a:r>
            <a:r>
              <a:rPr sz="1600" spc="15" dirty="0"/>
              <a:t>addition</a:t>
            </a:r>
            <a:r>
              <a:rPr sz="1600" spc="-190" dirty="0"/>
              <a:t> </a:t>
            </a:r>
            <a:r>
              <a:rPr sz="1600" spc="40" dirty="0"/>
              <a:t>to</a:t>
            </a:r>
            <a:r>
              <a:rPr sz="1600" spc="-190" dirty="0"/>
              <a:t> </a:t>
            </a:r>
            <a:r>
              <a:rPr sz="1600" spc="-5" dirty="0"/>
              <a:t>being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15" dirty="0"/>
              <a:t>front-end</a:t>
            </a:r>
            <a:r>
              <a:rPr sz="1600" spc="-190" dirty="0"/>
              <a:t> </a:t>
            </a:r>
            <a:r>
              <a:rPr sz="1600" spc="40" dirty="0"/>
              <a:t>to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dirty="0"/>
              <a:t>backing</a:t>
            </a:r>
            <a:r>
              <a:rPr sz="1600" spc="-190" dirty="0"/>
              <a:t> </a:t>
            </a:r>
            <a:r>
              <a:rPr sz="1600" spc="-5" dirty="0"/>
              <a:t>datastore.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0525" y="644933"/>
            <a:ext cx="71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>
                <a:solidFill>
                  <a:srgbClr val="FFFFFF"/>
                </a:solidFill>
                <a:latin typeface="Calibri"/>
                <a:cs typeface="Calibri"/>
              </a:rPr>
              <a:t>etcd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5868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datastore;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providing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strong,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consistent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highly  available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persisting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919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5" dirty="0"/>
              <a:t>kube-controller-manager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649084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controller-manager is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primary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daemon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manages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core 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component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loops.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monitors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steers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towards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3099754"/>
            <a:ext cx="6739890" cy="5143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controllers: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u="sng" dirty="0">
                <a:solidFill>
                  <a:srgbClr val="7890CD"/>
                </a:solidFill>
                <a:uFill>
                  <a:solidFill>
                    <a:srgbClr val="7890CD"/>
                  </a:solidFill>
                </a:uFill>
                <a:latin typeface="Tahoma"/>
                <a:cs typeface="Tahoma"/>
                <a:hlinkClick r:id="rId2"/>
              </a:rPr>
              <a:t>https://github.com/kubernetes/kubernetes/blob/master/cmd/kube-controller-manager/app/controllermanager.go#L332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996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cloud-controller-manager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5080">
              <a:lnSpc>
                <a:spcPct val="113300"/>
              </a:lnSpc>
              <a:spcBef>
                <a:spcPts val="100"/>
              </a:spcBef>
            </a:pPr>
            <a:r>
              <a:rPr sz="1600" dirty="0"/>
              <a:t>The</a:t>
            </a:r>
            <a:r>
              <a:rPr sz="1600" spc="-200" dirty="0"/>
              <a:t> </a:t>
            </a:r>
            <a:r>
              <a:rPr sz="1600" spc="10" dirty="0"/>
              <a:t>cloud-controller-manager</a:t>
            </a:r>
            <a:r>
              <a:rPr sz="1600" spc="-195" dirty="0"/>
              <a:t> </a:t>
            </a:r>
            <a:r>
              <a:rPr sz="1600" spc="10" dirty="0"/>
              <a:t>is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-10" dirty="0"/>
              <a:t>daemon</a:t>
            </a:r>
            <a:r>
              <a:rPr sz="1600" spc="-195" dirty="0"/>
              <a:t> </a:t>
            </a:r>
            <a:r>
              <a:rPr sz="1600" spc="20" dirty="0"/>
              <a:t>that</a:t>
            </a:r>
            <a:r>
              <a:rPr sz="1600" spc="-195" dirty="0"/>
              <a:t> </a:t>
            </a:r>
            <a:r>
              <a:rPr sz="1600" spc="15" dirty="0"/>
              <a:t>provides</a:t>
            </a:r>
            <a:r>
              <a:rPr sz="1600" spc="-195" dirty="0"/>
              <a:t> </a:t>
            </a:r>
            <a:r>
              <a:rPr sz="1600" spc="20" dirty="0"/>
              <a:t>cloud-provider  </a:t>
            </a:r>
            <a:r>
              <a:rPr sz="1600" spc="10" dirty="0"/>
              <a:t>specific</a:t>
            </a:r>
            <a:r>
              <a:rPr sz="1600" spc="-190" dirty="0"/>
              <a:t> </a:t>
            </a:r>
            <a:r>
              <a:rPr sz="1600" spc="5" dirty="0"/>
              <a:t>knowledge</a:t>
            </a:r>
            <a:r>
              <a:rPr sz="1600" spc="-190" dirty="0"/>
              <a:t> </a:t>
            </a:r>
            <a:r>
              <a:rPr sz="1600" spc="-10" dirty="0"/>
              <a:t>and</a:t>
            </a:r>
            <a:r>
              <a:rPr sz="1600" spc="-185" dirty="0"/>
              <a:t> </a:t>
            </a:r>
            <a:r>
              <a:rPr sz="1600" spc="15" dirty="0"/>
              <a:t>integration</a:t>
            </a:r>
            <a:r>
              <a:rPr sz="1600" spc="-190" dirty="0"/>
              <a:t> </a:t>
            </a:r>
            <a:r>
              <a:rPr sz="1600" spc="15" dirty="0"/>
              <a:t>capability</a:t>
            </a:r>
            <a:r>
              <a:rPr sz="1600" spc="-185" dirty="0"/>
              <a:t> </a:t>
            </a:r>
            <a:r>
              <a:rPr sz="1600" spc="30" dirty="0"/>
              <a:t>into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0" dirty="0"/>
              <a:t>core</a:t>
            </a:r>
            <a:r>
              <a:rPr sz="1600" spc="-190" dirty="0"/>
              <a:t> </a:t>
            </a:r>
            <a:r>
              <a:rPr sz="1600" spc="30" dirty="0"/>
              <a:t>control</a:t>
            </a:r>
            <a:r>
              <a:rPr sz="1600" spc="-185" dirty="0"/>
              <a:t> </a:t>
            </a:r>
            <a:r>
              <a:rPr sz="1600" spc="20" dirty="0"/>
              <a:t>loop</a:t>
            </a:r>
            <a:r>
              <a:rPr sz="1600" spc="-190" dirty="0"/>
              <a:t> </a:t>
            </a:r>
            <a:r>
              <a:rPr sz="1600" spc="25" dirty="0"/>
              <a:t>of  </a:t>
            </a:r>
            <a:r>
              <a:rPr sz="1600" spc="5" dirty="0"/>
              <a:t>Kubernetes. </a:t>
            </a:r>
            <a:r>
              <a:rPr sz="1600" dirty="0"/>
              <a:t>The </a:t>
            </a:r>
            <a:r>
              <a:rPr sz="1600" spc="25" dirty="0"/>
              <a:t>controllers </a:t>
            </a:r>
            <a:r>
              <a:rPr sz="1600" spc="10" dirty="0"/>
              <a:t>include </a:t>
            </a:r>
            <a:r>
              <a:rPr sz="1600" dirty="0"/>
              <a:t>Node, </a:t>
            </a:r>
            <a:r>
              <a:rPr sz="1600" spc="-10" dirty="0"/>
              <a:t>Route, Service, and </a:t>
            </a:r>
            <a:r>
              <a:rPr sz="1600" spc="-5" dirty="0"/>
              <a:t>add </a:t>
            </a:r>
            <a:r>
              <a:rPr sz="1600" spc="-20" dirty="0"/>
              <a:t>an  </a:t>
            </a:r>
            <a:r>
              <a:rPr sz="1600" spc="15" dirty="0"/>
              <a:t>additional</a:t>
            </a:r>
            <a:r>
              <a:rPr sz="1600" spc="-195" dirty="0"/>
              <a:t> </a:t>
            </a:r>
            <a:r>
              <a:rPr sz="1600" spc="30" dirty="0"/>
              <a:t>controller</a:t>
            </a:r>
            <a:r>
              <a:rPr sz="1600" spc="-195" dirty="0"/>
              <a:t> </a:t>
            </a:r>
            <a:r>
              <a:rPr sz="1600" spc="40" dirty="0"/>
              <a:t>to</a:t>
            </a:r>
            <a:r>
              <a:rPr sz="1600" spc="-195" dirty="0"/>
              <a:t> </a:t>
            </a:r>
            <a:r>
              <a:rPr sz="1600" dirty="0"/>
              <a:t>handle</a:t>
            </a:r>
            <a:r>
              <a:rPr sz="1600" spc="-195" dirty="0"/>
              <a:t> </a:t>
            </a:r>
            <a:r>
              <a:rPr sz="1600" spc="20" dirty="0"/>
              <a:t>PersistentVolumeLabels</a:t>
            </a:r>
            <a:r>
              <a:rPr sz="1600" spc="-195" dirty="0"/>
              <a:t> </a:t>
            </a:r>
            <a:r>
              <a:rPr sz="1600" spc="-150" dirty="0"/>
              <a:t>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432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kube-scheduler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32460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Kube-scheduler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verbose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policy-rich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workload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requirements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attempts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place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matching resource. These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include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things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hardware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reqs,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affinity,  anti-affinity,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custom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requirements.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56325" y="2171801"/>
            <a:ext cx="277368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65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15"/>
              </a:spcBef>
            </a:pPr>
            <a:r>
              <a:rPr sz="2800" spc="385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3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Node</a:t>
            </a:r>
            <a:r>
              <a:rPr sz="2400" spc="5" dirty="0"/>
              <a:t> </a:t>
            </a:r>
            <a:r>
              <a:rPr sz="2400" spc="330" dirty="0"/>
              <a:t>Components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20983" y="1603490"/>
            <a:ext cx="2205990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Kube-proxy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499" y="1567549"/>
            <a:ext cx="2421547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kubelet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789420" cy="216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Acts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node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agent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responsible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managing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pod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lifecycle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its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host. 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understands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YAML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manifests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read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several 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sources: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path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6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Endpoint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acting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changes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6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Server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accepting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manifests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API.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769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5" dirty="0"/>
              <a:t>kube-proxy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5899150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Manages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performs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connection  forwarding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load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balancing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services.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Proxy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Modes: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Userspace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iptables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ipvs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(alpha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1.8)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65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Container</a:t>
            </a:r>
            <a:r>
              <a:rPr sz="2400" spc="45" dirty="0"/>
              <a:t> </a:t>
            </a:r>
            <a:r>
              <a:rPr sz="2400" spc="325" dirty="0"/>
              <a:t>Runtime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3490"/>
            <a:ext cx="6302375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respect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CRI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Interface)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manages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469900" indent="-32829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Containerd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(docker)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Cri-o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Rkt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Kata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(formerly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hyper)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Virtlet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(VM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CRI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runtime)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2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Additional</a:t>
            </a:r>
            <a:r>
              <a:rPr sz="2400" spc="40" dirty="0"/>
              <a:t> </a:t>
            </a:r>
            <a:r>
              <a:rPr sz="2400" spc="235" dirty="0"/>
              <a:t>Services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804025" cy="18256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b="1" spc="-15" dirty="0">
                <a:solidFill>
                  <a:srgbClr val="FFFFFF"/>
                </a:solidFill>
                <a:latin typeface="Gill Sans MT"/>
                <a:cs typeface="Gill Sans MT"/>
              </a:rPr>
              <a:t>Kube-dns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wide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DNS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Services.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resolvable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&lt;service&gt;.&lt;namespace&gt;.svc.cluster.local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3300"/>
              </a:lnSpc>
              <a:spcBef>
                <a:spcPts val="1650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Heapster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18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Collector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cluster,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some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resources 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Horizontal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Autoscaler.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(required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kubedashboard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metrics)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solidFill>
                  <a:srgbClr val="FFFFFF"/>
                </a:solidFill>
                <a:latin typeface="Gill Sans MT"/>
                <a:cs typeface="Gill Sans MT"/>
              </a:rPr>
              <a:t>Kube-dashboard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purpose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kubernetes.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41505" y="2320137"/>
            <a:ext cx="275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434" dirty="0">
                <a:solidFill>
                  <a:srgbClr val="FFFFFF"/>
                </a:solidFill>
                <a:latin typeface="Calibri"/>
                <a:cs typeface="Calibri"/>
              </a:rPr>
              <a:t>Networking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13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 </a:t>
            </a:r>
            <a:r>
              <a:rPr sz="2400" spc="320" dirty="0"/>
              <a:t>Fundamental</a:t>
            </a:r>
            <a:r>
              <a:rPr sz="2400" spc="-250" dirty="0"/>
              <a:t> </a:t>
            </a:r>
            <a:r>
              <a:rPr sz="2400" spc="270" dirty="0"/>
              <a:t>Rules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20354" y="1600061"/>
            <a:ext cx="6670675" cy="8540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419734" indent="-407670">
              <a:lnSpc>
                <a:spcPct val="100000"/>
              </a:lnSpc>
              <a:spcBef>
                <a:spcPts val="355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communicate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ahoma"/>
                <a:cs typeface="Tahoma"/>
              </a:rPr>
              <a:t>NAT</a:t>
            </a:r>
            <a:endParaRPr sz="1600">
              <a:latin typeface="Tahoma"/>
              <a:cs typeface="Tahoma"/>
            </a:endParaRPr>
          </a:p>
          <a:p>
            <a:pPr marL="419734" indent="-407670">
              <a:lnSpc>
                <a:spcPct val="100000"/>
              </a:lnSpc>
              <a:spcBef>
                <a:spcPts val="254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communicate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(and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vice-versa)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NAT.</a:t>
            </a:r>
            <a:endParaRPr sz="1600">
              <a:latin typeface="Tahoma"/>
              <a:cs typeface="Tahoma"/>
            </a:endParaRPr>
          </a:p>
          <a:p>
            <a:pPr marL="419734" indent="-407670">
              <a:lnSpc>
                <a:spcPct val="100000"/>
              </a:lnSpc>
              <a:spcBef>
                <a:spcPts val="254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sees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itself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others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as.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625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 </a:t>
            </a:r>
            <a:r>
              <a:rPr sz="2400" spc="315" dirty="0"/>
              <a:t>Fundamentals</a:t>
            </a:r>
            <a:r>
              <a:rPr sz="2400" spc="-275" dirty="0"/>
              <a:t> </a:t>
            </a:r>
            <a:r>
              <a:rPr sz="2400" spc="265" dirty="0"/>
              <a:t>Applied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233045">
              <a:lnSpc>
                <a:spcPct val="113300"/>
              </a:lnSpc>
              <a:spcBef>
                <a:spcPts val="100"/>
              </a:spcBef>
            </a:pPr>
            <a:r>
              <a:rPr sz="1600" b="1" spc="-45" dirty="0">
                <a:latin typeface="Gill Sans MT"/>
                <a:cs typeface="Gill Sans MT"/>
              </a:rPr>
              <a:t>Containers</a:t>
            </a:r>
            <a:r>
              <a:rPr sz="1600" b="1" spc="-120" dirty="0">
                <a:latin typeface="Gill Sans MT"/>
                <a:cs typeface="Gill Sans MT"/>
              </a:rPr>
              <a:t> </a:t>
            </a:r>
            <a:r>
              <a:rPr sz="1600" spc="20" dirty="0"/>
              <a:t>in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5" dirty="0"/>
              <a:t>pod</a:t>
            </a:r>
            <a:r>
              <a:rPr sz="1600" spc="-185" dirty="0"/>
              <a:t> </a:t>
            </a:r>
            <a:r>
              <a:rPr sz="1600" spc="15" dirty="0"/>
              <a:t>exist</a:t>
            </a:r>
            <a:r>
              <a:rPr sz="1600" spc="-190" dirty="0"/>
              <a:t> </a:t>
            </a:r>
            <a:r>
              <a:rPr sz="1600" spc="30" dirty="0"/>
              <a:t>within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-25" dirty="0"/>
              <a:t>same</a:t>
            </a:r>
            <a:r>
              <a:rPr sz="1600" spc="-190" dirty="0"/>
              <a:t> </a:t>
            </a:r>
            <a:r>
              <a:rPr sz="1600" spc="30" dirty="0"/>
              <a:t>network</a:t>
            </a:r>
            <a:r>
              <a:rPr sz="1600" spc="-190" dirty="0"/>
              <a:t> </a:t>
            </a:r>
            <a:r>
              <a:rPr sz="1600" spc="-15" dirty="0"/>
              <a:t>namespace</a:t>
            </a:r>
            <a:r>
              <a:rPr sz="1600" spc="-185" dirty="0"/>
              <a:t> </a:t>
            </a:r>
            <a:r>
              <a:rPr sz="1600" spc="-10" dirty="0"/>
              <a:t>and</a:t>
            </a:r>
            <a:r>
              <a:rPr sz="1600" spc="-190" dirty="0"/>
              <a:t> </a:t>
            </a:r>
            <a:r>
              <a:rPr sz="1600" dirty="0"/>
              <a:t>share</a:t>
            </a:r>
            <a:r>
              <a:rPr sz="1600" spc="-190" dirty="0"/>
              <a:t> </a:t>
            </a:r>
            <a:r>
              <a:rPr sz="1600" spc="-20" dirty="0"/>
              <a:t>an  </a:t>
            </a:r>
            <a:r>
              <a:rPr sz="1600" spc="-60" dirty="0"/>
              <a:t>IP;</a:t>
            </a:r>
            <a:r>
              <a:rPr sz="1600" spc="-195" dirty="0"/>
              <a:t> </a:t>
            </a:r>
            <a:r>
              <a:rPr sz="1600" spc="10" dirty="0"/>
              <a:t>allowing</a:t>
            </a:r>
            <a:r>
              <a:rPr sz="1600" spc="-195" dirty="0"/>
              <a:t> </a:t>
            </a:r>
            <a:r>
              <a:rPr sz="1600" spc="35" dirty="0"/>
              <a:t>for</a:t>
            </a:r>
            <a:r>
              <a:rPr sz="1600" spc="-195" dirty="0"/>
              <a:t> </a:t>
            </a:r>
            <a:r>
              <a:rPr sz="1600" spc="20" dirty="0"/>
              <a:t>intrapod</a:t>
            </a:r>
            <a:r>
              <a:rPr sz="1600" spc="-195" dirty="0"/>
              <a:t> </a:t>
            </a:r>
            <a:r>
              <a:rPr sz="1600" spc="5" dirty="0"/>
              <a:t>communication</a:t>
            </a:r>
            <a:r>
              <a:rPr sz="1600" spc="-195" dirty="0"/>
              <a:t> </a:t>
            </a:r>
            <a:r>
              <a:rPr sz="1600" spc="25" dirty="0"/>
              <a:t>over</a:t>
            </a:r>
            <a:r>
              <a:rPr sz="1600" spc="-200" dirty="0"/>
              <a:t> </a:t>
            </a:r>
            <a:r>
              <a:rPr sz="1600" i="1" spc="-10" dirty="0">
                <a:latin typeface="Calibri"/>
                <a:cs typeface="Calibri"/>
              </a:rPr>
              <a:t>localhost.</a:t>
            </a:r>
            <a:endParaRPr sz="1600">
              <a:latin typeface="Calibri"/>
              <a:cs typeface="Calibri"/>
            </a:endParaRPr>
          </a:p>
          <a:p>
            <a:pPr marL="474345" marR="5080">
              <a:lnSpc>
                <a:spcPct val="113300"/>
              </a:lnSpc>
              <a:spcBef>
                <a:spcPts val="1650"/>
              </a:spcBef>
            </a:pPr>
            <a:r>
              <a:rPr sz="1600" b="1" spc="-25" dirty="0">
                <a:latin typeface="Gill Sans MT"/>
                <a:cs typeface="Gill Sans MT"/>
              </a:rPr>
              <a:t>Pods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spc="10" dirty="0"/>
              <a:t>are</a:t>
            </a:r>
            <a:r>
              <a:rPr sz="1600" spc="-190" dirty="0"/>
              <a:t> </a:t>
            </a:r>
            <a:r>
              <a:rPr sz="1600" spc="-5" dirty="0"/>
              <a:t>given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20" dirty="0"/>
              <a:t>cluster</a:t>
            </a:r>
            <a:r>
              <a:rPr sz="1600" spc="-185" dirty="0"/>
              <a:t> </a:t>
            </a:r>
            <a:r>
              <a:rPr sz="1600" spc="5" dirty="0"/>
              <a:t>unique</a:t>
            </a:r>
            <a:r>
              <a:rPr sz="1600" spc="-190" dirty="0"/>
              <a:t> </a:t>
            </a:r>
            <a:r>
              <a:rPr sz="1600" spc="-10" dirty="0"/>
              <a:t>IP</a:t>
            </a:r>
            <a:r>
              <a:rPr sz="1600" spc="-190" dirty="0"/>
              <a:t> </a:t>
            </a:r>
            <a:r>
              <a:rPr sz="1600" spc="35" dirty="0"/>
              <a:t>for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0" dirty="0"/>
              <a:t>duration</a:t>
            </a:r>
            <a:r>
              <a:rPr sz="1600" spc="-190" dirty="0"/>
              <a:t> </a:t>
            </a:r>
            <a:r>
              <a:rPr sz="1600" spc="25" dirty="0"/>
              <a:t>of</a:t>
            </a:r>
            <a:r>
              <a:rPr sz="1600" spc="-190" dirty="0"/>
              <a:t> </a:t>
            </a:r>
            <a:r>
              <a:rPr sz="1600" spc="25" dirty="0"/>
              <a:t>its</a:t>
            </a:r>
            <a:r>
              <a:rPr sz="1600" spc="-190" dirty="0"/>
              <a:t> </a:t>
            </a:r>
            <a:r>
              <a:rPr sz="1600" dirty="0"/>
              <a:t>lifecycle,</a:t>
            </a:r>
            <a:r>
              <a:rPr sz="1600" spc="-185" dirty="0"/>
              <a:t> </a:t>
            </a:r>
            <a:r>
              <a:rPr sz="1600" spc="20" dirty="0"/>
              <a:t>but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dirty="0"/>
              <a:t>pods  themselves</a:t>
            </a:r>
            <a:r>
              <a:rPr sz="1600" spc="-195" dirty="0"/>
              <a:t> </a:t>
            </a:r>
            <a:r>
              <a:rPr sz="1600" spc="10" dirty="0"/>
              <a:t>are</a:t>
            </a:r>
            <a:r>
              <a:rPr sz="1600" spc="-195" dirty="0"/>
              <a:t> </a:t>
            </a:r>
            <a:r>
              <a:rPr sz="1600" spc="5" dirty="0"/>
              <a:t>fundamentally</a:t>
            </a:r>
            <a:r>
              <a:rPr sz="1600" spc="-195" dirty="0"/>
              <a:t> </a:t>
            </a:r>
            <a:r>
              <a:rPr sz="1600" spc="-15" dirty="0"/>
              <a:t>ephemeral.</a:t>
            </a:r>
            <a:endParaRPr sz="1600">
              <a:latin typeface="Gill Sans MT"/>
              <a:cs typeface="Gill Sans MT"/>
            </a:endParaRPr>
          </a:p>
          <a:p>
            <a:pPr marL="461645"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</a:pPr>
            <a:r>
              <a:rPr sz="1600" b="1" spc="-35" dirty="0">
                <a:latin typeface="Gill Sans MT"/>
                <a:cs typeface="Gill Sans MT"/>
              </a:rPr>
              <a:t>Services</a:t>
            </a:r>
            <a:r>
              <a:rPr sz="1600" b="1" spc="-130" dirty="0">
                <a:latin typeface="Gill Sans MT"/>
                <a:cs typeface="Gill Sans MT"/>
              </a:rPr>
              <a:t> </a:t>
            </a:r>
            <a:r>
              <a:rPr sz="1600" spc="10" dirty="0"/>
              <a:t>are</a:t>
            </a:r>
            <a:r>
              <a:rPr sz="1600" spc="-185" dirty="0"/>
              <a:t> </a:t>
            </a:r>
            <a:r>
              <a:rPr sz="1600" spc="-5" dirty="0"/>
              <a:t>given</a:t>
            </a:r>
            <a:r>
              <a:rPr sz="1600" spc="-185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15" dirty="0"/>
              <a:t>persistent</a:t>
            </a:r>
            <a:r>
              <a:rPr sz="1600" spc="-185" dirty="0"/>
              <a:t> </a:t>
            </a:r>
            <a:r>
              <a:rPr sz="1600" spc="20" dirty="0"/>
              <a:t>cluster</a:t>
            </a:r>
            <a:r>
              <a:rPr sz="1600" spc="-185" dirty="0"/>
              <a:t> </a:t>
            </a:r>
            <a:r>
              <a:rPr sz="1600" spc="5" dirty="0"/>
              <a:t>unique</a:t>
            </a:r>
            <a:r>
              <a:rPr sz="1600" spc="-190" dirty="0"/>
              <a:t> </a:t>
            </a:r>
            <a:r>
              <a:rPr sz="1600" spc="-10" dirty="0"/>
              <a:t>IP</a:t>
            </a:r>
            <a:r>
              <a:rPr sz="1600" spc="-185" dirty="0"/>
              <a:t> </a:t>
            </a:r>
            <a:r>
              <a:rPr sz="1600" spc="20" dirty="0"/>
              <a:t>that</a:t>
            </a:r>
            <a:r>
              <a:rPr sz="1600" spc="-185" dirty="0"/>
              <a:t> </a:t>
            </a:r>
            <a:r>
              <a:rPr sz="1600" spc="-15" dirty="0"/>
              <a:t>spans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5" dirty="0"/>
              <a:t>Pods</a:t>
            </a:r>
            <a:r>
              <a:rPr sz="1600" spc="-185" dirty="0"/>
              <a:t> </a:t>
            </a:r>
            <a:r>
              <a:rPr sz="1600" dirty="0"/>
              <a:t>lifecycle.</a:t>
            </a:r>
            <a:endParaRPr sz="1600">
              <a:latin typeface="Gill Sans MT"/>
              <a:cs typeface="Gill Sans MT"/>
            </a:endParaRPr>
          </a:p>
          <a:p>
            <a:pPr marL="474345" marR="68580">
              <a:lnSpc>
                <a:spcPct val="113300"/>
              </a:lnSpc>
              <a:spcBef>
                <a:spcPts val="1650"/>
              </a:spcBef>
            </a:pPr>
            <a:r>
              <a:rPr sz="1600" b="1" spc="-40" dirty="0">
                <a:latin typeface="Gill Sans MT"/>
                <a:cs typeface="Gill Sans MT"/>
              </a:rPr>
              <a:t>External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b="1" spc="-30" dirty="0">
                <a:latin typeface="Gill Sans MT"/>
                <a:cs typeface="Gill Sans MT"/>
              </a:rPr>
              <a:t>Connectivity</a:t>
            </a:r>
            <a:r>
              <a:rPr sz="1600" b="1" spc="-114" dirty="0">
                <a:latin typeface="Gill Sans MT"/>
                <a:cs typeface="Gill Sans MT"/>
              </a:rPr>
              <a:t> </a:t>
            </a:r>
            <a:r>
              <a:rPr sz="1600" spc="10" dirty="0"/>
              <a:t>is</a:t>
            </a:r>
            <a:r>
              <a:rPr sz="1600" spc="-190" dirty="0"/>
              <a:t> </a:t>
            </a:r>
            <a:r>
              <a:rPr sz="1600" spc="5" dirty="0"/>
              <a:t>generally</a:t>
            </a:r>
            <a:r>
              <a:rPr sz="1600" spc="-190" dirty="0"/>
              <a:t> </a:t>
            </a:r>
            <a:r>
              <a:rPr sz="1600" spc="-5" dirty="0"/>
              <a:t>handed</a:t>
            </a:r>
            <a:r>
              <a:rPr sz="1600" spc="-190" dirty="0"/>
              <a:t> </a:t>
            </a:r>
            <a:r>
              <a:rPr sz="1600" spc="15" dirty="0"/>
              <a:t>by</a:t>
            </a:r>
            <a:r>
              <a:rPr sz="1600" spc="-190" dirty="0"/>
              <a:t> </a:t>
            </a:r>
            <a:r>
              <a:rPr sz="1600" spc="-20" dirty="0"/>
              <a:t>an</a:t>
            </a:r>
            <a:r>
              <a:rPr sz="1600" spc="-190" dirty="0"/>
              <a:t> </a:t>
            </a:r>
            <a:r>
              <a:rPr sz="1600" spc="10" dirty="0"/>
              <a:t>integrated</a:t>
            </a:r>
            <a:r>
              <a:rPr sz="1600" spc="-190" dirty="0"/>
              <a:t> </a:t>
            </a:r>
            <a:r>
              <a:rPr sz="1600" spc="15" dirty="0"/>
              <a:t>cloud</a:t>
            </a:r>
            <a:r>
              <a:rPr sz="1600" spc="-185" dirty="0"/>
              <a:t> </a:t>
            </a:r>
            <a:r>
              <a:rPr sz="1600" spc="25" dirty="0"/>
              <a:t>provider</a:t>
            </a:r>
            <a:r>
              <a:rPr sz="1600" spc="-190" dirty="0"/>
              <a:t> </a:t>
            </a:r>
            <a:r>
              <a:rPr sz="1600" spc="40" dirty="0"/>
              <a:t>or  </a:t>
            </a:r>
            <a:r>
              <a:rPr sz="1600" spc="25" dirty="0"/>
              <a:t>other</a:t>
            </a:r>
            <a:r>
              <a:rPr sz="1600" spc="-200" dirty="0"/>
              <a:t> </a:t>
            </a:r>
            <a:r>
              <a:rPr sz="1600" spc="15" dirty="0"/>
              <a:t>external</a:t>
            </a:r>
            <a:r>
              <a:rPr sz="1600" spc="-195" dirty="0"/>
              <a:t> </a:t>
            </a:r>
            <a:r>
              <a:rPr sz="1600" spc="30" dirty="0"/>
              <a:t>entity</a:t>
            </a:r>
            <a:r>
              <a:rPr sz="1600" spc="-195" dirty="0"/>
              <a:t> </a:t>
            </a:r>
            <a:r>
              <a:rPr sz="1600" spc="-20" dirty="0"/>
              <a:t>(load</a:t>
            </a:r>
            <a:r>
              <a:rPr sz="1600" spc="-195" dirty="0"/>
              <a:t> </a:t>
            </a:r>
            <a:r>
              <a:rPr sz="1600" spc="-10" dirty="0"/>
              <a:t>balancer)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</a:t>
            </a:r>
            <a:r>
              <a:rPr sz="2400" spc="-195" dirty="0"/>
              <a:t> </a:t>
            </a:r>
            <a:r>
              <a:rPr sz="2400" spc="320" dirty="0"/>
              <a:t>CNI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39572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Networking within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Kubernetes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plumbed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via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Container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Network 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(CNI),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between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plugin.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ahoma"/>
                <a:cs typeface="Tahoma"/>
              </a:rPr>
              <a:t>CNI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Plugins: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6421" y="3017647"/>
            <a:ext cx="110680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Calico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Cillium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45" dirty="0">
                <a:solidFill>
                  <a:srgbClr val="FFFFFF"/>
                </a:solidFill>
                <a:latin typeface="Tahoma"/>
                <a:cs typeface="Tahoma"/>
              </a:rPr>
              <a:t>Contiv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Contrail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Flannel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90" dirty="0">
                <a:solidFill>
                  <a:srgbClr val="FFFFFF"/>
                </a:solidFill>
                <a:latin typeface="Tahoma"/>
                <a:cs typeface="Tahoma"/>
              </a:rPr>
              <a:t>GCE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521" y="2982547"/>
            <a:ext cx="160782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kube-router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Multus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OpenVSwitch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135" dirty="0">
                <a:solidFill>
                  <a:srgbClr val="FFFFFF"/>
                </a:solidFill>
                <a:latin typeface="Tahoma"/>
                <a:cs typeface="Tahoma"/>
              </a:rPr>
              <a:t>OVN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Romana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Weave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10175" y="1784412"/>
            <a:ext cx="3537585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25" dirty="0"/>
              <a:t>Kubernetes</a:t>
            </a:r>
          </a:p>
          <a:p>
            <a:pPr marL="1346835">
              <a:lnSpc>
                <a:spcPct val="100000"/>
              </a:lnSpc>
              <a:spcBef>
                <a:spcPts val="30"/>
              </a:spcBef>
            </a:pPr>
            <a:r>
              <a:rPr spc="450" dirty="0"/>
              <a:t>Concepts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33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Kubernetes </a:t>
            </a:r>
            <a:r>
              <a:rPr sz="2400" spc="300" dirty="0"/>
              <a:t>Concepts</a:t>
            </a:r>
            <a:r>
              <a:rPr sz="2400" spc="-245" dirty="0"/>
              <a:t> </a:t>
            </a:r>
            <a:r>
              <a:rPr sz="2400" spc="180" dirty="0"/>
              <a:t>- </a:t>
            </a:r>
            <a:r>
              <a:rPr sz="2400" spc="265" dirty="0"/>
              <a:t>Core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883400" cy="2816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9050">
              <a:lnSpc>
                <a:spcPct val="102200"/>
              </a:lnSpc>
              <a:spcBef>
                <a:spcPts val="5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Cluster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hosts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aggregate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cpu,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ram,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disk,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devices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usable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pool.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1600"/>
              </a:lnSpc>
            </a:pPr>
            <a:r>
              <a:rPr sz="1600" b="1" spc="-10" dirty="0">
                <a:solidFill>
                  <a:srgbClr val="FFFFFF"/>
                </a:solidFill>
                <a:latin typeface="Gill Sans MT"/>
                <a:cs typeface="Gill Sans MT"/>
              </a:rPr>
              <a:t>Master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master(s)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represent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plane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Kubernetes.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These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components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responsible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 cluster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decisions including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both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responding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events.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360680" algn="just">
              <a:lnSpc>
                <a:spcPct val="101600"/>
              </a:lnSpc>
            </a:pPr>
            <a:r>
              <a:rPr sz="1600" b="1" spc="-60" dirty="0">
                <a:solidFill>
                  <a:srgbClr val="FFFFFF"/>
                </a:solidFill>
                <a:latin typeface="Gill Sans MT"/>
                <a:cs typeface="Gill Sans MT"/>
              </a:rPr>
              <a:t>Node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host,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capable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running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master(s),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minimum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runs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kube-proxy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considered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part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cluster.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38480">
              <a:lnSpc>
                <a:spcPct val="102200"/>
              </a:lnSpc>
            </a:pPr>
            <a:r>
              <a:rPr sz="1600" b="1" spc="-55" dirty="0">
                <a:solidFill>
                  <a:srgbClr val="FFFFFF"/>
                </a:solidFill>
                <a:latin typeface="Gill Sans MT"/>
                <a:cs typeface="Gill Sans MT"/>
              </a:rPr>
              <a:t>Namespace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logical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environment.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dividing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scoping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access.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50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 </a:t>
            </a:r>
            <a:r>
              <a:rPr sz="2400" spc="180" dirty="0"/>
              <a:t>- </a:t>
            </a:r>
            <a:r>
              <a:rPr sz="2400" spc="265" dirty="0"/>
              <a:t>Core</a:t>
            </a:r>
            <a:r>
              <a:rPr sz="2400" spc="-285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684009" cy="1968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5"/>
              </a:spcBef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Label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pairs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5" dirty="0">
                <a:solidFill>
                  <a:srgbClr val="FFFFFF"/>
                </a:solidFill>
                <a:latin typeface="Gill Sans MT"/>
                <a:cs typeface="Gill Sans MT"/>
              </a:rPr>
              <a:t>identify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describe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objects.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strict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character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set.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90" dirty="0">
                <a:solidFill>
                  <a:srgbClr val="FFFF00"/>
                </a:solidFill>
                <a:latin typeface="Tahoma"/>
                <a:cs typeface="Tahoma"/>
              </a:rPr>
              <a:t>*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266065">
              <a:lnSpc>
                <a:spcPct val="1016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Annotation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Key-value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pairs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 </a:t>
            </a:r>
            <a:r>
              <a:rPr sz="1300" b="1" spc="-10" dirty="0">
                <a:solidFill>
                  <a:srgbClr val="FFFFFF"/>
                </a:solidFill>
                <a:latin typeface="Gill Sans MT"/>
                <a:cs typeface="Gill Sans MT"/>
              </a:rPr>
              <a:t>non-identifying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information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metadata.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Annotations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limitations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structured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unstructured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data.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53670">
              <a:lnSpc>
                <a:spcPct val="102200"/>
              </a:lnSpc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Selector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4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filter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objects.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equality-based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(=,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==,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Tahoma"/>
                <a:cs typeface="Tahoma"/>
              </a:rPr>
              <a:t>!=)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supported.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325" y="4899829"/>
            <a:ext cx="683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*</a:t>
            </a:r>
            <a:r>
              <a:rPr sz="1200" spc="-40" dirty="0">
                <a:solidFill>
                  <a:srgbClr val="7890CD"/>
                </a:solidFill>
                <a:latin typeface="Arial"/>
                <a:cs typeface="Arial"/>
              </a:rPr>
              <a:t> </a:t>
            </a:r>
            <a:r>
              <a:rPr sz="1200" u="heavy" spc="-5" dirty="0">
                <a:solidFill>
                  <a:srgbClr val="7890CD"/>
                </a:solidFill>
                <a:uFill>
                  <a:solidFill>
                    <a:srgbClr val="7890CD"/>
                  </a:solidFill>
                </a:uFill>
                <a:latin typeface="Arial"/>
                <a:cs typeface="Arial"/>
                <a:hlinkClick r:id="rId2"/>
              </a:rPr>
              <a:t>https://kubernetes.io/docs/concepts/overview/working-with-objects/labels/#syntax-and-character-set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5625" y="319374"/>
            <a:ext cx="2514474" cy="4504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1775" y="1622765"/>
            <a:ext cx="2161540" cy="2311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Labels:</a:t>
            </a:r>
            <a:endParaRPr sz="1300">
              <a:latin typeface="Tahoma"/>
              <a:cs typeface="Tahoma"/>
            </a:endParaRPr>
          </a:p>
          <a:p>
            <a:pPr marL="76200" marR="1108075">
              <a:lnSpc>
                <a:spcPct val="115399"/>
              </a:lnSpc>
            </a:pP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app: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nginx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tier:</a:t>
            </a:r>
            <a:r>
              <a:rPr sz="13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frontned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Annotations</a:t>
            </a:r>
            <a:endParaRPr sz="13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description: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“nginx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frontend”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imes New Roman"/>
              <a:cs typeface="Times New Roman"/>
            </a:endParaRPr>
          </a:p>
          <a:p>
            <a:pPr marL="76200" marR="1343660" indent="-64135">
              <a:lnSpc>
                <a:spcPct val="115399"/>
              </a:lnSpc>
              <a:spcBef>
                <a:spcPts val="5"/>
              </a:spcBef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Selector: 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app:</a:t>
            </a:r>
            <a:r>
              <a:rPr sz="13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nginx</a:t>
            </a:r>
            <a:endParaRPr sz="13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tier: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64438" y="463958"/>
            <a:ext cx="376682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48994" marR="5080" indent="-836930">
              <a:lnSpc>
                <a:spcPts val="2850"/>
              </a:lnSpc>
              <a:spcBef>
                <a:spcPts val="220"/>
              </a:spcBef>
            </a:pPr>
            <a:r>
              <a:rPr sz="2400" spc="215" dirty="0"/>
              <a:t>Labels, </a:t>
            </a:r>
            <a:r>
              <a:rPr sz="2400" spc="330" dirty="0"/>
              <a:t>and</a:t>
            </a:r>
            <a:r>
              <a:rPr sz="2400" spc="-65" dirty="0"/>
              <a:t> </a:t>
            </a:r>
            <a:r>
              <a:rPr sz="2400" spc="225" dirty="0"/>
              <a:t>Annotations,  </a:t>
            </a:r>
            <a:r>
              <a:rPr sz="2400" spc="330" dirty="0"/>
              <a:t>and</a:t>
            </a:r>
            <a:r>
              <a:rPr sz="2400" spc="75" dirty="0"/>
              <a:t> </a:t>
            </a:r>
            <a:r>
              <a:rPr sz="2400" spc="229" dirty="0"/>
              <a:t>Selectors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6123" y="644933"/>
            <a:ext cx="3000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0" dirty="0"/>
              <a:t>Set-based</a:t>
            </a:r>
            <a:r>
              <a:rPr sz="2400" spc="40" dirty="0"/>
              <a:t> </a:t>
            </a:r>
            <a:r>
              <a:rPr sz="2400" spc="215" dirty="0"/>
              <a:t>selectors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27599" y="1603490"/>
            <a:ext cx="3199130" cy="2768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Valid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Operators: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NotIn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Exists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DoesNotExist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Arial"/>
              <a:buChar char="●"/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Objects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set-based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selectors: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DaemonSet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PersistentVolumeClaims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125" y="369975"/>
            <a:ext cx="3876850" cy="4403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47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15" dirty="0"/>
              <a:t> </a:t>
            </a:r>
            <a:r>
              <a:rPr sz="2400" spc="270" dirty="0"/>
              <a:t>Workloads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685280" cy="2667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270510">
              <a:lnSpc>
                <a:spcPct val="114599"/>
              </a:lnSpc>
              <a:spcBef>
                <a:spcPts val="145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Pod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smallest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unit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  comprised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containers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share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storage,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network,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context 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(namespace,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cgroups</a:t>
            </a:r>
            <a:r>
              <a:rPr sz="130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etc).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389890">
              <a:lnSpc>
                <a:spcPct val="113900"/>
              </a:lnSpc>
              <a:spcBef>
                <a:spcPts val="5"/>
              </a:spcBef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ReplicationController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replicas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lifecycle.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Their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scheduling,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scaling,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deletion.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ReplicaSet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Generation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ReplicationController.</a:t>
            </a:r>
            <a:r>
              <a:rPr sz="13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set-based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selectors.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3900"/>
              </a:lnSpc>
              <a:spcBef>
                <a:spcPts val="163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Deployment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14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declarative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stateless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ReplicaSets.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Provides  rollback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functionality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addition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granular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mechanisms.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150" y="471975"/>
            <a:ext cx="1958000" cy="4199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78550" y="721337"/>
            <a:ext cx="2122124" cy="3700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83162" y="407608"/>
            <a:ext cx="194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/>
              <a:t>Deployment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2798875" y="1030116"/>
            <a:ext cx="181292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Contains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configuration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how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updates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‘deployments’ should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managed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 addition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generate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075" y="685882"/>
            <a:ext cx="169608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</a:pPr>
            <a:r>
              <a:rPr sz="2400" spc="260" dirty="0">
                <a:solidFill>
                  <a:srgbClr val="FFFFFF"/>
                </a:solidFill>
                <a:latin typeface="Calibri"/>
                <a:cs typeface="Calibri"/>
              </a:rPr>
              <a:t>ReplicaSet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5399"/>
              </a:lnSpc>
              <a:spcBef>
                <a:spcPts val="790"/>
              </a:spcBef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Generated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spec.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51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 </a:t>
            </a:r>
            <a:r>
              <a:rPr sz="2400" spc="270" dirty="0"/>
              <a:t>Workloads</a:t>
            </a:r>
            <a:r>
              <a:rPr sz="2400" spc="-70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09740" cy="12484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60"/>
              </a:spcBef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StatefulSet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tailored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persist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maintain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hostname,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network,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persisted.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451484">
              <a:lnSpc>
                <a:spcPct val="113900"/>
              </a:lnSpc>
            </a:pPr>
            <a:r>
              <a:rPr sz="1600" b="1" spc="-65" dirty="0">
                <a:solidFill>
                  <a:srgbClr val="FFFFFF"/>
                </a:solidFill>
                <a:latin typeface="Gill Sans MT"/>
                <a:cs typeface="Gill Sans MT"/>
              </a:rPr>
              <a:t>DaemonSet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Ensures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certain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criteria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instance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supplied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Ideal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wide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log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forwarding,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monitoring.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358" y="640707"/>
            <a:ext cx="1710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9" dirty="0"/>
              <a:t>StatefulSet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276333" y="1599266"/>
            <a:ext cx="3964304" cy="1168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Attaches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‘headeless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(not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shown)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20" dirty="0">
                <a:solidFill>
                  <a:srgbClr val="FFFFFF"/>
                </a:solidFill>
                <a:latin typeface="Calibri"/>
                <a:cs typeface="Calibri"/>
              </a:rPr>
              <a:t>nginx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unique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ordinal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names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pattern</a:t>
            </a:r>
            <a:endParaRPr sz="13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&lt;statefulset 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name&gt;-&lt;ordinal</a:t>
            </a:r>
            <a:r>
              <a:rPr sz="1300" i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index&gt;.</a:t>
            </a:r>
            <a:endParaRPr sz="1300">
              <a:latin typeface="Calibri"/>
              <a:cs typeface="Calibri"/>
            </a:endParaRPr>
          </a:p>
          <a:p>
            <a:pPr marL="340360" marR="26034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independent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persistent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volumes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‘volumeClaimTemplates’.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34175" y="389512"/>
            <a:ext cx="2599074" cy="4364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724" y="644933"/>
            <a:ext cx="185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5" dirty="0"/>
              <a:t>DaemonSet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3711575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Bypasses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default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  <a:p>
            <a:pPr marL="340360" marR="50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Schedules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instance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every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host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while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adhering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tolerances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taints.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1286" y="541438"/>
            <a:ext cx="3072464" cy="4060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51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 </a:t>
            </a:r>
            <a:r>
              <a:rPr sz="2400" spc="270" dirty="0"/>
              <a:t>Workloads</a:t>
            </a:r>
            <a:r>
              <a:rPr sz="2400" spc="-70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22440" cy="12484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60"/>
              </a:spcBef>
            </a:pPr>
            <a:r>
              <a:rPr sz="1600" b="1" spc="30" dirty="0">
                <a:solidFill>
                  <a:srgbClr val="FFFFFF"/>
                </a:solidFill>
                <a:latin typeface="Gill Sans MT"/>
                <a:cs typeface="Gill Sans MT"/>
              </a:rPr>
              <a:t>Job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ensures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successfully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terminates.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It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until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satisfies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completion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and/or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parallelism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condition.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297180">
              <a:lnSpc>
                <a:spcPct val="1139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CronJob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extension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Controller,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executing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cron-like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schedule.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5141" y="644933"/>
            <a:ext cx="725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Jobs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681008" y="1603490"/>
            <a:ext cx="3561079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4064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spec.completions</a:t>
            </a:r>
            <a:endParaRPr sz="1300">
              <a:latin typeface="Calibri"/>
              <a:cs typeface="Calibri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parallelized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spec.parallelism</a:t>
            </a:r>
            <a:endParaRPr sz="1300">
              <a:latin typeface="Calibri"/>
              <a:cs typeface="Calibri"/>
            </a:endParaRPr>
          </a:p>
          <a:p>
            <a:pPr marL="340360" marR="5257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25" dirty="0">
                <a:solidFill>
                  <a:srgbClr val="FFFFFF"/>
                </a:solidFill>
                <a:latin typeface="Gill Sans MT"/>
                <a:cs typeface="Gill Sans MT"/>
              </a:rPr>
              <a:t>NOT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automatically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cleaned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after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has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completed.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200" y="1451525"/>
            <a:ext cx="3467099" cy="3143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571" y="644933"/>
            <a:ext cx="1315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CronJob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700083" y="1633970"/>
            <a:ext cx="28771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Adds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cron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474" y="1490487"/>
            <a:ext cx="3582258" cy="3065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153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10" dirty="0"/>
              <a:t> </a:t>
            </a:r>
            <a:r>
              <a:rPr sz="2400" spc="275" dirty="0"/>
              <a:t>Network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728459" cy="170561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45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Service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exposing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L4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accessible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label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groups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ports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cluster-unique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 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IP.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55575">
              <a:lnSpc>
                <a:spcPct val="114599"/>
              </a:lnSpc>
            </a:pPr>
            <a:r>
              <a:rPr sz="1600" b="1" spc="-25" dirty="0">
                <a:solidFill>
                  <a:srgbClr val="FFFFFF"/>
                </a:solidFill>
                <a:latin typeface="Gill Sans MT"/>
                <a:cs typeface="Gill Sans MT"/>
              </a:rPr>
              <a:t>Ingress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ingress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exposing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(usually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http)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outside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world.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These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load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balancers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routers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usually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offer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SSL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termination,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name-based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hosting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463" y="644933"/>
            <a:ext cx="1122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Service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4863465" cy="18249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unified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accessing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replicated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Four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major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Types: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CluterIP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strictly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cluster-internal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(default)</a:t>
            </a:r>
            <a:endParaRPr sz="1100">
              <a:latin typeface="Tahoma"/>
              <a:cs typeface="Tahoma"/>
            </a:endParaRPr>
          </a:p>
          <a:p>
            <a:pPr marL="797560" marR="306070" lvl="1" indent="-313055">
              <a:lnSpc>
                <a:spcPct val="113599"/>
              </a:lnSpc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NodePort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node’s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statically 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port.</a:t>
            </a:r>
            <a:endParaRPr sz="1100">
              <a:latin typeface="Tahoma"/>
              <a:cs typeface="Tahoma"/>
            </a:endParaRPr>
          </a:p>
          <a:p>
            <a:pPr marL="797560" marR="307340" lvl="1" indent="-313055">
              <a:lnSpc>
                <a:spcPct val="113599"/>
              </a:lnSpc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LoadBalancer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Works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combination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provider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outside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IP.</a:t>
            </a:r>
            <a:endParaRPr sz="1100">
              <a:latin typeface="Tahoma"/>
              <a:cs typeface="Tahoma"/>
            </a:endParaRPr>
          </a:p>
          <a:p>
            <a:pPr marL="797560" marR="5080" lvl="1" indent="-313055">
              <a:lnSpc>
                <a:spcPct val="113599"/>
              </a:lnSpc>
              <a:spcBef>
                <a:spcPts val="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ExternalName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references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endpoints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Gill Sans MT"/>
                <a:cs typeface="Gill Sans MT"/>
              </a:rPr>
              <a:t>OUTSIDE</a:t>
            </a:r>
            <a:r>
              <a:rPr sz="1100" b="1" spc="-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cluster 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providing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internally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referenced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DNS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name.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53062" y="1567550"/>
            <a:ext cx="1609724" cy="2285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713" y="629332"/>
            <a:ext cx="2741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Ingress</a:t>
            </a:r>
            <a:r>
              <a:rPr sz="2400" spc="3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570583" y="1595690"/>
            <a:ext cx="3174365" cy="2159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Deployed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hosts</a:t>
            </a:r>
            <a:endParaRPr sz="1300">
              <a:latin typeface="Tahoma"/>
              <a:cs typeface="Tahoma"/>
            </a:endParaRPr>
          </a:p>
          <a:p>
            <a:pPr marL="340360" marR="370205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Ingress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 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options.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Nginx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HAproxy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Contour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Traefik</a:t>
            </a:r>
            <a:endParaRPr sz="1100">
              <a:latin typeface="Tahoma"/>
              <a:cs typeface="Tahoma"/>
            </a:endParaRPr>
          </a:p>
          <a:p>
            <a:pPr marL="340360" marR="5080" indent="-328295">
              <a:lnSpc>
                <a:spcPts val="1800"/>
              </a:lnSpc>
              <a:spcBef>
                <a:spcPts val="3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Specific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features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specific  configuration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passed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annotations.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2137" y="1567550"/>
            <a:ext cx="3305174" cy="2895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03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20" dirty="0"/>
              <a:t> </a:t>
            </a:r>
            <a:r>
              <a:rPr sz="2400" spc="275" dirty="0"/>
              <a:t>Storage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666865" cy="30162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23240">
              <a:lnSpc>
                <a:spcPct val="102200"/>
              </a:lnSpc>
              <a:spcBef>
                <a:spcPts val="5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Volume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tied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to</a:t>
            </a:r>
            <a:r>
              <a:rPr sz="1600" b="1"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the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Pod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Lifecycle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 containers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82880">
              <a:lnSpc>
                <a:spcPct val="1016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PersistentVolume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0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(PV)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represents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resource.</a:t>
            </a:r>
            <a:r>
              <a:rPr sz="13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 commonly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linked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backing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NFS,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GCEPersistentDisk,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RBD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ahead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time.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lifecycle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handled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independently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1600"/>
              </a:lnSpc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PersistentVolumeClaim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PersistentVolumeClaim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(PVC)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satisfies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instead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mapping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directly.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Commonly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dynamically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86995">
              <a:lnSpc>
                <a:spcPct val="101600"/>
              </a:lnSpc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StorageClass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classes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abstraction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top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resource.  These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include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provisioner,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configuration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parameters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well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PV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reclaimPolicy.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30488" y="644933"/>
            <a:ext cx="1373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Volumes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150503" y="1646487"/>
            <a:ext cx="3272049" cy="2753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29450" y="1487100"/>
            <a:ext cx="3206949" cy="307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1506" y="644933"/>
            <a:ext cx="2996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Persistent</a:t>
            </a:r>
            <a:r>
              <a:rPr sz="2400" spc="50" dirty="0"/>
              <a:t> </a:t>
            </a:r>
            <a:r>
              <a:rPr sz="2400" spc="300" dirty="0"/>
              <a:t>Volumes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924583" y="1603490"/>
            <a:ext cx="2760980" cy="26250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cluster-wide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6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directly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PV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Parameters: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Capacity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accessModes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ReadOnlyMany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(ROX)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ReadWriteOnce</a:t>
            </a:r>
            <a:r>
              <a:rPr sz="11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(RWO)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ReadWriteMany</a:t>
            </a:r>
            <a:r>
              <a:rPr sz="11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(RWX)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persistentVolumeReclaimPolicy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Retain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Recycle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Delete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StorageClass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500" y="1366725"/>
            <a:ext cx="3425157" cy="3312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4047" y="644933"/>
            <a:ext cx="396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Persistent </a:t>
            </a:r>
            <a:r>
              <a:rPr sz="2400" spc="310" dirty="0"/>
              <a:t>Volume</a:t>
            </a:r>
            <a:r>
              <a:rPr sz="2400" spc="-75" dirty="0"/>
              <a:t> </a:t>
            </a:r>
            <a:r>
              <a:rPr sz="2400" spc="290" dirty="0"/>
              <a:t>Claims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375984" y="1603490"/>
            <a:ext cx="3782060" cy="1397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PVCs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namespaces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accessModes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like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similar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endParaRPr sz="1300">
              <a:latin typeface="Tahoma"/>
              <a:cs typeface="Tahoma"/>
            </a:endParaRPr>
          </a:p>
          <a:p>
            <a:pPr marL="340360" marR="50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Claims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StorageClasses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based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storageClass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selectors.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350" y="1684450"/>
            <a:ext cx="2876549" cy="2570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3406" y="644933"/>
            <a:ext cx="2415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Storage</a:t>
            </a:r>
            <a:r>
              <a:rPr sz="2400" spc="30" dirty="0"/>
              <a:t> </a:t>
            </a:r>
            <a:r>
              <a:rPr sz="2400" spc="250" dirty="0"/>
              <a:t>Classes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799583" y="1603490"/>
            <a:ext cx="3235960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provisioner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dynamically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allocate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Fields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Provisioner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Parameters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reclaimPolicy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5077" y="1204650"/>
            <a:ext cx="3310299" cy="363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874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 </a:t>
            </a:r>
            <a:r>
              <a:rPr sz="2400" spc="180" dirty="0"/>
              <a:t>-</a:t>
            </a:r>
            <a:r>
              <a:rPr sz="2400" spc="-175" dirty="0"/>
              <a:t> </a:t>
            </a:r>
            <a:r>
              <a:rPr sz="2400" spc="254" dirty="0"/>
              <a:t>Configuration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74345" marR="204470">
              <a:lnSpc>
                <a:spcPct val="114599"/>
              </a:lnSpc>
              <a:spcBef>
                <a:spcPts val="145"/>
              </a:spcBef>
            </a:pPr>
            <a:r>
              <a:rPr sz="1600" b="1" spc="-25" dirty="0">
                <a:latin typeface="Gill Sans MT"/>
                <a:cs typeface="Gill Sans MT"/>
              </a:rPr>
              <a:t>ConfigMap </a:t>
            </a:r>
            <a:r>
              <a:rPr b="1" spc="30" dirty="0">
                <a:latin typeface="Gill Sans MT"/>
                <a:cs typeface="Gill Sans MT"/>
              </a:rPr>
              <a:t>- </a:t>
            </a:r>
            <a:r>
              <a:rPr spc="15" dirty="0"/>
              <a:t>Externalized </a:t>
            </a:r>
            <a:r>
              <a:rPr dirty="0"/>
              <a:t>data </a:t>
            </a:r>
            <a:r>
              <a:rPr spc="15" dirty="0"/>
              <a:t>stored </a:t>
            </a:r>
            <a:r>
              <a:rPr spc="20" dirty="0"/>
              <a:t>within </a:t>
            </a:r>
            <a:r>
              <a:rPr spc="10" dirty="0"/>
              <a:t>kubernetes </a:t>
            </a:r>
            <a:r>
              <a:rPr spc="15" dirty="0"/>
              <a:t>that </a:t>
            </a:r>
            <a:r>
              <a:rPr spc="-10" dirty="0"/>
              <a:t>can </a:t>
            </a:r>
            <a:r>
              <a:rPr dirty="0"/>
              <a:t>be </a:t>
            </a:r>
            <a:r>
              <a:rPr spc="10" dirty="0"/>
              <a:t>referenced </a:t>
            </a:r>
            <a:r>
              <a:rPr spc="-20" dirty="0"/>
              <a:t>as </a:t>
            </a:r>
            <a:r>
              <a:rPr spc="-25" dirty="0"/>
              <a:t>a  </a:t>
            </a:r>
            <a:r>
              <a:rPr dirty="0"/>
              <a:t>commandline</a:t>
            </a:r>
            <a:r>
              <a:rPr spc="-160" dirty="0"/>
              <a:t> </a:t>
            </a:r>
            <a:r>
              <a:rPr spc="-15" dirty="0"/>
              <a:t>argument,</a:t>
            </a:r>
            <a:r>
              <a:rPr spc="-155" dirty="0"/>
              <a:t> </a:t>
            </a:r>
            <a:r>
              <a:rPr spc="10" dirty="0"/>
              <a:t>environment</a:t>
            </a:r>
            <a:r>
              <a:rPr spc="-155" dirty="0"/>
              <a:t> </a:t>
            </a:r>
            <a:r>
              <a:rPr spc="-5" dirty="0"/>
              <a:t>variable,</a:t>
            </a:r>
            <a:r>
              <a:rPr spc="-155" dirty="0"/>
              <a:t> </a:t>
            </a:r>
            <a:r>
              <a:rPr spc="35" dirty="0"/>
              <a:t>or</a:t>
            </a:r>
            <a:r>
              <a:rPr spc="-155" dirty="0"/>
              <a:t> </a:t>
            </a:r>
            <a:r>
              <a:rPr spc="5" dirty="0"/>
              <a:t>injected</a:t>
            </a:r>
            <a:r>
              <a:rPr spc="-155" dirty="0"/>
              <a:t> </a:t>
            </a:r>
            <a:r>
              <a:rPr spc="-20" dirty="0"/>
              <a:t>as</a:t>
            </a:r>
            <a:r>
              <a:rPr spc="-155" dirty="0"/>
              <a:t> </a:t>
            </a:r>
            <a:r>
              <a:rPr spc="-25" dirty="0"/>
              <a:t>a</a:t>
            </a:r>
            <a:r>
              <a:rPr spc="-155" dirty="0"/>
              <a:t> </a:t>
            </a:r>
            <a:r>
              <a:rPr spc="20" dirty="0"/>
              <a:t>file</a:t>
            </a:r>
            <a:r>
              <a:rPr spc="-155" dirty="0"/>
              <a:t> </a:t>
            </a:r>
            <a:r>
              <a:rPr spc="25" dirty="0"/>
              <a:t>into</a:t>
            </a:r>
            <a:r>
              <a:rPr spc="-155" dirty="0"/>
              <a:t> </a:t>
            </a:r>
            <a:r>
              <a:rPr spc="-25" dirty="0"/>
              <a:t>a</a:t>
            </a:r>
            <a:r>
              <a:rPr spc="-155" dirty="0"/>
              <a:t> </a:t>
            </a:r>
            <a:r>
              <a:rPr spc="5" dirty="0"/>
              <a:t>volume</a:t>
            </a:r>
            <a:r>
              <a:rPr spc="-155" dirty="0"/>
              <a:t> </a:t>
            </a:r>
            <a:r>
              <a:rPr spc="-15" dirty="0"/>
              <a:t>mount.</a:t>
            </a:r>
            <a:r>
              <a:rPr spc="-155" dirty="0"/>
              <a:t> </a:t>
            </a:r>
            <a:r>
              <a:rPr spc="-15" dirty="0"/>
              <a:t>Ideal  </a:t>
            </a:r>
            <a:r>
              <a:rPr spc="30" dirty="0"/>
              <a:t>for</a:t>
            </a:r>
            <a:r>
              <a:rPr spc="-160" dirty="0"/>
              <a:t> </a:t>
            </a:r>
            <a:r>
              <a:rPr dirty="0"/>
              <a:t>separating</a:t>
            </a:r>
            <a:r>
              <a:rPr spc="-160" dirty="0"/>
              <a:t> </a:t>
            </a:r>
            <a:r>
              <a:rPr spc="15" dirty="0"/>
              <a:t>containerized</a:t>
            </a:r>
            <a:r>
              <a:rPr spc="-160" dirty="0"/>
              <a:t> </a:t>
            </a:r>
            <a:r>
              <a:rPr spc="10" dirty="0"/>
              <a:t>application</a:t>
            </a:r>
            <a:r>
              <a:rPr spc="-160" dirty="0"/>
              <a:t> </a:t>
            </a:r>
            <a:r>
              <a:rPr spc="15" dirty="0"/>
              <a:t>from</a:t>
            </a:r>
            <a:r>
              <a:rPr spc="-160" dirty="0"/>
              <a:t> </a:t>
            </a:r>
            <a:r>
              <a:rPr dirty="0"/>
              <a:t>configuration.</a:t>
            </a:r>
            <a:endParaRPr sz="1600">
              <a:latin typeface="Gill Sans MT"/>
              <a:cs typeface="Gill Sans MT"/>
            </a:endParaRPr>
          </a:p>
          <a:p>
            <a:pPr marL="461645">
              <a:lnSpc>
                <a:spcPct val="100000"/>
              </a:lnSpc>
              <a:spcBef>
                <a:spcPts val="40"/>
              </a:spcBef>
            </a:pPr>
            <a:endParaRPr sz="1600">
              <a:latin typeface="Gill Sans MT"/>
              <a:cs typeface="Gill Sans MT"/>
            </a:endParaRPr>
          </a:p>
          <a:p>
            <a:pPr marL="474345" marR="5080">
              <a:lnSpc>
                <a:spcPct val="113900"/>
              </a:lnSpc>
              <a:spcBef>
                <a:spcPts val="5"/>
              </a:spcBef>
            </a:pPr>
            <a:r>
              <a:rPr sz="1600" b="1" spc="-55" dirty="0">
                <a:latin typeface="Gill Sans MT"/>
                <a:cs typeface="Gill Sans MT"/>
              </a:rPr>
              <a:t>Secret</a:t>
            </a:r>
            <a:r>
              <a:rPr sz="1600" b="1" spc="-190" dirty="0">
                <a:latin typeface="Gill Sans MT"/>
                <a:cs typeface="Gill Sans MT"/>
              </a:rPr>
              <a:t> </a:t>
            </a:r>
            <a:r>
              <a:rPr b="1" spc="30" dirty="0">
                <a:latin typeface="Gill Sans MT"/>
                <a:cs typeface="Gill Sans MT"/>
              </a:rPr>
              <a:t>-</a:t>
            </a:r>
            <a:r>
              <a:rPr b="1" spc="-105" dirty="0">
                <a:latin typeface="Gill Sans MT"/>
                <a:cs typeface="Gill Sans MT"/>
              </a:rPr>
              <a:t> </a:t>
            </a:r>
            <a:r>
              <a:rPr spc="15" dirty="0"/>
              <a:t>Functionally</a:t>
            </a:r>
            <a:r>
              <a:rPr spc="-150" dirty="0"/>
              <a:t> </a:t>
            </a:r>
            <a:r>
              <a:rPr spc="15" dirty="0"/>
              <a:t>identical</a:t>
            </a:r>
            <a:r>
              <a:rPr spc="-155" dirty="0"/>
              <a:t> </a:t>
            </a:r>
            <a:r>
              <a:rPr spc="30" dirty="0"/>
              <a:t>to</a:t>
            </a:r>
            <a:r>
              <a:rPr spc="-150" dirty="0"/>
              <a:t> </a:t>
            </a:r>
            <a:r>
              <a:rPr spc="15" dirty="0"/>
              <a:t>ConfigMaps,</a:t>
            </a:r>
            <a:r>
              <a:rPr spc="-150" dirty="0"/>
              <a:t> </a:t>
            </a:r>
            <a:r>
              <a:rPr spc="15" dirty="0"/>
              <a:t>but</a:t>
            </a:r>
            <a:r>
              <a:rPr spc="-155" dirty="0"/>
              <a:t> </a:t>
            </a:r>
            <a:r>
              <a:rPr spc="15" dirty="0"/>
              <a:t>stored</a:t>
            </a:r>
            <a:r>
              <a:rPr spc="-150" dirty="0"/>
              <a:t> </a:t>
            </a:r>
            <a:r>
              <a:rPr dirty="0"/>
              <a:t>encoded</a:t>
            </a:r>
            <a:r>
              <a:rPr spc="-150" dirty="0"/>
              <a:t> </a:t>
            </a:r>
            <a:r>
              <a:rPr spc="-20" dirty="0"/>
              <a:t>as</a:t>
            </a:r>
            <a:r>
              <a:rPr spc="-155" dirty="0"/>
              <a:t> </a:t>
            </a:r>
            <a:r>
              <a:rPr spc="-10" dirty="0"/>
              <a:t>base64,</a:t>
            </a:r>
            <a:r>
              <a:rPr spc="-150" dirty="0"/>
              <a:t> </a:t>
            </a:r>
            <a:r>
              <a:rPr spc="-10" dirty="0"/>
              <a:t>and</a:t>
            </a:r>
            <a:r>
              <a:rPr spc="-150" dirty="0"/>
              <a:t> </a:t>
            </a:r>
            <a:r>
              <a:rPr spc="10" dirty="0"/>
              <a:t>encrypted</a:t>
            </a:r>
            <a:r>
              <a:rPr spc="-155" dirty="0"/>
              <a:t> </a:t>
            </a:r>
            <a:r>
              <a:rPr spc="10" dirty="0"/>
              <a:t>at  </a:t>
            </a:r>
            <a:r>
              <a:rPr spc="20" dirty="0"/>
              <a:t>rest</a:t>
            </a:r>
            <a:r>
              <a:rPr spc="-305" dirty="0"/>
              <a:t> </a:t>
            </a:r>
            <a:r>
              <a:rPr spc="-20" dirty="0"/>
              <a:t>(if </a:t>
            </a:r>
            <a:r>
              <a:rPr spc="-15" dirty="0"/>
              <a:t>configured).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738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ConfigMaps </a:t>
            </a:r>
            <a:r>
              <a:rPr sz="2400" spc="330" dirty="0"/>
              <a:t>and</a:t>
            </a:r>
            <a:r>
              <a:rPr sz="2400" spc="-150" dirty="0"/>
              <a:t> </a:t>
            </a:r>
            <a:r>
              <a:rPr sz="2400" spc="250" dirty="0"/>
              <a:t>Secrets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596747"/>
            <a:ext cx="4356735" cy="8413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Config: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Injected</a:t>
            </a:r>
            <a:r>
              <a:rPr sz="11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Passed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environment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command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(requires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passing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env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var)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38462" y="1307860"/>
            <a:ext cx="1925050" cy="1906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5812" y="3298762"/>
            <a:ext cx="2110349" cy="1280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36289" y="2672475"/>
            <a:ext cx="1671408" cy="19063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24750" y="2597475"/>
            <a:ext cx="1473449" cy="19813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61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</a:t>
            </a:r>
            <a:r>
              <a:rPr sz="2400" spc="75" dirty="0"/>
              <a:t> </a:t>
            </a:r>
            <a:r>
              <a:rPr sz="2400" spc="180" dirty="0"/>
              <a:t>-</a:t>
            </a:r>
            <a:r>
              <a:rPr sz="2400" spc="80" dirty="0"/>
              <a:t> </a:t>
            </a:r>
            <a:r>
              <a:rPr sz="2400" spc="305" dirty="0"/>
              <a:t>Auth</a:t>
            </a:r>
            <a:r>
              <a:rPr sz="2400" spc="80" dirty="0"/>
              <a:t> </a:t>
            </a:r>
            <a:r>
              <a:rPr sz="2400" spc="330" dirty="0"/>
              <a:t>and</a:t>
            </a:r>
            <a:r>
              <a:rPr sz="2400" spc="75" dirty="0"/>
              <a:t> </a:t>
            </a:r>
            <a:r>
              <a:rPr sz="2400" spc="215" dirty="0"/>
              <a:t>Identity</a:t>
            </a:r>
            <a:r>
              <a:rPr sz="2400" spc="80" dirty="0"/>
              <a:t> </a:t>
            </a:r>
            <a:r>
              <a:rPr sz="2400" spc="305" dirty="0"/>
              <a:t>(RBAC)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69430" cy="218186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45"/>
              </a:spcBef>
            </a:pPr>
            <a:r>
              <a:rPr sz="1600" b="1" spc="-65" dirty="0">
                <a:solidFill>
                  <a:srgbClr val="FFFFFF"/>
                </a:solidFill>
                <a:latin typeface="Gill Sans MT"/>
                <a:cs typeface="Gill Sans MT"/>
              </a:rPr>
              <a:t>[Cluster]Role</a:t>
            </a:r>
            <a:r>
              <a:rPr sz="1600" b="1" spc="-2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permissions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apply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verbs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like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“get”,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“list”,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“watch”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etc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apiGroups.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namespaces,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ClusterRoles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applied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cluster-wide.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11125" algn="just">
              <a:lnSpc>
                <a:spcPct val="113900"/>
              </a:lnSpc>
              <a:spcBef>
                <a:spcPts val="5"/>
              </a:spcBef>
            </a:pPr>
            <a:r>
              <a:rPr sz="1600" b="1" spc="-55" dirty="0">
                <a:solidFill>
                  <a:srgbClr val="FFFFFF"/>
                </a:solidFill>
                <a:latin typeface="Gill Sans MT"/>
                <a:cs typeface="Gill Sans MT"/>
              </a:rPr>
              <a:t>[Cluster]RoleBinding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0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Grant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permissions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[Cluster]Role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“subjects”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user,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group,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account.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455295">
              <a:lnSpc>
                <a:spcPct val="113900"/>
              </a:lnSpc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ServiceAccount-</a:t>
            </a:r>
            <a:r>
              <a:rPr sz="16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ServiceAccounts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interact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directly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namespaces.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7140" y="644933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10" dirty="0"/>
              <a:t>[Cluster]Role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260032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Permissions translate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url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path.</a:t>
            </a:r>
            <a:r>
              <a:rPr sz="13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“”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defaulting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core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group.</a:t>
            </a:r>
            <a:endParaRPr sz="1300">
              <a:latin typeface="Tahoma"/>
              <a:cs typeface="Tahoma"/>
            </a:endParaRPr>
          </a:p>
          <a:p>
            <a:pPr marL="340360" marR="39370" indent="-328295">
              <a:lnSpc>
                <a:spcPct val="115399"/>
              </a:lnSpc>
              <a:spcBef>
                <a:spcPts val="9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act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items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granted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to.</a:t>
            </a:r>
            <a:endParaRPr sz="1300">
              <a:latin typeface="Tahoma"/>
              <a:cs typeface="Tahoma"/>
            </a:endParaRPr>
          </a:p>
          <a:p>
            <a:pPr marL="340360" marR="57785" indent="-328295">
              <a:lnSpc>
                <a:spcPct val="115399"/>
              </a:lnSpc>
              <a:spcBef>
                <a:spcPts val="9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Verbs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actions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perform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referenced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9000" y="1721762"/>
            <a:ext cx="4097424" cy="1785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64" y="644933"/>
            <a:ext cx="3204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0" dirty="0"/>
              <a:t>[Cluster]RoleBinding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2700020" cy="12827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reference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kind: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ServiceAccount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roleRef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targets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only.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2300" y="1567537"/>
            <a:ext cx="3674099" cy="2534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34535" marR="1578610" algn="ctr">
              <a:lnSpc>
                <a:spcPct val="100000"/>
              </a:lnSpc>
              <a:spcBef>
                <a:spcPts val="100"/>
              </a:spcBef>
            </a:pPr>
            <a:r>
              <a:rPr spc="484" dirty="0"/>
              <a:t>Behind</a:t>
            </a:r>
          </a:p>
          <a:p>
            <a:pPr marL="5201920" algn="ctr">
              <a:lnSpc>
                <a:spcPct val="100000"/>
              </a:lnSpc>
              <a:spcBef>
                <a:spcPts val="30"/>
              </a:spcBef>
            </a:pPr>
            <a:r>
              <a:rPr spc="409" dirty="0"/>
              <a:t>The</a:t>
            </a:r>
            <a:r>
              <a:rPr spc="70" dirty="0"/>
              <a:t> </a:t>
            </a:r>
            <a:r>
              <a:rPr spc="450" dirty="0"/>
              <a:t>Scenes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34535" marR="1578610" algn="ctr">
              <a:lnSpc>
                <a:spcPct val="100000"/>
              </a:lnSpc>
              <a:spcBef>
                <a:spcPts val="100"/>
              </a:spcBef>
            </a:pPr>
            <a:r>
              <a:rPr spc="484" dirty="0"/>
              <a:t>Behind</a:t>
            </a:r>
          </a:p>
          <a:p>
            <a:pPr marL="5201920" algn="ctr">
              <a:lnSpc>
                <a:spcPct val="100000"/>
              </a:lnSpc>
              <a:spcBef>
                <a:spcPts val="30"/>
              </a:spcBef>
            </a:pPr>
            <a:r>
              <a:rPr spc="409" dirty="0"/>
              <a:t>The</a:t>
            </a:r>
            <a:r>
              <a:rPr spc="70" dirty="0"/>
              <a:t> </a:t>
            </a:r>
            <a:r>
              <a:rPr spc="450" dirty="0"/>
              <a:t>Scenes</a:t>
            </a:r>
          </a:p>
        </p:txBody>
      </p:sp>
      <p:sp>
        <p:nvSpPr>
          <p:cNvPr id="9" name="object 9"/>
          <p:cNvSpPr/>
          <p:nvPr/>
        </p:nvSpPr>
        <p:spPr>
          <a:xfrm>
            <a:off x="1215850" y="1366087"/>
            <a:ext cx="3232349" cy="2411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96875" y="2171801"/>
            <a:ext cx="444182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6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sz="2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409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1270635">
              <a:lnSpc>
                <a:spcPct val="100000"/>
              </a:lnSpc>
              <a:spcBef>
                <a:spcPts val="15"/>
              </a:spcBef>
            </a:pPr>
            <a:r>
              <a:rPr sz="2800" spc="395" dirty="0">
                <a:solidFill>
                  <a:srgbClr val="FFFFFF"/>
                </a:solidFill>
                <a:latin typeface="Calibri"/>
                <a:cs typeface="Calibri"/>
              </a:rPr>
              <a:t>Beginning </a:t>
            </a:r>
            <a:r>
              <a:rPr sz="2800" spc="23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spc="-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45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400" y="256725"/>
            <a:ext cx="8839202" cy="4630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215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Kubectl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333184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835">
              <a:lnSpc>
                <a:spcPct val="113300"/>
              </a:lnSpc>
              <a:spcBef>
                <a:spcPts val="100"/>
              </a:spcBef>
              <a:buAutoNum type="arabicParenR"/>
              <a:tabLst>
                <a:tab pos="23114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Kubectl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performs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client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side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manifest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(linting).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3300"/>
              </a:lnSpc>
              <a:spcBef>
                <a:spcPts val="1650"/>
              </a:spcBef>
              <a:buAutoNum type="arabicParenR"/>
              <a:tabLst>
                <a:tab pos="231140" algn="l"/>
              </a:tabLst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Manifest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prepared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serialized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JSON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payload.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6009" y="1567549"/>
            <a:ext cx="3320385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68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APIserver </a:t>
            </a:r>
            <a:r>
              <a:rPr sz="2400" spc="295" dirty="0"/>
              <a:t>Request</a:t>
            </a:r>
            <a:r>
              <a:rPr sz="2400" spc="-114" dirty="0"/>
              <a:t> </a:t>
            </a:r>
            <a:r>
              <a:rPr sz="2400" spc="310" dirty="0"/>
              <a:t>Loop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897624" y="1567551"/>
            <a:ext cx="3438775" cy="1440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0525" y="1634478"/>
            <a:ext cx="5591810" cy="27063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2212975">
              <a:lnSpc>
                <a:spcPts val="1430"/>
              </a:lnSpc>
              <a:spcBef>
                <a:spcPts val="155"/>
              </a:spcBef>
              <a:buAutoNum type="arabicParenR" startAt="3"/>
              <a:tabLst>
                <a:tab pos="176530" algn="l"/>
              </a:tabLst>
            </a:pP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Kubectl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authenticates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x509,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jwt, 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auth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proxy,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plugins,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http-basic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auth.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2700" marR="2523490">
              <a:lnSpc>
                <a:spcPts val="1430"/>
              </a:lnSpc>
              <a:buAutoNum type="arabicParenR" startAt="3"/>
              <a:tabLst>
                <a:tab pos="176530" algn="l"/>
              </a:tabLst>
            </a:pP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Authorization</a:t>
            </a:r>
            <a:r>
              <a:rPr sz="1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iterates</a:t>
            </a:r>
            <a:r>
              <a:rPr sz="1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AuthZ 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sources: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Node,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ABAC,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RBAC,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webhook.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41910" marR="2580005" indent="-29845">
              <a:lnSpc>
                <a:spcPts val="1430"/>
              </a:lnSpc>
              <a:buAutoNum type="arabicParenR" startAt="3"/>
              <a:tabLst>
                <a:tab pos="176530" algn="l"/>
              </a:tabLst>
            </a:pP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AdmissionControl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checks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quotas, 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checks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Tahoma"/>
              <a:buAutoNum type="arabicParenR" startAt="3"/>
            </a:pPr>
            <a:endParaRPr sz="135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stored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etcd.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Initializers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opportunity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mutate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published.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547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/>
              <a:t>Deployment</a:t>
            </a:r>
            <a:r>
              <a:rPr sz="2400" spc="4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393065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88950">
              <a:lnSpc>
                <a:spcPct val="101000"/>
              </a:lnSpc>
              <a:spcBef>
                <a:spcPts val="85"/>
              </a:spcBef>
              <a:buAutoNum type="arabicParenR" startAt="9"/>
              <a:tabLst>
                <a:tab pos="22225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notified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callback.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9"/>
              <a:tabLst>
                <a:tab pos="28575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reconciles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vs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forms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12700" marR="367665">
              <a:lnSpc>
                <a:spcPct val="101000"/>
              </a:lnSpc>
              <a:buAutoNum type="arabicParenR" startAt="9"/>
              <a:tabLst>
                <a:tab pos="28575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9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is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published.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46939" y="1567549"/>
            <a:ext cx="2689460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251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ReplicaSet</a:t>
            </a:r>
            <a:r>
              <a:rPr sz="2400" spc="4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21640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3970">
              <a:lnSpc>
                <a:spcPct val="101000"/>
              </a:lnSpc>
              <a:spcBef>
                <a:spcPts val="85"/>
              </a:spcBef>
              <a:buAutoNum type="arabicParenR" startAt="13"/>
              <a:tabLst>
                <a:tab pos="3175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notified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callback.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13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reconciles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forms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amount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12700" marR="753110">
              <a:lnSpc>
                <a:spcPct val="101000"/>
              </a:lnSpc>
              <a:buAutoNum type="arabicParenR" startAt="13"/>
              <a:tabLst>
                <a:tab pos="31750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13"/>
              <a:tabLst>
                <a:tab pos="28575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published,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enter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‘Pending’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phase.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7780" y="1567550"/>
            <a:ext cx="2668619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825" y="152400"/>
            <a:ext cx="7816359" cy="48386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57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Scheduler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83"/>
            <a:ext cx="3774440" cy="26238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59410">
              <a:lnSpc>
                <a:spcPct val="101000"/>
              </a:lnSpc>
              <a:spcBef>
                <a:spcPts val="85"/>
              </a:spcBef>
              <a:buAutoNum type="arabicParenR" startAt="17"/>
              <a:tabLst>
                <a:tab pos="3175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monitors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‘NodeName’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assigned.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344805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Applies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filters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find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suitable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host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100330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binding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POSTs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17"/>
              <a:tabLst>
                <a:tab pos="28575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POST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updated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binding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sets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status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3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‘PodScheduled’.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5700" y="1548662"/>
            <a:ext cx="3080699" cy="2948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851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Kubelet </a:t>
            </a:r>
            <a:r>
              <a:rPr sz="2400" spc="180" dirty="0"/>
              <a:t>-</a:t>
            </a:r>
            <a:r>
              <a:rPr sz="2400" spc="-140" dirty="0"/>
              <a:t> </a:t>
            </a:r>
            <a:r>
              <a:rPr sz="2400" spc="335" dirty="0"/>
              <a:t>PodSync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846320" cy="20237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3180">
              <a:lnSpc>
                <a:spcPct val="101000"/>
              </a:lnSpc>
              <a:spcBef>
                <a:spcPts val="85"/>
              </a:spcBef>
              <a:buAutoNum type="arabicParenR" startAt="22"/>
              <a:tabLst>
                <a:tab pos="317500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daemon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every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polls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filtering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own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‘NodeName’;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checking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2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22"/>
              <a:tabLst>
                <a:tab pos="28575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move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internal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prepare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environment.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This includes pulling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secrets,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provisioning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applying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AppArmor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profiles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various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scaffolding.</a:t>
            </a:r>
            <a:r>
              <a:rPr sz="13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period,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asynchronously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POST’ing  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‘PodStatus’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standard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  request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loop.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164" y="1567550"/>
            <a:ext cx="1951236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24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Pause </a:t>
            </a:r>
            <a:r>
              <a:rPr sz="2400" spc="330" dirty="0"/>
              <a:t>and</a:t>
            </a:r>
            <a:r>
              <a:rPr sz="2400" spc="-195" dirty="0"/>
              <a:t> </a:t>
            </a:r>
            <a:r>
              <a:rPr sz="2400" spc="360" dirty="0"/>
              <a:t>Plumbing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01955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provisions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‘pause’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CRI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Interface).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parent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354330" algn="just">
              <a:lnSpc>
                <a:spcPct val="101000"/>
              </a:lnSpc>
              <a:buAutoNum type="arabicParenR" startAt="24"/>
              <a:tabLst>
                <a:tab pos="285750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plumbed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CNI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Interface),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veth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pair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attached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bridge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(cbr0).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24130">
              <a:lnSpc>
                <a:spcPct val="101000"/>
              </a:lnSpc>
              <a:buAutoNum type="arabicParenR" startAt="24"/>
              <a:tabLst>
                <a:tab pos="285750" algn="l"/>
              </a:tabLst>
            </a:pPr>
            <a:r>
              <a:rPr sz="1300" spc="70" dirty="0">
                <a:solidFill>
                  <a:srgbClr val="FFFFFF"/>
                </a:solidFill>
                <a:latin typeface="Tahoma"/>
                <a:cs typeface="Tahoma"/>
              </a:rPr>
              <a:t>IPAM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handled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CNI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plugin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assigns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5343" y="1567549"/>
            <a:ext cx="2811056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07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Kublet </a:t>
            </a:r>
            <a:r>
              <a:rPr sz="2400" spc="180" dirty="0"/>
              <a:t>- </a:t>
            </a:r>
            <a:r>
              <a:rPr sz="2400" spc="250" dirty="0"/>
              <a:t>Create</a:t>
            </a:r>
            <a:r>
              <a:rPr sz="2400" spc="-250" dirty="0"/>
              <a:t> </a:t>
            </a:r>
            <a:r>
              <a:rPr sz="2400" spc="254" dirty="0"/>
              <a:t>Containers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390842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00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pulls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Images.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24"/>
              <a:tabLst>
                <a:tab pos="28575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starts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218440">
              <a:lnSpc>
                <a:spcPct val="101000"/>
              </a:lnSpc>
              <a:spcBef>
                <a:spcPts val="5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Once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optional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init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complete,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primary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containers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started.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56087" y="1567550"/>
            <a:ext cx="2780311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691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60" dirty="0"/>
              <a:t>Pod</a:t>
            </a:r>
            <a:r>
              <a:rPr sz="2400" spc="15" dirty="0"/>
              <a:t> </a:t>
            </a:r>
            <a:r>
              <a:rPr sz="2400" spc="260" dirty="0"/>
              <a:t>Status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5450205" cy="102361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  <a:buAutoNum type="arabicParenR" startAt="27"/>
              <a:tabLst>
                <a:tab pos="285750" algn="l"/>
              </a:tabLst>
            </a:pP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liveless/readiness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probes,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these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PodStatus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updated.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7"/>
            </a:pPr>
            <a:endParaRPr sz="1350">
              <a:latin typeface="Times New Roman"/>
              <a:cs typeface="Times New Roman"/>
            </a:endParaRPr>
          </a:p>
          <a:p>
            <a:pPr marL="12700" marR="115570">
              <a:lnSpc>
                <a:spcPct val="101000"/>
              </a:lnSpc>
              <a:buAutoNum type="arabicParenR" startAt="27"/>
              <a:tabLst>
                <a:tab pos="285750" algn="l"/>
              </a:tabLst>
            </a:pP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complete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successfully,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PodStatus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ready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has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started</a:t>
            </a:r>
            <a:r>
              <a:rPr sz="1300" spc="-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successfully.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0377" y="3222487"/>
            <a:ext cx="4251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2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55" dirty="0">
                <a:solidFill>
                  <a:srgbClr val="FFFFFF"/>
                </a:solidFill>
                <a:latin typeface="Tahoma"/>
                <a:cs typeface="Tahoma"/>
              </a:rPr>
              <a:t>Deployed!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74875" y="1567550"/>
            <a:ext cx="1361533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01994" y="2386113"/>
            <a:ext cx="20313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0" dirty="0">
                <a:solidFill>
                  <a:srgbClr val="FFFFFF"/>
                </a:solidFill>
                <a:latin typeface="Calibri"/>
                <a:cs typeface="Calibri"/>
              </a:rPr>
              <a:t>Questions?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2703</Words>
  <Application>Microsoft Office PowerPoint</Application>
  <PresentationFormat>On-screen Show (16:9)</PresentationFormat>
  <Paragraphs>338</Paragraphs>
  <Slides>66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Calibri</vt:lpstr>
      <vt:lpstr>Gill Sans MT</vt:lpstr>
      <vt:lpstr>Tahoma</vt:lpstr>
      <vt:lpstr>Times New Roman</vt:lpstr>
      <vt:lpstr>Office Theme</vt:lpstr>
      <vt:lpstr>Kubernetes</vt:lpstr>
      <vt:lpstr>Agenda</vt:lpstr>
      <vt:lpstr>Introduction</vt:lpstr>
      <vt:lpstr>Intro - What is Kubernetes?</vt:lpstr>
      <vt:lpstr>Intro - What Does Kubernetes do?</vt:lpstr>
      <vt:lpstr>Kubernetes Architecture</vt:lpstr>
      <vt:lpstr>Architecture Overview</vt:lpstr>
      <vt:lpstr>Architecture  Overview</vt:lpstr>
      <vt:lpstr>PowerPoint Presentation</vt:lpstr>
      <vt:lpstr>Master Components</vt:lpstr>
      <vt:lpstr>kube-apiserver</vt:lpstr>
      <vt:lpstr>PowerPoint Presentation</vt:lpstr>
      <vt:lpstr>kube-controller-manager</vt:lpstr>
      <vt:lpstr>cloud-controller-manager</vt:lpstr>
      <vt:lpstr>kube-scheduler</vt:lpstr>
      <vt:lpstr>PowerPoint Presentation</vt:lpstr>
      <vt:lpstr>Node Components</vt:lpstr>
      <vt:lpstr>kubelet</vt:lpstr>
      <vt:lpstr>kube-proxy</vt:lpstr>
      <vt:lpstr>Container Runtime</vt:lpstr>
      <vt:lpstr>Additional Services</vt:lpstr>
      <vt:lpstr>PowerPoint Presentation</vt:lpstr>
      <vt:lpstr>Networking - Fundamental Rules</vt:lpstr>
      <vt:lpstr>Networking - Fundamentals Applied</vt:lpstr>
      <vt:lpstr>Networking - CNI</vt:lpstr>
      <vt:lpstr>Kubernetes Concepts</vt:lpstr>
      <vt:lpstr>Kubernetes Concepts - Core</vt:lpstr>
      <vt:lpstr>Concepts - Core (cont.)</vt:lpstr>
      <vt:lpstr>Labels, and Annotations,  and Selectors</vt:lpstr>
      <vt:lpstr>Set-based selectors</vt:lpstr>
      <vt:lpstr>Concepts - Workloads</vt:lpstr>
      <vt:lpstr>Deployment</vt:lpstr>
      <vt:lpstr>Concepts - Workloads (cont.)</vt:lpstr>
      <vt:lpstr>StatefulSet</vt:lpstr>
      <vt:lpstr>DaemonSet</vt:lpstr>
      <vt:lpstr>Concepts - Workloads (cont.)</vt:lpstr>
      <vt:lpstr>Jobs</vt:lpstr>
      <vt:lpstr>CronJob</vt:lpstr>
      <vt:lpstr>Concepts - Network</vt:lpstr>
      <vt:lpstr>Service</vt:lpstr>
      <vt:lpstr>Ingress Controller</vt:lpstr>
      <vt:lpstr>Concepts - Storage</vt:lpstr>
      <vt:lpstr>Volumes</vt:lpstr>
      <vt:lpstr>Persistent Volumes</vt:lpstr>
      <vt:lpstr>Persistent Volume Claims</vt:lpstr>
      <vt:lpstr>Storage Classes</vt:lpstr>
      <vt:lpstr>Concepts - Configuration</vt:lpstr>
      <vt:lpstr>ConfigMaps and Secrets</vt:lpstr>
      <vt:lpstr>Concepts - Auth and Identity (RBAC)</vt:lpstr>
      <vt:lpstr>[Cluster]Role</vt:lpstr>
      <vt:lpstr>[Cluster]RoleBinding</vt:lpstr>
      <vt:lpstr>Behind The Scenes</vt:lpstr>
      <vt:lpstr>Behind The Scenes</vt:lpstr>
      <vt:lpstr>PowerPoint Presentation</vt:lpstr>
      <vt:lpstr>PowerPoint Presentation</vt:lpstr>
      <vt:lpstr>Kubectl</vt:lpstr>
      <vt:lpstr>APIserver Request Loop</vt:lpstr>
      <vt:lpstr>Deployment Controller</vt:lpstr>
      <vt:lpstr>ReplicaSet Controller</vt:lpstr>
      <vt:lpstr>PowerPoint Presentation</vt:lpstr>
      <vt:lpstr>Scheduler</vt:lpstr>
      <vt:lpstr>Kubelet - PodSync</vt:lpstr>
      <vt:lpstr>Pause and Plumbing</vt:lpstr>
      <vt:lpstr>Kublet - Create Containers</vt:lpstr>
      <vt:lpstr>Pod Status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</dc:title>
  <dc:creator>gopal</dc:creator>
  <cp:lastModifiedBy>Shantanu Banerjee</cp:lastModifiedBy>
  <cp:revision>2</cp:revision>
  <dcterms:created xsi:type="dcterms:W3CDTF">2019-06-02T02:22:18Z</dcterms:created>
  <dcterms:modified xsi:type="dcterms:W3CDTF">2025-05-09T05:04:10Z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