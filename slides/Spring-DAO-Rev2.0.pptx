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258" r:id="rId3"/>
    <p:sldId id="265" r:id="rId4"/>
    <p:sldId id="259" r:id="rId5"/>
    <p:sldId id="260" r:id="rId6"/>
    <p:sldId id="266" r:id="rId7"/>
    <p:sldId id="261" r:id="rId8"/>
    <p:sldId id="262" r:id="rId9"/>
    <p:sldId id="263" r:id="rId10"/>
    <p:sldId id="264" r:id="rId11"/>
    <p:sldId id="267" r:id="rId12"/>
    <p:sldId id="268" r:id="rId13"/>
    <p:sldId id="269" r:id="rId14"/>
    <p:sldId id="295" r:id="rId15"/>
    <p:sldId id="288" r:id="rId16"/>
    <p:sldId id="289" r:id="rId17"/>
    <p:sldId id="291" r:id="rId18"/>
    <p:sldId id="292" r:id="rId19"/>
    <p:sldId id="293" r:id="rId20"/>
    <p:sldId id="294" r:id="rId21"/>
    <p:sldId id="270" r:id="rId22"/>
    <p:sldId id="271" r:id="rId23"/>
    <p:sldId id="272" r:id="rId24"/>
    <p:sldId id="273" r:id="rId25"/>
    <p:sldId id="274" r:id="rId26"/>
    <p:sldId id="275" r:id="rId27"/>
    <p:sldId id="276" r:id="rId28"/>
    <p:sldId id="277" r:id="rId29"/>
    <p:sldId id="278" r:id="rId30"/>
    <p:sldId id="279" r:id="rId31"/>
    <p:sldId id="286" r:id="rId32"/>
    <p:sldId id="280" r:id="rId33"/>
    <p:sldId id="281" r:id="rId34"/>
    <p:sldId id="282" r:id="rId35"/>
    <p:sldId id="283" r:id="rId36"/>
    <p:sldId id="284" r:id="rId37"/>
    <p:sldId id="28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B210D1-05EE-48C9-9395-D5AF70D9025C}" type="datetimeFigureOut">
              <a:rPr lang="en-IN" smtClean="0"/>
              <a:t>22-08-2020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5C926-897F-4175-B830-CB110928AA03}" type="slidenum">
              <a:rPr lang="en-IN" smtClean="0"/>
              <a:t>‹#›</a:t>
            </a:fld>
            <a:endParaRPr lang="en-IN"/>
          </a:p>
        </p:txBody>
      </p:sp>
    </p:spTree>
    <p:extLst>
      <p:ext uri="{BB962C8B-B14F-4D97-AF65-F5344CB8AC3E}">
        <p14:creationId xmlns:p14="http://schemas.microsoft.com/office/powerpoint/2010/main" val="3139933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defTabSz="950913">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3pPr>
            <a:lvl4pPr marL="16002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defTabSz="950913">
              <a:buSzPct val="100000"/>
              <a:buFont typeface="Times New Roman" panose="02020603050405020304" pitchFamily="18" charset="0"/>
              <a:defRPr sz="1100">
                <a:solidFill>
                  <a:srgbClr val="000000"/>
                </a:solidFill>
                <a:latin typeface="Courier New" panose="02070309020205020404" pitchFamily="49" charset="0"/>
              </a:defRPr>
            </a:lvl5pPr>
            <a:lvl6pPr marL="25146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6pPr>
            <a:lvl7pPr marL="29718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7pPr>
            <a:lvl8pPr marL="34290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8pPr>
            <a:lvl9pPr marL="38862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9pPr>
          </a:lstStyle>
          <a:p>
            <a:pPr>
              <a:spcBef>
                <a:spcPct val="0"/>
              </a:spcBef>
              <a:buSzTx/>
              <a:buFontTx/>
              <a:buNone/>
            </a:pPr>
            <a:r>
              <a:rPr lang="en-US" altLang="en-US" sz="1100"/>
              <a:t> JBoss Server : Administration Essentials   13 - </a:t>
            </a:r>
            <a:fld id="{1EDD8162-187B-46AE-B362-4E0BBF3BB4C1}" type="slidenum">
              <a:rPr lang="en-US" altLang="en-US" sz="1100"/>
              <a:pPr>
                <a:spcBef>
                  <a:spcPct val="0"/>
                </a:spcBef>
                <a:buSzTx/>
                <a:buFontTx/>
                <a:buNone/>
              </a:pPr>
              <a:t>15</a:t>
            </a:fld>
            <a:endParaRPr lang="en-US" altLang="en-US" sz="1100"/>
          </a:p>
        </p:txBody>
      </p:sp>
      <p:sp>
        <p:nvSpPr>
          <p:cNvPr id="12291" name="Rectangle 3074"/>
          <p:cNvSpPr>
            <a:spLocks noGrp="1" noRot="1" noChangeAspect="1" noChangeArrowheads="1" noTextEdit="1"/>
          </p:cNvSpPr>
          <p:nvPr>
            <p:ph type="sldImg"/>
          </p:nvPr>
        </p:nvSpPr>
        <p:spPr>
          <a:ln/>
        </p:spPr>
      </p:sp>
      <p:sp>
        <p:nvSpPr>
          <p:cNvPr id="12292" name="Rectangle 3075"/>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JDBC Review</a:t>
            </a:r>
          </a:p>
          <a:p>
            <a:pPr lvl="1" eaLnBrk="1" hangingPunct="1"/>
            <a:r>
              <a:rPr lang="en-US" altLang="en-US"/>
              <a:t>The JDBC API is a natural Java interface for working with SQL. It builds on Open Database Connectivity (ODBC) rather than starting from the beginning, so programmers familiar with ODBC find it very easy to learn. </a:t>
            </a:r>
          </a:p>
          <a:p>
            <a:pPr lvl="1" eaLnBrk="1" hangingPunct="1"/>
            <a:r>
              <a:rPr lang="en-US" altLang="en-US">
                <a:cs typeface="Times New Roman" panose="02020603050405020304" pitchFamily="18" charset="0"/>
              </a:rPr>
              <a:t>The value of JDBC lies in the fact that an application can access virtually any data source and run on any platform with a Java Virtual Machine (JVM). That is, with JDBC, it is not necessary to write one program to access a Sybase database, another to access an  database, another to access an IBM DB2 database, and so on. You can write a single program using the JDBC API. Because the application is written in Java, you need not write different applications to run on different platforms, such as Windows and Linux.</a:t>
            </a:r>
          </a:p>
          <a:p>
            <a:pPr lvl="1" eaLnBrk="1" hangingPunct="1"/>
            <a:r>
              <a:rPr lang="en-US" altLang="en-US">
                <a:cs typeface="Times New Roman" panose="02020603050405020304" pitchFamily="18" charset="0"/>
              </a:rPr>
              <a:t>JDBC accomplishes database connections by using a driver mechanism that translates the JDBC calls to native database calls. Although most available drivers are fully written in Java (Type 4) and are thus platform-independent, some drivers (Type 2) use native libraries and are targeted to specific platforms.</a:t>
            </a:r>
          </a:p>
          <a:p>
            <a:pPr lvl="1" eaLnBrk="1" hangingPunct="1"/>
            <a:r>
              <a:rPr lang="en-US" altLang="en-US">
                <a:cs typeface="Times New Roman" panose="02020603050405020304" pitchFamily="18" charset="0"/>
              </a:rPr>
              <a:t> JBoss Server includes several Type 4 JDBC drivers, which are compliant with the JDBC 3.0 specification. In addition, the Type 4 drivers support the following JDBC 4.0 specification features:</a:t>
            </a:r>
          </a:p>
          <a:p>
            <a:pPr lvl="2" eaLnBrk="1" hangingPunct="1">
              <a:buFont typeface="Arial" panose="020B0604020202020204" pitchFamily="34" charset="0"/>
              <a:buChar char="•"/>
            </a:pPr>
            <a:r>
              <a:rPr lang="en-US" altLang="en-US">
                <a:cs typeface="Times New Roman" panose="02020603050405020304" pitchFamily="18" charset="0"/>
              </a:rPr>
              <a:t>Connection validation</a:t>
            </a:r>
          </a:p>
          <a:p>
            <a:pPr lvl="2" eaLnBrk="1" hangingPunct="1">
              <a:buFont typeface="Arial" panose="020B0604020202020204" pitchFamily="34" charset="0"/>
              <a:buChar char="•"/>
            </a:pPr>
            <a:r>
              <a:rPr lang="en-US" altLang="en-US">
                <a:cs typeface="Times New Roman" panose="02020603050405020304" pitchFamily="18" charset="0"/>
              </a:rPr>
              <a:t>Client information storage and retrieval</a:t>
            </a:r>
          </a:p>
          <a:p>
            <a:pPr lvl="2" eaLnBrk="1" hangingPunct="1">
              <a:buFont typeface="Arial" panose="020B0604020202020204" pitchFamily="34" charset="0"/>
              <a:buChar char="•"/>
            </a:pPr>
            <a:r>
              <a:rPr lang="en-US" altLang="en-US">
                <a:cs typeface="Times New Roman" panose="02020603050405020304" pitchFamily="18" charset="0"/>
              </a:rPr>
              <a:t>Auto-load driver classes (when using Java Platform, Standard Edition 6 (Java SE 6)</a:t>
            </a:r>
          </a:p>
        </p:txBody>
      </p:sp>
    </p:spTree>
    <p:extLst>
      <p:ext uri="{BB962C8B-B14F-4D97-AF65-F5344CB8AC3E}">
        <p14:creationId xmlns:p14="http://schemas.microsoft.com/office/powerpoint/2010/main" val="1393861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defTabSz="950913">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3pPr>
            <a:lvl4pPr marL="16002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defTabSz="950913">
              <a:buSzPct val="100000"/>
              <a:buFont typeface="Times New Roman" panose="02020603050405020304" pitchFamily="18" charset="0"/>
              <a:defRPr sz="1100">
                <a:solidFill>
                  <a:srgbClr val="000000"/>
                </a:solidFill>
                <a:latin typeface="Courier New" panose="02070309020205020404" pitchFamily="49" charset="0"/>
              </a:defRPr>
            </a:lvl5pPr>
            <a:lvl6pPr marL="25146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6pPr>
            <a:lvl7pPr marL="29718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7pPr>
            <a:lvl8pPr marL="34290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8pPr>
            <a:lvl9pPr marL="38862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9pPr>
          </a:lstStyle>
          <a:p>
            <a:pPr>
              <a:spcBef>
                <a:spcPct val="0"/>
              </a:spcBef>
              <a:buSzTx/>
              <a:buFontTx/>
              <a:buNone/>
            </a:pPr>
            <a:r>
              <a:rPr lang="en-US" altLang="en-US" sz="1100"/>
              <a:t> JBoss Server : Administration Essentials   13 - </a:t>
            </a:r>
            <a:fld id="{DD9BE14F-65ED-4B9A-96AA-92A90CD65154}" type="slidenum">
              <a:rPr lang="en-US" altLang="en-US" sz="1100"/>
              <a:pPr>
                <a:spcBef>
                  <a:spcPct val="0"/>
                </a:spcBef>
                <a:buSzTx/>
                <a:buFontTx/>
                <a:buNone/>
              </a:pPr>
              <a:t>16</a:t>
            </a:fld>
            <a:endParaRPr lang="en-US" altLang="en-US" sz="110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JDBC Data Sources</a:t>
            </a:r>
          </a:p>
          <a:p>
            <a:pPr lvl="1" eaLnBrk="1" hangingPunct="1"/>
            <a:r>
              <a:rPr lang="en-US" altLang="en-US">
                <a:cs typeface="Times New Roman" panose="02020603050405020304" pitchFamily="18" charset="0"/>
              </a:rPr>
              <a:t> JBoss Server can manage your database connectivity through JDBC data sources and multidata sources. Each data source that you configure contains a pool of database connections that are created when the data source instance is created—when it is deployed or targeted, or at server startup. The connection pool can grow or shrink dynamically to accommodate the demand, as indicated by the dotted connection at the top of the pool.</a:t>
            </a:r>
          </a:p>
          <a:p>
            <a:pPr lvl="1" eaLnBrk="1" hangingPunct="1"/>
            <a:r>
              <a:rPr lang="en-US" altLang="en-US">
                <a:cs typeface="Times New Roman" panose="02020603050405020304" pitchFamily="18" charset="0"/>
              </a:rPr>
              <a:t>Applications look up a data source on the Java Naming and Directory Interface (JNDI) tree or in the local application context (</a:t>
            </a:r>
            <a:r>
              <a:rPr lang="en-US" altLang="en-US">
                <a:latin typeface="Courier New" panose="02070309020205020404" pitchFamily="49" charset="0"/>
                <a:cs typeface="Times New Roman" panose="02020603050405020304" pitchFamily="18" charset="0"/>
              </a:rPr>
              <a:t>java:comp/env</a:t>
            </a:r>
            <a:r>
              <a:rPr lang="en-US" altLang="en-US">
                <a:cs typeface="Times New Roman" panose="02020603050405020304" pitchFamily="18" charset="0"/>
              </a:rPr>
              <a:t>), depending on how you configure and deploy the object, and then request a database connection. When finished with the connection, the application uses the close operation on the connection, which simply returns the connection to the connection pool in the data source.</a:t>
            </a:r>
          </a:p>
          <a:p>
            <a:pPr lvl="1" eaLnBrk="1" hangingPunct="1"/>
            <a:r>
              <a:rPr lang="en-US" altLang="en-US">
                <a:cs typeface="Times New Roman" panose="02020603050405020304" pitchFamily="18" charset="0"/>
              </a:rPr>
              <a:t> JBoss Server data sources allow connection information such as the JDBC driver, the database location (URL), and the username and password to be managed and maintained in a single location, without requiring the application to worry about these details. In addition, limiting the number of connections is important if you have a licensing limitation on your database or it can support only a specific capacity.</a:t>
            </a:r>
          </a:p>
        </p:txBody>
      </p:sp>
    </p:spTree>
    <p:extLst>
      <p:ext uri="{BB962C8B-B14F-4D97-AF65-F5344CB8AC3E}">
        <p14:creationId xmlns:p14="http://schemas.microsoft.com/office/powerpoint/2010/main" val="1246924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defTabSz="950913">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3pPr>
            <a:lvl4pPr marL="16002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defTabSz="950913">
              <a:buSzPct val="100000"/>
              <a:buFont typeface="Times New Roman" panose="02020603050405020304" pitchFamily="18" charset="0"/>
              <a:defRPr sz="1100">
                <a:solidFill>
                  <a:srgbClr val="000000"/>
                </a:solidFill>
                <a:latin typeface="Courier New" panose="02070309020205020404" pitchFamily="49" charset="0"/>
              </a:defRPr>
            </a:lvl5pPr>
            <a:lvl6pPr marL="25146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6pPr>
            <a:lvl7pPr marL="29718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7pPr>
            <a:lvl8pPr marL="34290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8pPr>
            <a:lvl9pPr marL="38862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9pPr>
          </a:lstStyle>
          <a:p>
            <a:pPr>
              <a:spcBef>
                <a:spcPct val="0"/>
              </a:spcBef>
              <a:buSzTx/>
              <a:buFontTx/>
              <a:buNone/>
            </a:pPr>
            <a:r>
              <a:rPr lang="en-US" altLang="en-US" sz="1100"/>
              <a:t> JBoss Server : Administration Essentials   13 - </a:t>
            </a:r>
            <a:fld id="{F7E498B8-F350-4347-A5FC-EC2320AB6C2F}" type="slidenum">
              <a:rPr lang="en-US" altLang="en-US" sz="1100"/>
              <a:pPr>
                <a:spcBef>
                  <a:spcPct val="0"/>
                </a:spcBef>
                <a:buSzTx/>
                <a:buFontTx/>
                <a:buNone/>
              </a:pPr>
              <a:t>17</a:t>
            </a:fld>
            <a:endParaRPr lang="en-US" altLang="en-US" sz="11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JDBC Connection Pooling</a:t>
            </a:r>
          </a:p>
          <a:p>
            <a:pPr lvl="1" eaLnBrk="1" hangingPunct="1"/>
            <a:r>
              <a:rPr lang="en-US" altLang="en-US"/>
              <a:t>The diagram in the slide shows the flow from the applications through the JNDI tree, through the JDBC connection pools, and finally to the database. In  JBoss Server, you can configure database connectivity by configuring the JDBC data sources and the multi-data sources, and then targeting or deploying the JDBC resources to the servers or clusters in your JBoss domain. </a:t>
            </a:r>
          </a:p>
          <a:p>
            <a:pPr lvl="1" eaLnBrk="1" hangingPunct="1"/>
            <a:r>
              <a:rPr lang="en-US" altLang="en-US"/>
              <a:t>Each data source that you configure contains a pool of database connections that are created when the data source instance is created—when it is deployed or targeted, or at server startup. Applications look up a data source on the JNDI tree or in the local application context (</a:t>
            </a:r>
            <a:r>
              <a:rPr lang="en-US" altLang="en-US">
                <a:latin typeface="Courier New" panose="02070309020205020404" pitchFamily="49" charset="0"/>
              </a:rPr>
              <a:t>java:comp/env</a:t>
            </a:r>
            <a:r>
              <a:rPr lang="en-US" altLang="en-US"/>
              <a:t>), depending on how you configure and deploy the object, and then request a database connection. When finished with the connection, the application calls </a:t>
            </a:r>
            <a:r>
              <a:rPr lang="en-US" altLang="en-US">
                <a:latin typeface="Courier New" panose="02070309020205020404" pitchFamily="49" charset="0"/>
              </a:rPr>
              <a:t>connection.close()</a:t>
            </a:r>
            <a:r>
              <a:rPr lang="en-US" altLang="en-US"/>
              <a:t>, which returns the connection to the connection pool in the data source.</a:t>
            </a:r>
          </a:p>
        </p:txBody>
      </p:sp>
    </p:spTree>
    <p:extLst>
      <p:ext uri="{BB962C8B-B14F-4D97-AF65-F5344CB8AC3E}">
        <p14:creationId xmlns:p14="http://schemas.microsoft.com/office/powerpoint/2010/main" val="2181902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defTabSz="950913">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3pPr>
            <a:lvl4pPr marL="16002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defTabSz="950913">
              <a:buSzPct val="100000"/>
              <a:buFont typeface="Times New Roman" panose="02020603050405020304" pitchFamily="18" charset="0"/>
              <a:defRPr sz="1100">
                <a:solidFill>
                  <a:srgbClr val="000000"/>
                </a:solidFill>
                <a:latin typeface="Courier New" panose="02070309020205020404" pitchFamily="49" charset="0"/>
              </a:defRPr>
            </a:lvl5pPr>
            <a:lvl6pPr marL="25146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6pPr>
            <a:lvl7pPr marL="29718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7pPr>
            <a:lvl8pPr marL="34290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8pPr>
            <a:lvl9pPr marL="38862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9pPr>
          </a:lstStyle>
          <a:p>
            <a:pPr>
              <a:spcBef>
                <a:spcPct val="0"/>
              </a:spcBef>
              <a:buSzTx/>
              <a:buFontTx/>
              <a:buNone/>
            </a:pPr>
            <a:r>
              <a:rPr lang="en-US" altLang="en-US" sz="1100"/>
              <a:t> JBoss Server : Administration Essentials   13 - </a:t>
            </a:r>
            <a:fld id="{F5EA283E-66DD-4F53-A278-3381840A6C88}" type="slidenum">
              <a:rPr lang="en-US" altLang="en-US" sz="1100"/>
              <a:pPr>
                <a:spcBef>
                  <a:spcPct val="0"/>
                </a:spcBef>
                <a:buSzTx/>
                <a:buFontTx/>
                <a:buNone/>
              </a:pPr>
              <a:t>18</a:t>
            </a:fld>
            <a:endParaRPr lang="en-US" altLang="en-US" sz="11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Benefits of Connection Pools</a:t>
            </a:r>
          </a:p>
          <a:p>
            <a:pPr lvl="1" eaLnBrk="1" hangingPunct="1"/>
            <a:r>
              <a:rPr lang="en-US" altLang="en-US">
                <a:latin typeface="Times" panose="02020603050405020304" pitchFamily="18" charset="0"/>
                <a:ea typeface="SimSun" panose="02010600030101010101" pitchFamily="2" charset="-122"/>
              </a:rPr>
              <a:t>Making a DBMS connection is a very slow process when compared to assigning an existing connection.</a:t>
            </a:r>
            <a:r>
              <a:rPr lang="en-US" altLang="en-US"/>
              <a:t> When  JBoss Server starts, connections from the connection pools are opened and are available to all clients. When a client closes a connection from a connection pool, the connection is returned to the pool and is available for other clients; the connection itself is not closed. There is little cost in opening and closing pool connections. The alternative is for application code to make its own JDBC connections as needed. A DBMS runs faster with dedicated connections than if it has to handle incoming connection attempts at run time.</a:t>
            </a:r>
          </a:p>
          <a:p>
            <a:pPr lvl="1" eaLnBrk="1" hangingPunct="1"/>
            <a:r>
              <a:rPr lang="en-US" altLang="en-US"/>
              <a:t>Connection information, such as the JDBC driver class name, the database location (URL), and the username and password can be managed in one location using the Administration Console. Application developers can obtain a connection without having to worry about these details.  </a:t>
            </a:r>
          </a:p>
          <a:p>
            <a:pPr lvl="1" eaLnBrk="1" hangingPunct="1"/>
            <a:r>
              <a:rPr lang="en-US" altLang="en-US"/>
              <a:t>Limiting the number of DBMS connections is important if you have a licensing limitation for DBMS connections or a resource concern.</a:t>
            </a:r>
          </a:p>
          <a:p>
            <a:pPr lvl="1" eaLnBrk="1" hangingPunct="1"/>
            <a:r>
              <a:rPr lang="en-US" altLang="en-US"/>
              <a:t>Clients use a connection pool by “borrowing” a connection, using it, and then returning it to the pool by closing it. The connection pool can grow or shrink dynamically to accommodate demand. The Administration Console is used to set a connection pool’s </a:t>
            </a:r>
            <a:r>
              <a:rPr lang="en-US" altLang="en-US" i="1"/>
              <a:t>initial capacity</a:t>
            </a:r>
            <a:r>
              <a:rPr lang="en-US" altLang="en-US"/>
              <a:t>, </a:t>
            </a:r>
            <a:r>
              <a:rPr lang="en-US" altLang="en-US" i="1"/>
              <a:t>maximum capacity,</a:t>
            </a:r>
            <a:r>
              <a:rPr lang="en-US" altLang="en-US"/>
              <a:t> and </a:t>
            </a:r>
            <a:r>
              <a:rPr lang="en-US" altLang="en-US" i="1"/>
              <a:t>capacity increment</a:t>
            </a:r>
            <a:r>
              <a:rPr lang="en-US" altLang="en-US"/>
              <a:t>.</a:t>
            </a:r>
          </a:p>
        </p:txBody>
      </p:sp>
    </p:spTree>
    <p:extLst>
      <p:ext uri="{BB962C8B-B14F-4D97-AF65-F5344CB8AC3E}">
        <p14:creationId xmlns:p14="http://schemas.microsoft.com/office/powerpoint/2010/main" val="692267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defTabSz="950913">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3pPr>
            <a:lvl4pPr marL="1600200" indent="-228600" defTabSz="950913">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defTabSz="950913">
              <a:buSzPct val="100000"/>
              <a:buFont typeface="Times New Roman" panose="02020603050405020304" pitchFamily="18" charset="0"/>
              <a:defRPr sz="1100">
                <a:solidFill>
                  <a:srgbClr val="000000"/>
                </a:solidFill>
                <a:latin typeface="Courier New" panose="02070309020205020404" pitchFamily="49" charset="0"/>
              </a:defRPr>
            </a:lvl5pPr>
            <a:lvl6pPr marL="25146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6pPr>
            <a:lvl7pPr marL="29718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7pPr>
            <a:lvl8pPr marL="34290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8pPr>
            <a:lvl9pPr marL="3886200" indent="-228600" defTabSz="950913" eaLnBrk="0" fontAlgn="base" hangingPunct="0">
              <a:spcBef>
                <a:spcPct val="0"/>
              </a:spcBef>
              <a:spcAft>
                <a:spcPct val="0"/>
              </a:spcAft>
              <a:buSzPct val="100000"/>
              <a:buFont typeface="Times New Roman" panose="02020603050405020304" pitchFamily="18" charset="0"/>
              <a:defRPr sz="1100">
                <a:solidFill>
                  <a:srgbClr val="000000"/>
                </a:solidFill>
                <a:latin typeface="Courier New" panose="02070309020205020404" pitchFamily="49" charset="0"/>
              </a:defRPr>
            </a:lvl9pPr>
          </a:lstStyle>
          <a:p>
            <a:pPr>
              <a:spcBef>
                <a:spcPct val="0"/>
              </a:spcBef>
              <a:buSzTx/>
              <a:buFontTx/>
              <a:buNone/>
            </a:pPr>
            <a:r>
              <a:rPr lang="en-US" altLang="en-US" sz="1100"/>
              <a:t> JBoss Server : Administration Essentials   13 - </a:t>
            </a:r>
            <a:fld id="{EACC4F23-B5B4-486B-B6C5-029DEA29CEE5}" type="slidenum">
              <a:rPr lang="en-US" altLang="en-US" sz="1100"/>
              <a:pPr>
                <a:spcBef>
                  <a:spcPct val="0"/>
                </a:spcBef>
                <a:buSzTx/>
                <a:buFontTx/>
                <a:buNone/>
              </a:pPr>
              <a:t>19</a:t>
            </a:fld>
            <a:endParaRPr lang="en-US" altLang="en-US" sz="110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How Data Source Connection Pools Are Used</a:t>
            </a:r>
          </a:p>
          <a:p>
            <a:pPr lvl="1" eaLnBrk="1" hangingPunct="1"/>
            <a:r>
              <a:rPr lang="en-US" altLang="en-US"/>
              <a:t>This is an example of how a data source is used by the client. The sequence of events is as follows:</a:t>
            </a:r>
          </a:p>
          <a:p>
            <a:pPr lvl="2" eaLnBrk="1" hangingPunct="1"/>
            <a:r>
              <a:rPr lang="en-US" altLang="en-US"/>
              <a:t>A client retrieves a data source object by performing a lookup in the  JBoss Server JNDI tree (1 and 2). A data source object contains a reference to the connection pool.  </a:t>
            </a:r>
          </a:p>
          <a:p>
            <a:pPr lvl="2" eaLnBrk="1" hangingPunct="1"/>
            <a:r>
              <a:rPr lang="en-US" altLang="en-US"/>
              <a:t>After a data source object is obtained, the client can obtain a database connection (3</a:t>
            </a:r>
            <a:br>
              <a:rPr lang="en-US" altLang="en-US"/>
            </a:br>
            <a:r>
              <a:rPr lang="en-US" altLang="en-US"/>
              <a:t>and 4).</a:t>
            </a:r>
          </a:p>
          <a:p>
            <a:pPr lvl="2" eaLnBrk="1" hangingPunct="1"/>
            <a:r>
              <a:rPr lang="en-US" altLang="en-US"/>
              <a:t>The connection then directly accesses the database (5).</a:t>
            </a:r>
          </a:p>
        </p:txBody>
      </p:sp>
    </p:spTree>
    <p:extLst>
      <p:ext uri="{BB962C8B-B14F-4D97-AF65-F5344CB8AC3E}">
        <p14:creationId xmlns:p14="http://schemas.microsoft.com/office/powerpoint/2010/main" val="1591180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600" y="6464302"/>
            <a:ext cx="4114800" cy="257175"/>
          </a:xfrm>
          <a:prstGeom prst="rect">
            <a:avLst/>
          </a:prstGeom>
        </p:spPr>
        <p:txBody>
          <a:bodyPr/>
          <a:lstStyle/>
          <a:p>
            <a:r>
              <a:rPr lang="en-IN" b="1" dirty="0">
                <a:ea typeface="Tahoma" panose="020B0604030504040204" pitchFamily="34" charset="0"/>
                <a:cs typeface="Tahoma" panose="020B0604030504040204" pitchFamily="34" charset="0"/>
              </a:rPr>
              <a:t>©</a:t>
            </a:r>
            <a:r>
              <a:rPr lang="en-IN" dirty="0"/>
              <a:t>Shantanu Banerjee</a:t>
            </a:r>
            <a:endParaRPr lang="en-US" dirty="0"/>
          </a:p>
        </p:txBody>
      </p:sp>
    </p:spTree>
    <p:extLst>
      <p:ext uri="{BB962C8B-B14F-4D97-AF65-F5344CB8AC3E}">
        <p14:creationId xmlns:p14="http://schemas.microsoft.com/office/powerpoint/2010/main" val="538941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300" y="990600"/>
            <a:ext cx="11582400" cy="5638800"/>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a:defRPr sz="2200">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0311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152400"/>
            <a:ext cx="10668000" cy="91440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xfrm>
            <a:off x="812800" y="6245225"/>
            <a:ext cx="2641600" cy="476250"/>
          </a:xfrm>
          <a:prstGeom prst="rect">
            <a:avLst/>
          </a:prstGeom>
          <a:ln/>
        </p:spPr>
        <p:txBody>
          <a:bodyPr/>
          <a:lstStyle>
            <a:lvl1pPr>
              <a:defRPr/>
            </a:lvl1pPr>
          </a:lstStyle>
          <a:p>
            <a:pPr>
              <a:defRPr/>
            </a:pPr>
            <a:endParaRPr lang="en-US"/>
          </a:p>
        </p:txBody>
      </p:sp>
      <p:sp>
        <p:nvSpPr>
          <p:cNvPr id="5" name="Rectangle 7"/>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xfrm>
            <a:off x="8737600" y="6397626"/>
            <a:ext cx="2641600" cy="307975"/>
          </a:xfrm>
          <a:prstGeom prst="rect">
            <a:avLst/>
          </a:prstGeom>
          <a:ln/>
        </p:spPr>
        <p:txBody>
          <a:bodyPr/>
          <a:lstStyle>
            <a:lvl1pPr>
              <a:defRPr/>
            </a:lvl1pPr>
          </a:lstStyle>
          <a:p>
            <a:pPr>
              <a:defRPr/>
            </a:pPr>
            <a:fld id="{9035E518-5279-461F-A747-0E3F6E7C6E0C}" type="slidenum">
              <a:rPr lang="en-US"/>
              <a:pPr>
                <a:defRPr/>
              </a:pPr>
              <a:t>‹#›</a:t>
            </a:fld>
            <a:endParaRPr lang="en-US"/>
          </a:p>
        </p:txBody>
      </p:sp>
    </p:spTree>
    <p:extLst>
      <p:ext uri="{BB962C8B-B14F-4D97-AF65-F5344CB8AC3E}">
        <p14:creationId xmlns:p14="http://schemas.microsoft.com/office/powerpoint/2010/main" val="120119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152400"/>
            <a:ext cx="10668000" cy="914400"/>
          </a:xfrm>
          <a:prstGeom prst="rect">
            <a:avLst/>
          </a:prstGeom>
        </p:spPr>
        <p:txBody>
          <a:bodyPr/>
          <a:lstStyle/>
          <a:p>
            <a:r>
              <a:rPr lang="en-US"/>
              <a:t>Click to edit Master title style</a:t>
            </a:r>
          </a:p>
        </p:txBody>
      </p:sp>
      <p:sp>
        <p:nvSpPr>
          <p:cNvPr id="3" name="Rectangle 6"/>
          <p:cNvSpPr>
            <a:spLocks noGrp="1" noChangeArrowheads="1"/>
          </p:cNvSpPr>
          <p:nvPr>
            <p:ph type="dt" sz="half" idx="10"/>
          </p:nvPr>
        </p:nvSpPr>
        <p:spPr>
          <a:xfrm>
            <a:off x="812800" y="6245225"/>
            <a:ext cx="2641600" cy="476250"/>
          </a:xfrm>
          <a:prstGeom prst="rect">
            <a:avLst/>
          </a:prstGeom>
          <a:ln/>
        </p:spPr>
        <p:txBody>
          <a:bodyPr/>
          <a:lstStyle>
            <a:lvl1pPr>
              <a:defRPr/>
            </a:lvl1pPr>
          </a:lstStyle>
          <a:p>
            <a:pPr>
              <a:defRPr/>
            </a:pPr>
            <a:endParaRPr lang="en-US"/>
          </a:p>
        </p:txBody>
      </p:sp>
      <p:sp>
        <p:nvSpPr>
          <p:cNvPr id="4" name="Rectangle 7"/>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endParaRPr lang="en-US"/>
          </a:p>
        </p:txBody>
      </p:sp>
      <p:sp>
        <p:nvSpPr>
          <p:cNvPr id="5" name="Rectangle 8"/>
          <p:cNvSpPr>
            <a:spLocks noGrp="1" noChangeArrowheads="1"/>
          </p:cNvSpPr>
          <p:nvPr>
            <p:ph type="sldNum" sz="quarter" idx="12"/>
          </p:nvPr>
        </p:nvSpPr>
        <p:spPr>
          <a:xfrm>
            <a:off x="8737600" y="6397626"/>
            <a:ext cx="2641600" cy="307975"/>
          </a:xfrm>
          <a:prstGeom prst="rect">
            <a:avLst/>
          </a:prstGeom>
          <a:ln/>
        </p:spPr>
        <p:txBody>
          <a:bodyPr/>
          <a:lstStyle>
            <a:lvl1pPr>
              <a:defRPr/>
            </a:lvl1pPr>
          </a:lstStyle>
          <a:p>
            <a:pPr>
              <a:defRPr/>
            </a:pPr>
            <a:fld id="{2178B4AD-92FC-4C40-9196-9C0AF03CB384}" type="slidenum">
              <a:rPr lang="en-US"/>
              <a:pPr>
                <a:defRPr/>
              </a:pPr>
              <a:t>‹#›</a:t>
            </a:fld>
            <a:endParaRPr lang="en-US"/>
          </a:p>
        </p:txBody>
      </p:sp>
    </p:spTree>
    <p:extLst>
      <p:ext uri="{BB962C8B-B14F-4D97-AF65-F5344CB8AC3E}">
        <p14:creationId xmlns:p14="http://schemas.microsoft.com/office/powerpoint/2010/main" val="467950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6700" y="228600"/>
            <a:ext cx="11709400" cy="64135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2411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jolbox.co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2691686"/>
            <a:ext cx="11582400" cy="2279561"/>
          </a:xfrm>
        </p:spPr>
        <p:txBody>
          <a:bodyPr>
            <a:normAutofit/>
          </a:bodyPr>
          <a:lstStyle/>
          <a:p>
            <a:pPr marL="0" indent="0" algn="ctr">
              <a:buNone/>
            </a:pPr>
            <a:r>
              <a:rPr lang="en-IN" sz="4000" b="1" dirty="0"/>
              <a:t>Spring DAO</a:t>
            </a:r>
          </a:p>
          <a:p>
            <a:pPr marL="0" indent="0" algn="ctr">
              <a:buNone/>
            </a:pPr>
            <a:r>
              <a:rPr lang="en-IN" dirty="0"/>
              <a:t>(Data Access Module of Spring Framework)</a:t>
            </a:r>
            <a:endParaRPr lang="en-US" dirty="0"/>
          </a:p>
        </p:txBody>
      </p:sp>
    </p:spTree>
    <p:extLst>
      <p:ext uri="{BB962C8B-B14F-4D97-AF65-F5344CB8AC3E}">
        <p14:creationId xmlns:p14="http://schemas.microsoft.com/office/powerpoint/2010/main" val="445060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1081825"/>
            <a:ext cx="11582400" cy="5547574"/>
          </a:xfrm>
        </p:spPr>
        <p:txBody>
          <a:bodyPr>
            <a:normAutofit/>
          </a:bodyPr>
          <a:lstStyle/>
          <a:p>
            <a:r>
              <a:rPr lang="en-US" sz="2400" dirty="0"/>
              <a:t>The Spring Data Access Object (DAO) support makes it easy to work with data access technologies  like JDBC, Hibernate or JDO in a standardized way </a:t>
            </a:r>
          </a:p>
          <a:p>
            <a:endParaRPr lang="en-US" sz="2400" dirty="0"/>
          </a:p>
          <a:p>
            <a:r>
              <a:rPr lang="en-US" sz="2400" dirty="0"/>
              <a:t>Makes switching between databases easy and simple</a:t>
            </a:r>
          </a:p>
          <a:p>
            <a:endParaRPr lang="en-US" sz="2400" dirty="0"/>
          </a:p>
          <a:p>
            <a:r>
              <a:rPr lang="en-US" sz="2400" dirty="0"/>
              <a:t>Code without Worrying about catching exceptions</a:t>
            </a:r>
          </a:p>
          <a:p>
            <a:pPr lvl="1"/>
            <a:r>
              <a:rPr lang="en-US" dirty="0"/>
              <a:t>Spring will do it for you!!!</a:t>
            </a:r>
          </a:p>
          <a:p>
            <a:endParaRPr lang="en-US" sz="2400" dirty="0"/>
          </a:p>
        </p:txBody>
      </p:sp>
      <p:sp>
        <p:nvSpPr>
          <p:cNvPr id="3" name="TextBox 2"/>
          <p:cNvSpPr txBox="1"/>
          <p:nvPr/>
        </p:nvSpPr>
        <p:spPr>
          <a:xfrm>
            <a:off x="241300" y="257577"/>
            <a:ext cx="2309478" cy="584775"/>
          </a:xfrm>
          <a:prstGeom prst="rect">
            <a:avLst/>
          </a:prstGeom>
          <a:noFill/>
        </p:spPr>
        <p:txBody>
          <a:bodyPr wrap="none" rtlCol="0">
            <a:spAutoFit/>
          </a:bodyPr>
          <a:lstStyle/>
          <a:p>
            <a:r>
              <a:rPr lang="en-IN" sz="3200" b="1" dirty="0"/>
              <a:t>Introduction</a:t>
            </a:r>
            <a:endParaRPr lang="en-US" sz="3200" b="1" dirty="0"/>
          </a:p>
        </p:txBody>
      </p:sp>
    </p:spTree>
    <p:extLst>
      <p:ext uri="{BB962C8B-B14F-4D97-AF65-F5344CB8AC3E}">
        <p14:creationId xmlns:p14="http://schemas.microsoft.com/office/powerpoint/2010/main" val="3946179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1081825"/>
            <a:ext cx="11582400" cy="5547574"/>
          </a:xfrm>
        </p:spPr>
        <p:txBody>
          <a:bodyPr>
            <a:normAutofit/>
          </a:bodyPr>
          <a:lstStyle/>
          <a:p>
            <a:r>
              <a:rPr lang="en-US" sz="2400" dirty="0"/>
              <a:t>Spring comes with a family of data-access frameworks that integrate with a variety of data-access technologies.</a:t>
            </a:r>
          </a:p>
          <a:p>
            <a:endParaRPr lang="en-US" sz="2400" dirty="0"/>
          </a:p>
          <a:p>
            <a:r>
              <a:rPr lang="en-US" sz="2400" dirty="0"/>
              <a:t>You can persist your data via direct JDBC or an object-relational mapping (ORM) framework such as Hibernate.</a:t>
            </a:r>
          </a:p>
          <a:p>
            <a:endParaRPr lang="en-US" sz="2400" dirty="0"/>
          </a:p>
          <a:p>
            <a:r>
              <a:rPr lang="en-US" sz="2400" dirty="0"/>
              <a:t>Spring removes the tedium of data access from your persistence code. Instead, you can lean on Spring to handle the</a:t>
            </a:r>
          </a:p>
        </p:txBody>
      </p:sp>
      <p:sp>
        <p:nvSpPr>
          <p:cNvPr id="3" name="TextBox 2"/>
          <p:cNvSpPr txBox="1"/>
          <p:nvPr/>
        </p:nvSpPr>
        <p:spPr>
          <a:xfrm>
            <a:off x="241300" y="257577"/>
            <a:ext cx="2309478" cy="584775"/>
          </a:xfrm>
          <a:prstGeom prst="rect">
            <a:avLst/>
          </a:prstGeom>
          <a:noFill/>
        </p:spPr>
        <p:txBody>
          <a:bodyPr wrap="none" rtlCol="0">
            <a:spAutoFit/>
          </a:bodyPr>
          <a:lstStyle/>
          <a:p>
            <a:r>
              <a:rPr lang="en-IN" sz="3200" b="1" dirty="0"/>
              <a:t>Introduction</a:t>
            </a:r>
            <a:endParaRPr lang="en-US" sz="3200" b="1" dirty="0"/>
          </a:p>
        </p:txBody>
      </p:sp>
    </p:spTree>
    <p:extLst>
      <p:ext uri="{BB962C8B-B14F-4D97-AF65-F5344CB8AC3E}">
        <p14:creationId xmlns:p14="http://schemas.microsoft.com/office/powerpoint/2010/main" val="306922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1300" y="193183"/>
            <a:ext cx="5704447" cy="523220"/>
          </a:xfrm>
          <a:prstGeom prst="rect">
            <a:avLst/>
          </a:prstGeom>
          <a:noFill/>
        </p:spPr>
        <p:txBody>
          <a:bodyPr wrap="none" rtlCol="0">
            <a:spAutoFit/>
          </a:bodyPr>
          <a:lstStyle/>
          <a:p>
            <a:r>
              <a:rPr lang="en-IN" sz="2800" dirty="0"/>
              <a:t>How Spring Applications Access Data?</a:t>
            </a:r>
            <a:endParaRPr lang="en-US" sz="2800" dirty="0"/>
          </a:p>
        </p:txBody>
      </p:sp>
      <p:sp>
        <p:nvSpPr>
          <p:cNvPr id="4" name="Rectangle 3"/>
          <p:cNvSpPr/>
          <p:nvPr/>
        </p:nvSpPr>
        <p:spPr>
          <a:xfrm>
            <a:off x="566670" y="1777285"/>
            <a:ext cx="2215167" cy="127500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Service Object</a:t>
            </a:r>
            <a:endParaRPr lang="en-US" b="1" dirty="0">
              <a:solidFill>
                <a:schemeClr val="tx1"/>
              </a:solidFill>
            </a:endParaRPr>
          </a:p>
        </p:txBody>
      </p:sp>
      <p:sp>
        <p:nvSpPr>
          <p:cNvPr id="5" name="Rectangle 4"/>
          <p:cNvSpPr/>
          <p:nvPr/>
        </p:nvSpPr>
        <p:spPr>
          <a:xfrm>
            <a:off x="4838163" y="1777285"/>
            <a:ext cx="2215167" cy="1275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Repository Interface</a:t>
            </a:r>
            <a:endParaRPr lang="en-US" b="1" dirty="0">
              <a:solidFill>
                <a:schemeClr val="tx1"/>
              </a:solidFill>
            </a:endParaRPr>
          </a:p>
        </p:txBody>
      </p:sp>
      <p:sp>
        <p:nvSpPr>
          <p:cNvPr id="6" name="Rectangle 5"/>
          <p:cNvSpPr/>
          <p:nvPr/>
        </p:nvSpPr>
        <p:spPr>
          <a:xfrm>
            <a:off x="4838163" y="4507606"/>
            <a:ext cx="2215167" cy="1275008"/>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Repository Implementation</a:t>
            </a:r>
            <a:endParaRPr lang="en-US" b="1" dirty="0">
              <a:solidFill>
                <a:schemeClr val="tx1"/>
              </a:solidFill>
            </a:endParaRPr>
          </a:p>
        </p:txBody>
      </p:sp>
      <p:cxnSp>
        <p:nvCxnSpPr>
          <p:cNvPr id="8" name="Straight Arrow Connector 7"/>
          <p:cNvCxnSpPr>
            <a:stCxn id="4" idx="3"/>
            <a:endCxn id="5" idx="1"/>
          </p:cNvCxnSpPr>
          <p:nvPr/>
        </p:nvCxnSpPr>
        <p:spPr>
          <a:xfrm>
            <a:off x="2781837" y="2414789"/>
            <a:ext cx="2056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6" idx="0"/>
            <a:endCxn id="5" idx="2"/>
          </p:cNvCxnSpPr>
          <p:nvPr/>
        </p:nvCxnSpPr>
        <p:spPr>
          <a:xfrm flipV="1">
            <a:off x="5945747" y="3052293"/>
            <a:ext cx="0" cy="1455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0154992" y="3754192"/>
            <a:ext cx="1635617" cy="7534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JPA</a:t>
            </a:r>
            <a:endParaRPr lang="en-US" dirty="0"/>
          </a:p>
        </p:txBody>
      </p:sp>
      <p:sp>
        <p:nvSpPr>
          <p:cNvPr id="14" name="Rectangle 13"/>
          <p:cNvSpPr/>
          <p:nvPr/>
        </p:nvSpPr>
        <p:spPr>
          <a:xfrm>
            <a:off x="10122795" y="5093595"/>
            <a:ext cx="1635617" cy="7534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TOPLINK</a:t>
            </a:r>
            <a:endParaRPr lang="en-US" dirty="0"/>
          </a:p>
        </p:txBody>
      </p:sp>
      <p:cxnSp>
        <p:nvCxnSpPr>
          <p:cNvPr id="16" name="Straight Arrow Connector 15"/>
          <p:cNvCxnSpPr>
            <a:endCxn id="6" idx="3"/>
          </p:cNvCxnSpPr>
          <p:nvPr/>
        </p:nvCxnSpPr>
        <p:spPr>
          <a:xfrm flipH="1">
            <a:off x="7053330" y="2791496"/>
            <a:ext cx="3133859" cy="2353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3" idx="1"/>
            <a:endCxn id="6" idx="3"/>
          </p:cNvCxnSpPr>
          <p:nvPr/>
        </p:nvCxnSpPr>
        <p:spPr>
          <a:xfrm flipH="1">
            <a:off x="7053330" y="4130899"/>
            <a:ext cx="3101662" cy="1014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4" idx="1"/>
            <a:endCxn id="6" idx="3"/>
          </p:cNvCxnSpPr>
          <p:nvPr/>
        </p:nvCxnSpPr>
        <p:spPr>
          <a:xfrm flipH="1" flipV="1">
            <a:off x="7053330" y="5145110"/>
            <a:ext cx="3069465" cy="325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0217240" y="2475964"/>
            <a:ext cx="1635617" cy="7534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HIBERNATE</a:t>
            </a:r>
            <a:endParaRPr lang="en-US" dirty="0"/>
          </a:p>
        </p:txBody>
      </p:sp>
      <p:sp>
        <p:nvSpPr>
          <p:cNvPr id="26" name="Rectangle 25"/>
          <p:cNvSpPr/>
          <p:nvPr/>
        </p:nvSpPr>
        <p:spPr>
          <a:xfrm>
            <a:off x="10217240" y="1513268"/>
            <a:ext cx="1635617" cy="7534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Spring JDBC</a:t>
            </a:r>
            <a:endParaRPr lang="en-US" dirty="0"/>
          </a:p>
        </p:txBody>
      </p:sp>
      <p:cxnSp>
        <p:nvCxnSpPr>
          <p:cNvPr id="28" name="Straight Arrow Connector 27"/>
          <p:cNvCxnSpPr>
            <a:stCxn id="26" idx="1"/>
            <a:endCxn id="6" idx="3"/>
          </p:cNvCxnSpPr>
          <p:nvPr/>
        </p:nvCxnSpPr>
        <p:spPr>
          <a:xfrm flipH="1">
            <a:off x="7053330" y="1889975"/>
            <a:ext cx="3163910" cy="3255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595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3103808"/>
            <a:ext cx="11582400" cy="708338"/>
          </a:xfrm>
        </p:spPr>
        <p:txBody>
          <a:bodyPr>
            <a:normAutofit/>
          </a:bodyPr>
          <a:lstStyle/>
          <a:p>
            <a:pPr marL="0" indent="0" algn="ctr">
              <a:buNone/>
            </a:pPr>
            <a:r>
              <a:rPr lang="en-US" sz="2800" b="1" dirty="0"/>
              <a:t>Spring’s data-access exception hierarchy</a:t>
            </a:r>
          </a:p>
        </p:txBody>
      </p:sp>
    </p:spTree>
    <p:extLst>
      <p:ext uri="{BB962C8B-B14F-4D97-AF65-F5344CB8AC3E}">
        <p14:creationId xmlns:p14="http://schemas.microsoft.com/office/powerpoint/2010/main" val="1752633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990600"/>
            <a:ext cx="11582400" cy="5062470"/>
          </a:xfrm>
        </p:spPr>
        <p:txBody>
          <a:bodyPr anchor="ctr">
            <a:normAutofit/>
          </a:bodyPr>
          <a:lstStyle/>
          <a:p>
            <a:r>
              <a:rPr lang="en-US" dirty="0"/>
              <a:t>You can’t do anything with JDBC without being forced to catch </a:t>
            </a:r>
            <a:r>
              <a:rPr lang="en-US" b="1" dirty="0"/>
              <a:t>SQLException.</a:t>
            </a:r>
          </a:p>
          <a:p>
            <a:endParaRPr lang="en-US" b="1" dirty="0"/>
          </a:p>
          <a:p>
            <a:r>
              <a:rPr lang="en-US" dirty="0"/>
              <a:t>SQLException means something went wrong while trying to access a database.</a:t>
            </a:r>
          </a:p>
          <a:p>
            <a:endParaRPr lang="en-US" dirty="0"/>
          </a:p>
          <a:p>
            <a:r>
              <a:rPr lang="en-US" dirty="0"/>
              <a:t>There’s little about that exception that tells you what went wrong or how to deal with it.</a:t>
            </a:r>
          </a:p>
          <a:p>
            <a:endParaRPr lang="en-US" dirty="0"/>
          </a:p>
          <a:p>
            <a:r>
              <a:rPr lang="en-US" dirty="0"/>
              <a:t>Many of the problems that trigger a SQLException can’t be remedied in a catch block.</a:t>
            </a:r>
          </a:p>
        </p:txBody>
      </p:sp>
      <p:sp>
        <p:nvSpPr>
          <p:cNvPr id="3" name="TextBox 2"/>
          <p:cNvSpPr txBox="1"/>
          <p:nvPr/>
        </p:nvSpPr>
        <p:spPr>
          <a:xfrm>
            <a:off x="386367" y="270456"/>
            <a:ext cx="5786649" cy="523220"/>
          </a:xfrm>
          <a:prstGeom prst="rect">
            <a:avLst/>
          </a:prstGeom>
          <a:noFill/>
        </p:spPr>
        <p:txBody>
          <a:bodyPr wrap="none" rtlCol="0">
            <a:spAutoFit/>
          </a:bodyPr>
          <a:lstStyle/>
          <a:p>
            <a:r>
              <a:rPr lang="en-IN" sz="2800" b="1" dirty="0"/>
              <a:t>The </a:t>
            </a:r>
            <a:r>
              <a:rPr lang="en-IN" sz="2800" b="1" dirty="0">
                <a:solidFill>
                  <a:srgbClr val="C00000"/>
                </a:solidFill>
              </a:rPr>
              <a:t>Bad</a:t>
            </a:r>
            <a:r>
              <a:rPr lang="en-IN" sz="2800" b="1" dirty="0"/>
              <a:t> SQLException in  Data Access</a:t>
            </a:r>
            <a:endParaRPr lang="en-US" sz="2800" b="1" dirty="0"/>
          </a:p>
        </p:txBody>
      </p:sp>
    </p:spTree>
    <p:extLst>
      <p:ext uri="{BB962C8B-B14F-4D97-AF65-F5344CB8AC3E}">
        <p14:creationId xmlns:p14="http://schemas.microsoft.com/office/powerpoint/2010/main" val="946572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1030309"/>
            <a:ext cx="11582400" cy="4997003"/>
          </a:xfrm>
        </p:spPr>
        <p:txBody>
          <a:bodyPr anchor="ctr">
            <a:normAutofit lnSpcReduction="10000"/>
          </a:bodyPr>
          <a:lstStyle/>
          <a:p>
            <a:r>
              <a:rPr lang="en-US" dirty="0"/>
              <a:t>Spring JDBC provides a hierarchy of data-access exceptions that solve the problems associated with SQLException</a:t>
            </a:r>
          </a:p>
          <a:p>
            <a:endParaRPr lang="en-US" dirty="0"/>
          </a:p>
          <a:p>
            <a:r>
              <a:rPr lang="en-US" dirty="0"/>
              <a:t>Spring provides several data-access exceptions, each descriptive of the problem for which they’re thrown.</a:t>
            </a:r>
          </a:p>
          <a:p>
            <a:endParaRPr lang="en-US" dirty="0"/>
          </a:p>
          <a:p>
            <a:pPr lvl="1"/>
            <a:r>
              <a:rPr lang="en-IN" dirty="0"/>
              <a:t>Spring Data Access Exceptions are Platform Agnostic</a:t>
            </a:r>
          </a:p>
          <a:p>
            <a:pPr lvl="1"/>
            <a:r>
              <a:rPr lang="en-US" dirty="0"/>
              <a:t>it isn’t associated with any particular persistence solution.</a:t>
            </a:r>
          </a:p>
          <a:p>
            <a:pPr lvl="1"/>
            <a:r>
              <a:rPr lang="en-US" dirty="0"/>
              <a:t>You can count on Spring to throw a consistent set of exceptions, regardless of which persistence provider you choose</a:t>
            </a:r>
          </a:p>
          <a:p>
            <a:pPr lvl="1"/>
            <a:endParaRPr lang="en-US" dirty="0"/>
          </a:p>
          <a:p>
            <a:r>
              <a:rPr lang="en-IN" dirty="0"/>
              <a:t>Spring’s Data Access Exceptions are unchecked exceptions</a:t>
            </a:r>
          </a:p>
          <a:p>
            <a:pPr lvl="1"/>
            <a:r>
              <a:rPr lang="en-IN" dirty="0"/>
              <a:t>You are not forced to catch them</a:t>
            </a:r>
            <a:endParaRPr lang="en-US" dirty="0"/>
          </a:p>
        </p:txBody>
      </p:sp>
      <p:sp>
        <p:nvSpPr>
          <p:cNvPr id="3" name="TextBox 2"/>
          <p:cNvSpPr txBox="1"/>
          <p:nvPr/>
        </p:nvSpPr>
        <p:spPr>
          <a:xfrm>
            <a:off x="241300" y="270456"/>
            <a:ext cx="7543796" cy="584775"/>
          </a:xfrm>
          <a:prstGeom prst="rect">
            <a:avLst/>
          </a:prstGeom>
          <a:noFill/>
        </p:spPr>
        <p:txBody>
          <a:bodyPr wrap="none" rtlCol="0">
            <a:spAutoFit/>
          </a:bodyPr>
          <a:lstStyle/>
          <a:p>
            <a:r>
              <a:rPr lang="en-IN" sz="3200" b="1" dirty="0"/>
              <a:t>Spring JDBC Consistent Exception Hierarchy</a:t>
            </a:r>
            <a:endParaRPr lang="en-US" sz="3200" b="1" dirty="0"/>
          </a:p>
        </p:txBody>
      </p:sp>
    </p:spTree>
    <p:extLst>
      <p:ext uri="{BB962C8B-B14F-4D97-AF65-F5344CB8AC3E}">
        <p14:creationId xmlns:p14="http://schemas.microsoft.com/office/powerpoint/2010/main" val="2561382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4331" y="2653047"/>
            <a:ext cx="11582400" cy="1906073"/>
          </a:xfrm>
        </p:spPr>
        <p:txBody>
          <a:bodyPr anchor="ctr">
            <a:normAutofit/>
          </a:bodyPr>
          <a:lstStyle/>
          <a:p>
            <a:pPr marL="0" indent="0" algn="ctr">
              <a:buNone/>
            </a:pPr>
            <a:r>
              <a:rPr lang="en-US" sz="3200" b="1" dirty="0"/>
              <a:t>Templating data access</a:t>
            </a:r>
          </a:p>
          <a:p>
            <a:endParaRPr lang="en-US" sz="3200" dirty="0"/>
          </a:p>
        </p:txBody>
      </p:sp>
    </p:spTree>
    <p:extLst>
      <p:ext uri="{BB962C8B-B14F-4D97-AF65-F5344CB8AC3E}">
        <p14:creationId xmlns:p14="http://schemas.microsoft.com/office/powerpoint/2010/main" val="1339336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990599"/>
            <a:ext cx="5786013" cy="2963215"/>
          </a:xfrm>
        </p:spPr>
        <p:txBody>
          <a:bodyPr>
            <a:normAutofit fontScale="92500" lnSpcReduction="10000"/>
          </a:bodyPr>
          <a:lstStyle/>
          <a:p>
            <a:r>
              <a:rPr lang="en-US" dirty="0"/>
              <a:t>A template method defines the skeleton of a process.</a:t>
            </a:r>
          </a:p>
          <a:p>
            <a:endParaRPr lang="en-US" dirty="0"/>
          </a:p>
          <a:p>
            <a:r>
              <a:rPr lang="en-US" dirty="0"/>
              <a:t>Defers some steps to subclasses.</a:t>
            </a:r>
          </a:p>
          <a:p>
            <a:endParaRPr lang="en-US" dirty="0"/>
          </a:p>
          <a:p>
            <a:r>
              <a:rPr lang="en-IN" dirty="0"/>
              <a:t>In Template Method, some steps are </a:t>
            </a:r>
            <a:r>
              <a:rPr lang="en-IN" dirty="0">
                <a:solidFill>
                  <a:srgbClr val="FF0000"/>
                </a:solidFill>
              </a:rPr>
              <a:t>Invariants (remains same)</a:t>
            </a:r>
            <a:r>
              <a:rPr lang="en-IN" dirty="0"/>
              <a:t> and some are </a:t>
            </a:r>
            <a:r>
              <a:rPr lang="en-IN" dirty="0">
                <a:solidFill>
                  <a:srgbClr val="FF0000"/>
                </a:solidFill>
              </a:rPr>
              <a:t>Variants (Changes)</a:t>
            </a:r>
            <a:r>
              <a:rPr lang="en-IN" dirty="0"/>
              <a:t>.</a:t>
            </a:r>
            <a:endParaRPr lang="en-US" dirty="0"/>
          </a:p>
          <a:p>
            <a:endParaRPr lang="en-US" dirty="0"/>
          </a:p>
          <a:p>
            <a:endParaRPr lang="en-US" dirty="0"/>
          </a:p>
        </p:txBody>
      </p:sp>
      <p:sp>
        <p:nvSpPr>
          <p:cNvPr id="3" name="TextBox 2"/>
          <p:cNvSpPr txBox="1"/>
          <p:nvPr/>
        </p:nvSpPr>
        <p:spPr>
          <a:xfrm>
            <a:off x="347730" y="115910"/>
            <a:ext cx="4564326" cy="584775"/>
          </a:xfrm>
          <a:prstGeom prst="rect">
            <a:avLst/>
          </a:prstGeom>
          <a:noFill/>
        </p:spPr>
        <p:txBody>
          <a:bodyPr wrap="none" rtlCol="0">
            <a:spAutoFit/>
          </a:bodyPr>
          <a:lstStyle/>
          <a:p>
            <a:r>
              <a:rPr lang="en-IN" sz="3200" b="1" dirty="0"/>
              <a:t>Template Method Pattern</a:t>
            </a:r>
            <a:endParaRPr lang="en-US" sz="3200" b="1" dirty="0"/>
          </a:p>
        </p:txBody>
      </p:sp>
      <p:pic>
        <p:nvPicPr>
          <p:cNvPr id="6" name="Picture 5"/>
          <p:cNvPicPr>
            <a:picLocks noChangeAspect="1"/>
          </p:cNvPicPr>
          <p:nvPr/>
        </p:nvPicPr>
        <p:blipFill>
          <a:blip r:embed="rId2"/>
          <a:stretch>
            <a:fillRect/>
          </a:stretch>
        </p:blipFill>
        <p:spPr>
          <a:xfrm>
            <a:off x="6864439" y="700685"/>
            <a:ext cx="4876800" cy="4991100"/>
          </a:xfrm>
          <a:prstGeom prst="rect">
            <a:avLst/>
          </a:prstGeom>
        </p:spPr>
      </p:pic>
    </p:spTree>
    <p:extLst>
      <p:ext uri="{BB962C8B-B14F-4D97-AF65-F5344CB8AC3E}">
        <p14:creationId xmlns:p14="http://schemas.microsoft.com/office/powerpoint/2010/main" val="665638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00000"/>
              </a:lnSpc>
            </a:pPr>
            <a:r>
              <a:rPr lang="en-US" dirty="0"/>
              <a:t>No matter what technology you’re using, certain data-access steps are required.</a:t>
            </a:r>
          </a:p>
          <a:p>
            <a:pPr>
              <a:lnSpc>
                <a:spcPct val="100000"/>
              </a:lnSpc>
            </a:pPr>
            <a:r>
              <a:rPr lang="en-IN" dirty="0"/>
              <a:t>Certain fixed steps are required by all data access technologies</a:t>
            </a:r>
            <a:endParaRPr lang="en-US" dirty="0"/>
          </a:p>
          <a:p>
            <a:pPr lvl="1">
              <a:lnSpc>
                <a:spcPct val="100000"/>
              </a:lnSpc>
            </a:pPr>
            <a:r>
              <a:rPr lang="en-IN" dirty="0"/>
              <a:t>Obtain a connection</a:t>
            </a:r>
          </a:p>
          <a:p>
            <a:pPr lvl="1">
              <a:lnSpc>
                <a:spcPct val="100000"/>
              </a:lnSpc>
            </a:pPr>
            <a:r>
              <a:rPr lang="en-IN" dirty="0"/>
              <a:t>Clean up resources</a:t>
            </a:r>
          </a:p>
          <a:p>
            <a:pPr>
              <a:lnSpc>
                <a:spcPct val="100000"/>
              </a:lnSpc>
            </a:pPr>
            <a:r>
              <a:rPr lang="en-IN" dirty="0"/>
              <a:t>There are certain steps which are different for different data access technologies (e.g. JDBC, Hibernate, JPA…)</a:t>
            </a:r>
          </a:p>
          <a:p>
            <a:pPr lvl="1">
              <a:lnSpc>
                <a:spcPct val="100000"/>
              </a:lnSpc>
            </a:pPr>
            <a:r>
              <a:rPr lang="en-US" dirty="0"/>
              <a:t>You query for different objects and update the data in different ways.</a:t>
            </a:r>
          </a:p>
          <a:p>
            <a:pPr lvl="1">
              <a:lnSpc>
                <a:spcPct val="100000"/>
              </a:lnSpc>
            </a:pPr>
            <a:r>
              <a:rPr lang="en-US" dirty="0"/>
              <a:t>These are the variable steps in the data-access process</a:t>
            </a:r>
          </a:p>
        </p:txBody>
      </p:sp>
      <p:sp>
        <p:nvSpPr>
          <p:cNvPr id="3" name="TextBox 2"/>
          <p:cNvSpPr txBox="1"/>
          <p:nvPr/>
        </p:nvSpPr>
        <p:spPr>
          <a:xfrm>
            <a:off x="347730" y="115910"/>
            <a:ext cx="8253029" cy="584775"/>
          </a:xfrm>
          <a:prstGeom prst="rect">
            <a:avLst/>
          </a:prstGeom>
          <a:noFill/>
        </p:spPr>
        <p:txBody>
          <a:bodyPr wrap="none" rtlCol="0">
            <a:spAutoFit/>
          </a:bodyPr>
          <a:lstStyle/>
          <a:p>
            <a:r>
              <a:rPr lang="en-IN" sz="3200" b="1" dirty="0"/>
              <a:t>Template Method Pattern in Spring Data Access</a:t>
            </a:r>
            <a:endParaRPr lang="en-US" sz="3200" b="1" dirty="0"/>
          </a:p>
        </p:txBody>
      </p:sp>
    </p:spTree>
    <p:extLst>
      <p:ext uri="{BB962C8B-B14F-4D97-AF65-F5344CB8AC3E}">
        <p14:creationId xmlns:p14="http://schemas.microsoft.com/office/powerpoint/2010/main" val="173421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990600"/>
            <a:ext cx="11582400" cy="2885941"/>
          </a:xfrm>
        </p:spPr>
        <p:txBody>
          <a:bodyPr/>
          <a:lstStyle/>
          <a:p>
            <a:r>
              <a:rPr lang="en-IN" dirty="0"/>
              <a:t>The same Template Method pattern is used in Spring’s Data Access.</a:t>
            </a:r>
          </a:p>
          <a:p>
            <a:r>
              <a:rPr lang="en-US" dirty="0"/>
              <a:t>Spring separates the fixed and variable parts of the data-access process into two distinct classes: </a:t>
            </a:r>
          </a:p>
          <a:p>
            <a:pPr lvl="1"/>
            <a:r>
              <a:rPr lang="en-US" i="1" dirty="0"/>
              <a:t>templates </a:t>
            </a:r>
          </a:p>
          <a:p>
            <a:pPr lvl="1"/>
            <a:r>
              <a:rPr lang="en-US" i="1" dirty="0"/>
              <a:t>Callbacks</a:t>
            </a:r>
            <a:endParaRPr lang="en-US" dirty="0"/>
          </a:p>
          <a:p>
            <a:r>
              <a:rPr lang="en-US" dirty="0"/>
              <a:t>Templates manage the fixed part of the process, whereas your custom data-access code is handled in callbacks</a:t>
            </a:r>
            <a:endParaRPr lang="en-IN" dirty="0"/>
          </a:p>
          <a:p>
            <a:endParaRPr lang="en-US" dirty="0"/>
          </a:p>
        </p:txBody>
      </p:sp>
      <p:sp>
        <p:nvSpPr>
          <p:cNvPr id="3" name="TextBox 2"/>
          <p:cNvSpPr txBox="1"/>
          <p:nvPr/>
        </p:nvSpPr>
        <p:spPr>
          <a:xfrm>
            <a:off x="347730" y="115910"/>
            <a:ext cx="8253029" cy="584775"/>
          </a:xfrm>
          <a:prstGeom prst="rect">
            <a:avLst/>
          </a:prstGeom>
          <a:noFill/>
        </p:spPr>
        <p:txBody>
          <a:bodyPr wrap="none" rtlCol="0">
            <a:spAutoFit/>
          </a:bodyPr>
          <a:lstStyle/>
          <a:p>
            <a:r>
              <a:rPr lang="en-IN" sz="3200" b="1" dirty="0"/>
              <a:t>Template Method Pattern in Spring Data Access</a:t>
            </a:r>
            <a:endParaRPr lang="en-US" sz="3200" b="1" dirty="0"/>
          </a:p>
        </p:txBody>
      </p:sp>
      <p:pic>
        <p:nvPicPr>
          <p:cNvPr id="4" name="Picture 3"/>
          <p:cNvPicPr>
            <a:picLocks noChangeAspect="1"/>
          </p:cNvPicPr>
          <p:nvPr/>
        </p:nvPicPr>
        <p:blipFill>
          <a:blip r:embed="rId2"/>
          <a:stretch>
            <a:fillRect/>
          </a:stretch>
        </p:blipFill>
        <p:spPr>
          <a:xfrm>
            <a:off x="6784975" y="3760631"/>
            <a:ext cx="5038725" cy="2495550"/>
          </a:xfrm>
          <a:prstGeom prst="rect">
            <a:avLst/>
          </a:prstGeom>
        </p:spPr>
      </p:pic>
      <p:sp>
        <p:nvSpPr>
          <p:cNvPr id="5" name="TextBox 4"/>
          <p:cNvSpPr txBox="1"/>
          <p:nvPr/>
        </p:nvSpPr>
        <p:spPr>
          <a:xfrm>
            <a:off x="463639" y="4166456"/>
            <a:ext cx="5718220" cy="1569660"/>
          </a:xfrm>
          <a:prstGeom prst="rect">
            <a:avLst/>
          </a:prstGeom>
          <a:solidFill>
            <a:schemeClr val="accent2">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sz="2400" dirty="0"/>
              <a:t>Spring’s data-access template classes take responsibility for common data-access duties. For application-specific tasks, it calls back into a custom callback object.</a:t>
            </a:r>
          </a:p>
        </p:txBody>
      </p:sp>
    </p:spTree>
    <p:extLst>
      <p:ext uri="{BB962C8B-B14F-4D97-AF65-F5344CB8AC3E}">
        <p14:creationId xmlns:p14="http://schemas.microsoft.com/office/powerpoint/2010/main" val="68773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46736" y="991204"/>
            <a:ext cx="10345760" cy="5606283"/>
          </a:xfrm>
          <a:prstGeom prst="rect">
            <a:avLst/>
          </a:prstGeom>
          <a:ln>
            <a:solidFill>
              <a:schemeClr val="accent1"/>
            </a:solidFill>
          </a:ln>
        </p:spPr>
      </p:pic>
      <p:sp>
        <p:nvSpPr>
          <p:cNvPr id="4" name="TextBox 3"/>
          <p:cNvSpPr txBox="1"/>
          <p:nvPr/>
        </p:nvSpPr>
        <p:spPr>
          <a:xfrm>
            <a:off x="652798" y="128788"/>
            <a:ext cx="6602961" cy="584775"/>
          </a:xfrm>
          <a:prstGeom prst="rect">
            <a:avLst/>
          </a:prstGeom>
          <a:noFill/>
        </p:spPr>
        <p:txBody>
          <a:bodyPr wrap="none" rtlCol="0">
            <a:spAutoFit/>
          </a:bodyPr>
          <a:lstStyle/>
          <a:p>
            <a:r>
              <a:rPr lang="en-IN" sz="3200" b="1" dirty="0"/>
              <a:t>Spring’s Data Access Template Classes</a:t>
            </a:r>
            <a:endParaRPr lang="en-US" sz="3200" b="1" dirty="0"/>
          </a:p>
        </p:txBody>
      </p:sp>
    </p:spTree>
    <p:extLst>
      <p:ext uri="{BB962C8B-B14F-4D97-AF65-F5344CB8AC3E}">
        <p14:creationId xmlns:p14="http://schemas.microsoft.com/office/powerpoint/2010/main" val="1991105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02663" y="3039414"/>
            <a:ext cx="11582400" cy="850005"/>
          </a:xfrm>
        </p:spPr>
        <p:txBody>
          <a:bodyPr anchor="ctr">
            <a:normAutofit/>
          </a:bodyPr>
          <a:lstStyle/>
          <a:p>
            <a:pPr marL="0" indent="0" algn="ctr">
              <a:buNone/>
            </a:pPr>
            <a:r>
              <a:rPr lang="en-IN" sz="3200" dirty="0"/>
              <a:t>Configuring a </a:t>
            </a:r>
            <a:r>
              <a:rPr lang="en-IN" sz="3200" dirty="0" err="1"/>
              <a:t>DataSource</a:t>
            </a:r>
            <a:r>
              <a:rPr lang="en-IN" sz="3200" dirty="0"/>
              <a:t> </a:t>
            </a:r>
            <a:endParaRPr lang="en-US" sz="3200" dirty="0"/>
          </a:p>
        </p:txBody>
      </p:sp>
    </p:spTree>
    <p:extLst>
      <p:ext uri="{BB962C8B-B14F-4D97-AF65-F5344CB8AC3E}">
        <p14:creationId xmlns:p14="http://schemas.microsoft.com/office/powerpoint/2010/main" val="323840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38269" y="3154252"/>
            <a:ext cx="11582400" cy="812442"/>
          </a:xfrm>
        </p:spPr>
        <p:txBody>
          <a:bodyPr>
            <a:normAutofit/>
          </a:bodyPr>
          <a:lstStyle/>
          <a:p>
            <a:pPr marL="0" indent="0" algn="ctr">
              <a:buNone/>
            </a:pPr>
            <a:r>
              <a:rPr lang="en-IN" sz="2800" b="1" dirty="0"/>
              <a:t>What is a DataSource ?</a:t>
            </a:r>
          </a:p>
        </p:txBody>
      </p:sp>
    </p:spTree>
    <p:extLst>
      <p:ext uri="{BB962C8B-B14F-4D97-AF65-F5344CB8AC3E}">
        <p14:creationId xmlns:p14="http://schemas.microsoft.com/office/powerpoint/2010/main" val="4202356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JDBC Review</a:t>
            </a:r>
          </a:p>
        </p:txBody>
      </p:sp>
      <p:grpSp>
        <p:nvGrpSpPr>
          <p:cNvPr id="11268" name="Group 11"/>
          <p:cNvGrpSpPr>
            <a:grpSpLocks/>
          </p:cNvGrpSpPr>
          <p:nvPr/>
        </p:nvGrpSpPr>
        <p:grpSpPr bwMode="auto">
          <a:xfrm>
            <a:off x="2585434" y="2767884"/>
            <a:ext cx="6172200" cy="1066800"/>
            <a:chOff x="912" y="2928"/>
            <a:chExt cx="3888" cy="672"/>
          </a:xfrm>
        </p:grpSpPr>
        <p:sp>
          <p:nvSpPr>
            <p:cNvPr id="11269" name="Rectangle 21"/>
            <p:cNvSpPr>
              <a:spLocks noChangeArrowheads="1"/>
            </p:cNvSpPr>
            <p:nvPr/>
          </p:nvSpPr>
          <p:spPr bwMode="auto">
            <a:xfrm>
              <a:off x="912" y="3024"/>
              <a:ext cx="864" cy="480"/>
            </a:xfrm>
            <a:prstGeom prst="rect">
              <a:avLst/>
            </a:prstGeom>
            <a:solidFill>
              <a:srgbClr val="C0C0C0"/>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dirty="0">
                  <a:solidFill>
                    <a:schemeClr val="tx1"/>
                  </a:solidFill>
                  <a:latin typeface="Arial" panose="020B0604020202020204" pitchFamily="34" charset="0"/>
                  <a:cs typeface="Arial" panose="020B0604020202020204" pitchFamily="34" charset="0"/>
                </a:rPr>
                <a:t>Application</a:t>
              </a:r>
            </a:p>
          </p:txBody>
        </p:sp>
        <p:sp>
          <p:nvSpPr>
            <p:cNvPr id="11270" name="Can 19"/>
            <p:cNvSpPr>
              <a:spLocks noChangeArrowheads="1"/>
            </p:cNvSpPr>
            <p:nvPr/>
          </p:nvSpPr>
          <p:spPr bwMode="auto">
            <a:xfrm>
              <a:off x="4272" y="2928"/>
              <a:ext cx="528" cy="672"/>
            </a:xfrm>
            <a:prstGeom prst="can">
              <a:avLst>
                <a:gd name="adj" fmla="val 25001"/>
              </a:avLst>
            </a:prstGeom>
            <a:solidFill>
              <a:schemeClr val="accent1"/>
            </a:solidFill>
            <a:ln w="28575">
              <a:solidFill>
                <a:schemeClr val="tx1"/>
              </a:solidFill>
              <a:round/>
              <a:headEnd type="none" w="sm" len="sm"/>
              <a:tailEnd type="none" w="sm" len="sm"/>
            </a:ln>
          </p:spPr>
          <p:txBody>
            <a:bodyPr/>
            <a:lstStyle>
              <a:lvl1pPr defTabSz="228600">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defTabSz="22860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defTabSz="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defTabSz="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defTabSz="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DB</a:t>
              </a:r>
            </a:p>
          </p:txBody>
        </p:sp>
        <p:sp>
          <p:nvSpPr>
            <p:cNvPr id="11271" name="Rectangle 21"/>
            <p:cNvSpPr>
              <a:spLocks noChangeArrowheads="1"/>
            </p:cNvSpPr>
            <p:nvPr/>
          </p:nvSpPr>
          <p:spPr bwMode="auto">
            <a:xfrm>
              <a:off x="2976" y="3024"/>
              <a:ext cx="672" cy="480"/>
            </a:xfrm>
            <a:prstGeom prst="rect">
              <a:avLst/>
            </a:prstGeom>
            <a:solidFill>
              <a:schemeClr val="accent2"/>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a:solidFill>
                    <a:schemeClr val="bg1"/>
                  </a:solidFill>
                  <a:latin typeface="Arial" panose="020B0604020202020204" pitchFamily="34" charset="0"/>
                  <a:cs typeface="Arial" panose="020B0604020202020204" pitchFamily="34" charset="0"/>
                </a:rPr>
                <a:t>JDBC driver</a:t>
              </a:r>
            </a:p>
          </p:txBody>
        </p:sp>
        <p:cxnSp>
          <p:nvCxnSpPr>
            <p:cNvPr id="11272" name="Straight Arrow Connector 21"/>
            <p:cNvCxnSpPr>
              <a:cxnSpLocks noChangeShapeType="1"/>
              <a:stCxn id="11269" idx="3"/>
              <a:endCxn id="11271" idx="1"/>
            </p:cNvCxnSpPr>
            <p:nvPr/>
          </p:nvCxnSpPr>
          <p:spPr bwMode="auto">
            <a:xfrm>
              <a:off x="1785" y="3264"/>
              <a:ext cx="1182" cy="0"/>
            </a:xfrm>
            <a:prstGeom prst="straightConnector1">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11273" name="Straight Arrow Connector 22"/>
            <p:cNvCxnSpPr>
              <a:cxnSpLocks noChangeShapeType="1"/>
              <a:stCxn id="11271" idx="3"/>
              <a:endCxn id="11270" idx="2"/>
            </p:cNvCxnSpPr>
            <p:nvPr/>
          </p:nvCxnSpPr>
          <p:spPr bwMode="auto">
            <a:xfrm>
              <a:off x="3657" y="3264"/>
              <a:ext cx="606" cy="0"/>
            </a:xfrm>
            <a:prstGeom prst="straightConnector1">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11274" name="TextBox 25"/>
            <p:cNvSpPr txBox="1">
              <a:spLocks noChangeArrowheads="1"/>
            </p:cNvSpPr>
            <p:nvPr/>
          </p:nvSpPr>
          <p:spPr bwMode="auto">
            <a:xfrm>
              <a:off x="1853" y="3024"/>
              <a:ext cx="98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600">
                  <a:solidFill>
                    <a:schemeClr val="tx1"/>
                  </a:solidFill>
                  <a:latin typeface="Arial" panose="020B0604020202020204" pitchFamily="34" charset="0"/>
                </a:rPr>
                <a:t>Get connection</a:t>
              </a:r>
            </a:p>
          </p:txBody>
        </p:sp>
        <p:sp>
          <p:nvSpPr>
            <p:cNvPr id="11275" name="TextBox 26"/>
            <p:cNvSpPr txBox="1">
              <a:spLocks noChangeArrowheads="1"/>
            </p:cNvSpPr>
            <p:nvPr/>
          </p:nvSpPr>
          <p:spPr bwMode="auto">
            <a:xfrm>
              <a:off x="1894" y="3291"/>
              <a:ext cx="90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600">
                  <a:solidFill>
                    <a:schemeClr val="tx1"/>
                  </a:solidFill>
                  <a:latin typeface="Arial" panose="020B0604020202020204" pitchFamily="34" charset="0"/>
                </a:rPr>
                <a:t>Perform SQL</a:t>
              </a:r>
            </a:p>
          </p:txBody>
        </p:sp>
      </p:grpSp>
    </p:spTree>
    <p:extLst>
      <p:ext uri="{BB962C8B-B14F-4D97-AF65-F5344CB8AC3E}">
        <p14:creationId xmlns:p14="http://schemas.microsoft.com/office/powerpoint/2010/main" val="440042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a:t>JDBC Data Sources</a:t>
            </a:r>
          </a:p>
        </p:txBody>
      </p:sp>
      <p:grpSp>
        <p:nvGrpSpPr>
          <p:cNvPr id="13316" name="Group 21"/>
          <p:cNvGrpSpPr>
            <a:grpSpLocks/>
          </p:cNvGrpSpPr>
          <p:nvPr/>
        </p:nvGrpSpPr>
        <p:grpSpPr bwMode="auto">
          <a:xfrm>
            <a:off x="2335324" y="2205507"/>
            <a:ext cx="6629400" cy="2743200"/>
            <a:chOff x="816" y="2160"/>
            <a:chExt cx="4176" cy="1728"/>
          </a:xfrm>
        </p:grpSpPr>
        <p:sp>
          <p:nvSpPr>
            <p:cNvPr id="13317" name="Rectangle 21"/>
            <p:cNvSpPr>
              <a:spLocks noChangeArrowheads="1"/>
            </p:cNvSpPr>
            <p:nvPr/>
          </p:nvSpPr>
          <p:spPr bwMode="auto">
            <a:xfrm>
              <a:off x="2592" y="2160"/>
              <a:ext cx="1296" cy="1728"/>
            </a:xfrm>
            <a:prstGeom prst="rect">
              <a:avLst/>
            </a:prstGeom>
            <a:solidFill>
              <a:schemeClr val="accent2"/>
            </a:solidFill>
            <a:ln w="28575">
              <a:solidFill>
                <a:schemeClr val="tx1"/>
              </a:solidFill>
              <a:round/>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800">
                  <a:solidFill>
                    <a:schemeClr val="bg1"/>
                  </a:solidFill>
                  <a:latin typeface="Arial" panose="020B0604020202020204" pitchFamily="34" charset="0"/>
                  <a:cs typeface="Arial" panose="020B0604020202020204" pitchFamily="34" charset="0"/>
                </a:rPr>
                <a:t>Data source</a:t>
              </a:r>
            </a:p>
          </p:txBody>
        </p:sp>
        <p:sp>
          <p:nvSpPr>
            <p:cNvPr id="13318" name="Rectangle 20"/>
            <p:cNvSpPr>
              <a:spLocks noChangeArrowheads="1"/>
            </p:cNvSpPr>
            <p:nvPr/>
          </p:nvSpPr>
          <p:spPr bwMode="auto">
            <a:xfrm>
              <a:off x="2688" y="2400"/>
              <a:ext cx="1104" cy="1056"/>
            </a:xfrm>
            <a:prstGeom prst="rect">
              <a:avLst/>
            </a:prstGeom>
            <a:solidFill>
              <a:schemeClr val="accent1"/>
            </a:solidFill>
            <a:ln w="28575">
              <a:solidFill>
                <a:schemeClr val="tx1"/>
              </a:solidFill>
              <a:miter lim="800000"/>
              <a:headEnd type="none" w="sm" len="sm"/>
              <a:tailEnd type="none" w="sm" len="sm"/>
            </a:ln>
          </p:spPr>
          <p:txBody>
            <a:bodyPr wrap="none"/>
            <a:lstStyle>
              <a:lvl1pPr defTabSz="228600">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defTabSz="22860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defTabSz="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defTabSz="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defTabSz="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Pool</a:t>
              </a:r>
            </a:p>
          </p:txBody>
        </p:sp>
        <p:sp>
          <p:nvSpPr>
            <p:cNvPr id="13319" name="Rectangle 21"/>
            <p:cNvSpPr>
              <a:spLocks noChangeArrowheads="1"/>
            </p:cNvSpPr>
            <p:nvPr/>
          </p:nvSpPr>
          <p:spPr bwMode="auto">
            <a:xfrm>
              <a:off x="816" y="2400"/>
              <a:ext cx="528" cy="384"/>
            </a:xfrm>
            <a:prstGeom prst="rect">
              <a:avLst/>
            </a:prstGeom>
            <a:solidFill>
              <a:schemeClr val="accent1"/>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800">
                  <a:solidFill>
                    <a:schemeClr val="tx1"/>
                  </a:solidFill>
                  <a:latin typeface="Arial" panose="020B0604020202020204" pitchFamily="34" charset="0"/>
                  <a:cs typeface="Arial" panose="020B0604020202020204" pitchFamily="34" charset="0"/>
                </a:rPr>
                <a:t>App</a:t>
              </a:r>
            </a:p>
          </p:txBody>
        </p:sp>
        <p:sp>
          <p:nvSpPr>
            <p:cNvPr id="13320" name="Rectangle 21"/>
            <p:cNvSpPr>
              <a:spLocks noChangeArrowheads="1"/>
            </p:cNvSpPr>
            <p:nvPr/>
          </p:nvSpPr>
          <p:spPr bwMode="auto">
            <a:xfrm>
              <a:off x="2688" y="3504"/>
              <a:ext cx="1104" cy="312"/>
            </a:xfrm>
            <a:prstGeom prst="rect">
              <a:avLst/>
            </a:prstGeom>
            <a:solidFill>
              <a:srgbClr val="FFFFFF"/>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JDBC driver</a:t>
              </a:r>
            </a:p>
          </p:txBody>
        </p:sp>
        <p:sp>
          <p:nvSpPr>
            <p:cNvPr id="13321" name="Can 5"/>
            <p:cNvSpPr>
              <a:spLocks noChangeArrowheads="1"/>
            </p:cNvSpPr>
            <p:nvPr/>
          </p:nvSpPr>
          <p:spPr bwMode="auto">
            <a:xfrm>
              <a:off x="4464" y="2688"/>
              <a:ext cx="528" cy="672"/>
            </a:xfrm>
            <a:prstGeom prst="can">
              <a:avLst>
                <a:gd name="adj" fmla="val 25001"/>
              </a:avLst>
            </a:prstGeom>
            <a:solidFill>
              <a:schemeClr val="accent1"/>
            </a:solidFill>
            <a:ln w="28575">
              <a:solidFill>
                <a:schemeClr val="tx1"/>
              </a:solidFill>
              <a:round/>
              <a:headEnd type="none" w="sm" len="sm"/>
              <a:tailEnd type="none" w="sm" len="sm"/>
            </a:ln>
          </p:spPr>
          <p:txBody>
            <a:bodyPr/>
            <a:lstStyle>
              <a:lvl1pPr defTabSz="228600">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defTabSz="22860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defTabSz="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defTabSz="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defTabSz="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defTabSz="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DB</a:t>
              </a:r>
            </a:p>
          </p:txBody>
        </p:sp>
        <p:cxnSp>
          <p:nvCxnSpPr>
            <p:cNvPr id="13322" name="Straight Arrow Connector 6"/>
            <p:cNvCxnSpPr>
              <a:cxnSpLocks noChangeShapeType="1"/>
              <a:stCxn id="13319" idx="3"/>
              <a:endCxn id="13317" idx="1"/>
            </p:cNvCxnSpPr>
            <p:nvPr/>
          </p:nvCxnSpPr>
          <p:spPr bwMode="auto">
            <a:xfrm>
              <a:off x="1353" y="2592"/>
              <a:ext cx="1230" cy="432"/>
            </a:xfrm>
            <a:prstGeom prst="bentConnector3">
              <a:avLst>
                <a:gd name="adj1" fmla="val 17644"/>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cxnSp>
          <p:nvCxnSpPr>
            <p:cNvPr id="13323" name="Straight Arrow Connector 7"/>
            <p:cNvCxnSpPr>
              <a:cxnSpLocks noChangeShapeType="1"/>
              <a:stCxn id="13317" idx="3"/>
              <a:endCxn id="13321" idx="2"/>
            </p:cNvCxnSpPr>
            <p:nvPr/>
          </p:nvCxnSpPr>
          <p:spPr bwMode="auto">
            <a:xfrm>
              <a:off x="3897" y="3024"/>
              <a:ext cx="558" cy="0"/>
            </a:xfrm>
            <a:prstGeom prst="straightConnector1">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13324" name="Rectangle 21"/>
            <p:cNvSpPr>
              <a:spLocks noChangeArrowheads="1"/>
            </p:cNvSpPr>
            <p:nvPr/>
          </p:nvSpPr>
          <p:spPr bwMode="auto">
            <a:xfrm>
              <a:off x="2784" y="2640"/>
              <a:ext cx="864" cy="192"/>
            </a:xfrm>
            <a:prstGeom prst="rect">
              <a:avLst/>
            </a:prstGeom>
            <a:solidFill>
              <a:srgbClr val="FFFFFF"/>
            </a:solidFill>
            <a:ln w="28575">
              <a:solidFill>
                <a:schemeClr val="tx1"/>
              </a:solidFill>
              <a:prstDash val="sysDot"/>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Connection</a:t>
              </a:r>
            </a:p>
          </p:txBody>
        </p:sp>
        <p:sp>
          <p:nvSpPr>
            <p:cNvPr id="13325" name="Rectangle 21"/>
            <p:cNvSpPr>
              <a:spLocks noChangeArrowheads="1"/>
            </p:cNvSpPr>
            <p:nvPr/>
          </p:nvSpPr>
          <p:spPr bwMode="auto">
            <a:xfrm>
              <a:off x="2784" y="2832"/>
              <a:ext cx="864" cy="192"/>
            </a:xfrm>
            <a:prstGeom prst="rect">
              <a:avLst/>
            </a:prstGeom>
            <a:solidFill>
              <a:srgbClr val="FFFFFF"/>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Connection</a:t>
              </a:r>
            </a:p>
          </p:txBody>
        </p:sp>
        <p:sp>
          <p:nvSpPr>
            <p:cNvPr id="13326" name="Rectangle 21"/>
            <p:cNvSpPr>
              <a:spLocks noChangeArrowheads="1"/>
            </p:cNvSpPr>
            <p:nvPr/>
          </p:nvSpPr>
          <p:spPr bwMode="auto">
            <a:xfrm>
              <a:off x="2784" y="3024"/>
              <a:ext cx="864" cy="192"/>
            </a:xfrm>
            <a:prstGeom prst="rect">
              <a:avLst/>
            </a:prstGeom>
            <a:solidFill>
              <a:srgbClr val="FFFFFF"/>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Connection</a:t>
              </a:r>
            </a:p>
          </p:txBody>
        </p:sp>
        <p:sp>
          <p:nvSpPr>
            <p:cNvPr id="13327" name="Rectangle 21"/>
            <p:cNvSpPr>
              <a:spLocks noChangeArrowheads="1"/>
            </p:cNvSpPr>
            <p:nvPr/>
          </p:nvSpPr>
          <p:spPr bwMode="auto">
            <a:xfrm>
              <a:off x="2784" y="3216"/>
              <a:ext cx="864" cy="192"/>
            </a:xfrm>
            <a:prstGeom prst="rect">
              <a:avLst/>
            </a:prstGeom>
            <a:solidFill>
              <a:srgbClr val="FFFFFF"/>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Connection</a:t>
              </a:r>
            </a:p>
          </p:txBody>
        </p:sp>
        <p:sp>
          <p:nvSpPr>
            <p:cNvPr id="13328" name="Rectangle 21"/>
            <p:cNvSpPr>
              <a:spLocks noChangeArrowheads="1"/>
            </p:cNvSpPr>
            <p:nvPr/>
          </p:nvSpPr>
          <p:spPr bwMode="auto">
            <a:xfrm>
              <a:off x="816" y="2832"/>
              <a:ext cx="528" cy="384"/>
            </a:xfrm>
            <a:prstGeom prst="rect">
              <a:avLst/>
            </a:prstGeom>
            <a:solidFill>
              <a:schemeClr val="accent1"/>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800">
                  <a:solidFill>
                    <a:schemeClr val="tx1"/>
                  </a:solidFill>
                  <a:latin typeface="Arial" panose="020B0604020202020204" pitchFamily="34" charset="0"/>
                  <a:cs typeface="Arial" panose="020B0604020202020204" pitchFamily="34" charset="0"/>
                </a:rPr>
                <a:t>App</a:t>
              </a:r>
            </a:p>
          </p:txBody>
        </p:sp>
        <p:cxnSp>
          <p:nvCxnSpPr>
            <p:cNvPr id="13329" name="Straight Arrow Connector 6"/>
            <p:cNvCxnSpPr>
              <a:cxnSpLocks noChangeShapeType="1"/>
              <a:stCxn id="13328" idx="3"/>
              <a:endCxn id="13317" idx="1"/>
            </p:cNvCxnSpPr>
            <p:nvPr/>
          </p:nvCxnSpPr>
          <p:spPr bwMode="auto">
            <a:xfrm>
              <a:off x="1353" y="3024"/>
              <a:ext cx="1230" cy="0"/>
            </a:xfrm>
            <a:prstGeom prst="straightConnector1">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13330" name="Rectangle 21"/>
            <p:cNvSpPr>
              <a:spLocks noChangeArrowheads="1"/>
            </p:cNvSpPr>
            <p:nvPr/>
          </p:nvSpPr>
          <p:spPr bwMode="auto">
            <a:xfrm>
              <a:off x="816" y="3264"/>
              <a:ext cx="528" cy="384"/>
            </a:xfrm>
            <a:prstGeom prst="rect">
              <a:avLst/>
            </a:prstGeom>
            <a:solidFill>
              <a:schemeClr val="accent1"/>
            </a:solidFill>
            <a:ln w="28575">
              <a:solidFill>
                <a:schemeClr val="tx1"/>
              </a:solidFill>
              <a:miter lim="800000"/>
              <a:headEnd/>
              <a:tailEnd/>
            </a:ln>
          </p:spPr>
          <p:txBody>
            <a:bodyPr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0"/>
                </a:spcBef>
                <a:spcAft>
                  <a:spcPct val="0"/>
                </a:spcAft>
                <a:buClrTx/>
                <a:buFontTx/>
                <a:buNone/>
              </a:pPr>
              <a:r>
                <a:rPr lang="en-US" altLang="en-US" sz="1800">
                  <a:solidFill>
                    <a:schemeClr val="tx1"/>
                  </a:solidFill>
                  <a:latin typeface="Arial" panose="020B0604020202020204" pitchFamily="34" charset="0"/>
                  <a:cs typeface="Arial" panose="020B0604020202020204" pitchFamily="34" charset="0"/>
                </a:rPr>
                <a:t>App</a:t>
              </a:r>
            </a:p>
          </p:txBody>
        </p:sp>
        <p:cxnSp>
          <p:nvCxnSpPr>
            <p:cNvPr id="13331" name="Straight Arrow Connector 6"/>
            <p:cNvCxnSpPr>
              <a:cxnSpLocks noChangeShapeType="1"/>
              <a:stCxn id="13330" idx="3"/>
              <a:endCxn id="13317" idx="1"/>
            </p:cNvCxnSpPr>
            <p:nvPr/>
          </p:nvCxnSpPr>
          <p:spPr bwMode="auto">
            <a:xfrm flipV="1">
              <a:off x="1353" y="3024"/>
              <a:ext cx="1230" cy="432"/>
            </a:xfrm>
            <a:prstGeom prst="bentConnector3">
              <a:avLst>
                <a:gd name="adj1" fmla="val 17560"/>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cxnSp>
        <p:sp>
          <p:nvSpPr>
            <p:cNvPr id="13332" name="TextBox 32"/>
            <p:cNvSpPr txBox="1">
              <a:spLocks noChangeArrowheads="1"/>
            </p:cNvSpPr>
            <p:nvPr/>
          </p:nvSpPr>
          <p:spPr bwMode="auto">
            <a:xfrm>
              <a:off x="1570" y="3051"/>
              <a:ext cx="97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600">
                  <a:solidFill>
                    <a:schemeClr val="tx1"/>
                  </a:solidFill>
                  <a:latin typeface="Arial" panose="020B0604020202020204" pitchFamily="34" charset="0"/>
                </a:rPr>
                <a:t>Get connection</a:t>
              </a:r>
              <a:br>
                <a:rPr lang="en-US" altLang="en-US" sz="1600">
                  <a:solidFill>
                    <a:schemeClr val="tx1"/>
                  </a:solidFill>
                  <a:latin typeface="Arial" panose="020B0604020202020204" pitchFamily="34" charset="0"/>
                </a:rPr>
              </a:br>
              <a:r>
                <a:rPr lang="en-US" altLang="en-US" sz="1600">
                  <a:solidFill>
                    <a:schemeClr val="tx1"/>
                  </a:solidFill>
                  <a:latin typeface="Arial" panose="020B0604020202020204" pitchFamily="34" charset="0"/>
                </a:rPr>
                <a:t>Perform SQL</a:t>
              </a:r>
            </a:p>
          </p:txBody>
        </p:sp>
        <p:sp>
          <p:nvSpPr>
            <p:cNvPr id="13333" name="TextBox 33"/>
            <p:cNvSpPr txBox="1">
              <a:spLocks noChangeArrowheads="1"/>
            </p:cNvSpPr>
            <p:nvPr/>
          </p:nvSpPr>
          <p:spPr bwMode="auto">
            <a:xfrm>
              <a:off x="1672" y="2811"/>
              <a:ext cx="8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600">
                  <a:solidFill>
                    <a:schemeClr val="tx1"/>
                  </a:solidFill>
                  <a:latin typeface="Arial" panose="020B0604020202020204" pitchFamily="34" charset="0"/>
                </a:rPr>
                <a:t>JNDI lookup</a:t>
              </a:r>
            </a:p>
          </p:txBody>
        </p:sp>
      </p:grpSp>
    </p:spTree>
    <p:extLst>
      <p:ext uri="{BB962C8B-B14F-4D97-AF65-F5344CB8AC3E}">
        <p14:creationId xmlns:p14="http://schemas.microsoft.com/office/powerpoint/2010/main" val="1354861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0"/>
          <p:cNvSpPr>
            <a:spLocks noGrp="1" noChangeArrowheads="1"/>
          </p:cNvSpPr>
          <p:nvPr>
            <p:ph type="title"/>
          </p:nvPr>
        </p:nvSpPr>
        <p:spPr/>
        <p:txBody>
          <a:bodyPr/>
          <a:lstStyle/>
          <a:p>
            <a:pPr eaLnBrk="1" hangingPunct="1"/>
            <a:r>
              <a:rPr lang="en-US" altLang="en-US"/>
              <a:t>JDBC Connection Pooling</a:t>
            </a:r>
          </a:p>
        </p:txBody>
      </p:sp>
      <p:sp>
        <p:nvSpPr>
          <p:cNvPr id="25603" name="Text Box 3"/>
          <p:cNvSpPr txBox="1">
            <a:spLocks noChangeArrowheads="1"/>
          </p:cNvSpPr>
          <p:nvPr/>
        </p:nvSpPr>
        <p:spPr bwMode="auto">
          <a:xfrm>
            <a:off x="2209800" y="1219200"/>
            <a:ext cx="1981200" cy="350838"/>
          </a:xfrm>
          <a:prstGeom prst="rect">
            <a:avLst/>
          </a:prstGeom>
          <a:solidFill>
            <a:srgbClr val="EDC774"/>
          </a:solidFill>
          <a:ln w="28575">
            <a:solidFill>
              <a:schemeClr val="tx1"/>
            </a:solidFill>
            <a:miter lim="800000"/>
            <a:headEnd/>
            <a:tailEnd/>
          </a:ln>
        </p:spPr>
        <p:txBody>
          <a:bodyPr wrap="none" lIns="45720" tIns="0" rIns="45720"/>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r>
              <a:rPr lang="en-US" altLang="en-US" sz="1800" dirty="0">
                <a:solidFill>
                  <a:schemeClr val="tx1"/>
                </a:solidFill>
                <a:latin typeface="Arial" panose="020B0604020202020204" pitchFamily="34" charset="0"/>
              </a:rPr>
              <a:t>Application server</a:t>
            </a:r>
          </a:p>
        </p:txBody>
      </p:sp>
      <p:sp>
        <p:nvSpPr>
          <p:cNvPr id="25604" name="Text Box 4"/>
          <p:cNvSpPr txBox="1">
            <a:spLocks noChangeArrowheads="1"/>
          </p:cNvSpPr>
          <p:nvPr/>
        </p:nvSpPr>
        <p:spPr bwMode="auto">
          <a:xfrm>
            <a:off x="2209800" y="1570038"/>
            <a:ext cx="6605588" cy="4754562"/>
          </a:xfrm>
          <a:prstGeom prst="rect">
            <a:avLst/>
          </a:prstGeom>
          <a:solidFill>
            <a:srgbClr val="EDC774"/>
          </a:solidFill>
          <a:ln w="28575">
            <a:solidFill>
              <a:schemeClr val="tx1"/>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endParaRPr lang="en-GB" altLang="en-US" sz="1800">
              <a:solidFill>
                <a:schemeClr val="tx1"/>
              </a:solidFill>
              <a:latin typeface="Arial Narrow" panose="020B0606020202030204" pitchFamily="34" charset="0"/>
            </a:endParaRPr>
          </a:p>
        </p:txBody>
      </p:sp>
      <p:sp>
        <p:nvSpPr>
          <p:cNvPr id="25605" name="Text Box 5"/>
          <p:cNvSpPr txBox="1">
            <a:spLocks noChangeArrowheads="1"/>
          </p:cNvSpPr>
          <p:nvPr/>
        </p:nvSpPr>
        <p:spPr bwMode="auto">
          <a:xfrm>
            <a:off x="4265613" y="2012951"/>
            <a:ext cx="1835150" cy="4164013"/>
          </a:xfrm>
          <a:prstGeom prst="rect">
            <a:avLst/>
          </a:prstGeom>
          <a:solidFill>
            <a:schemeClr val="bg1"/>
          </a:solidFill>
          <a:ln w="28575">
            <a:solidFill>
              <a:schemeClr val="tx1"/>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endParaRPr lang="en-GB" altLang="en-US" sz="1800">
              <a:solidFill>
                <a:schemeClr val="tx1"/>
              </a:solidFill>
              <a:latin typeface="Arial Narrow" panose="020B0606020202030204" pitchFamily="34" charset="0"/>
            </a:endParaRPr>
          </a:p>
        </p:txBody>
      </p:sp>
      <p:sp>
        <p:nvSpPr>
          <p:cNvPr id="25606" name="AutoShape 6"/>
          <p:cNvSpPr>
            <a:spLocks noChangeArrowheads="1"/>
          </p:cNvSpPr>
          <p:nvPr/>
        </p:nvSpPr>
        <p:spPr bwMode="auto">
          <a:xfrm>
            <a:off x="9144001" y="3162300"/>
            <a:ext cx="881063" cy="1028700"/>
          </a:xfrm>
          <a:prstGeom prst="can">
            <a:avLst>
              <a:gd name="adj" fmla="val 29189"/>
            </a:avLst>
          </a:prstGeom>
          <a:solidFill>
            <a:srgbClr val="CDDFF3"/>
          </a:solidFill>
          <a:ln w="28575">
            <a:solidFill>
              <a:schemeClr val="tx1"/>
            </a:solidFill>
            <a:round/>
            <a:headEnd/>
            <a:tailEnd/>
          </a:ln>
        </p:spPr>
        <p:txBody>
          <a:bodyPr wrap="none" lIns="45720" rIns="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GB" altLang="en-US" sz="1800">
                <a:solidFill>
                  <a:schemeClr val="tx1"/>
                </a:solidFill>
                <a:latin typeface="Arial Narrow" panose="020B0606020202030204" pitchFamily="34" charset="0"/>
                <a:cs typeface="Arial" panose="020B0604020202020204" pitchFamily="34" charset="0"/>
              </a:rPr>
              <a:t>DBMS</a:t>
            </a:r>
          </a:p>
        </p:txBody>
      </p:sp>
      <p:sp>
        <p:nvSpPr>
          <p:cNvPr id="25607" name="Text Box 7"/>
          <p:cNvSpPr txBox="1">
            <a:spLocks noChangeArrowheads="1"/>
          </p:cNvSpPr>
          <p:nvPr/>
        </p:nvSpPr>
        <p:spPr bwMode="auto">
          <a:xfrm>
            <a:off x="6540500" y="2974975"/>
            <a:ext cx="2070100" cy="1797050"/>
          </a:xfrm>
          <a:prstGeom prst="rect">
            <a:avLst/>
          </a:prstGeom>
          <a:solidFill>
            <a:schemeClr val="bg1"/>
          </a:solidFill>
          <a:ln w="28575">
            <a:solidFill>
              <a:schemeClr val="tx1"/>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endParaRPr lang="en-GB" altLang="en-US" sz="1800">
              <a:solidFill>
                <a:schemeClr val="tx1"/>
              </a:solidFill>
              <a:latin typeface="Arial Narrow" panose="020B0606020202030204" pitchFamily="34" charset="0"/>
            </a:endParaRPr>
          </a:p>
        </p:txBody>
      </p:sp>
      <p:sp>
        <p:nvSpPr>
          <p:cNvPr id="25608" name="Line 8"/>
          <p:cNvSpPr>
            <a:spLocks noChangeShapeType="1"/>
          </p:cNvSpPr>
          <p:nvPr/>
        </p:nvSpPr>
        <p:spPr bwMode="auto">
          <a:xfrm>
            <a:off x="5953126" y="3254375"/>
            <a:ext cx="587375" cy="1588"/>
          </a:xfrm>
          <a:prstGeom prst="line">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25609" name="Text Box 9"/>
          <p:cNvSpPr txBox="1">
            <a:spLocks noChangeArrowheads="1"/>
          </p:cNvSpPr>
          <p:nvPr/>
        </p:nvSpPr>
        <p:spPr bwMode="auto">
          <a:xfrm>
            <a:off x="4265614" y="1739900"/>
            <a:ext cx="733425" cy="273050"/>
          </a:xfrm>
          <a:prstGeom prst="rect">
            <a:avLst/>
          </a:prstGeom>
          <a:solidFill>
            <a:schemeClr val="bg1"/>
          </a:solidFill>
          <a:ln w="28575">
            <a:solidFill>
              <a:schemeClr val="tx1"/>
            </a:solidFill>
            <a:miter lim="800000"/>
            <a:headEnd/>
            <a:tailEnd/>
          </a:ln>
        </p:spPr>
        <p:txBody>
          <a:bodyPr wrap="none" lIns="45720" tIns="0" rIns="45720"/>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r>
              <a:rPr lang="en-US" altLang="en-US" sz="1800">
                <a:solidFill>
                  <a:schemeClr val="tx1"/>
                </a:solidFill>
                <a:latin typeface="Arial" panose="020B0604020202020204" pitchFamily="34" charset="0"/>
              </a:rPr>
              <a:t>JNDI</a:t>
            </a:r>
          </a:p>
        </p:txBody>
      </p:sp>
      <p:sp>
        <p:nvSpPr>
          <p:cNvPr id="25610" name="Text Box 10"/>
          <p:cNvSpPr txBox="1">
            <a:spLocks noChangeArrowheads="1"/>
          </p:cNvSpPr>
          <p:nvPr/>
        </p:nvSpPr>
        <p:spPr bwMode="auto">
          <a:xfrm>
            <a:off x="6540500" y="2700339"/>
            <a:ext cx="2070100" cy="274637"/>
          </a:xfrm>
          <a:prstGeom prst="rect">
            <a:avLst/>
          </a:prstGeom>
          <a:solidFill>
            <a:schemeClr val="bg1"/>
          </a:solidFill>
          <a:ln w="28575">
            <a:solidFill>
              <a:schemeClr val="tx1"/>
            </a:solidFill>
            <a:miter lim="800000"/>
            <a:headEnd/>
            <a:tailEnd/>
          </a:ln>
        </p:spPr>
        <p:txBody>
          <a:bodyPr wrap="none" lIns="45720" tIns="0" rIns="45720"/>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r>
              <a:rPr lang="en-US" altLang="en-US" sz="1800">
                <a:solidFill>
                  <a:schemeClr val="tx1"/>
                </a:solidFill>
                <a:latin typeface="Arial" panose="020B0604020202020204" pitchFamily="34" charset="0"/>
              </a:rPr>
              <a:t>JDBC Conn. Pool</a:t>
            </a:r>
          </a:p>
        </p:txBody>
      </p:sp>
      <p:sp>
        <p:nvSpPr>
          <p:cNvPr id="25611" name="Line 11"/>
          <p:cNvSpPr>
            <a:spLocks noChangeShapeType="1"/>
          </p:cNvSpPr>
          <p:nvPr/>
        </p:nvSpPr>
        <p:spPr bwMode="auto">
          <a:xfrm>
            <a:off x="7935914" y="3606800"/>
            <a:ext cx="1208087" cy="1588"/>
          </a:xfrm>
          <a:prstGeom prst="line">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25612" name="Freeform 12"/>
          <p:cNvSpPr>
            <a:spLocks/>
          </p:cNvSpPr>
          <p:nvPr/>
        </p:nvSpPr>
        <p:spPr bwMode="auto">
          <a:xfrm>
            <a:off x="7935914" y="3221039"/>
            <a:ext cx="1208087" cy="238125"/>
          </a:xfrm>
          <a:custGeom>
            <a:avLst/>
            <a:gdLst>
              <a:gd name="T0" fmla="*/ 0 w 1152"/>
              <a:gd name="T1" fmla="*/ 0 h 144"/>
              <a:gd name="T2" fmla="*/ 2147483646 w 1152"/>
              <a:gd name="T3" fmla="*/ 0 h 144"/>
              <a:gd name="T4" fmla="*/ 2147483646 w 1152"/>
              <a:gd name="T5" fmla="*/ 2147483646 h 144"/>
              <a:gd name="T6" fmla="*/ 2147483646 w 1152"/>
              <a:gd name="T7" fmla="*/ 2147483646 h 144"/>
              <a:gd name="T8" fmla="*/ 0 60000 65536"/>
              <a:gd name="T9" fmla="*/ 0 60000 65536"/>
              <a:gd name="T10" fmla="*/ 0 60000 65536"/>
              <a:gd name="T11" fmla="*/ 0 60000 65536"/>
              <a:gd name="T12" fmla="*/ 0 w 1152"/>
              <a:gd name="T13" fmla="*/ 0 h 144"/>
              <a:gd name="T14" fmla="*/ 1152 w 1152"/>
              <a:gd name="T15" fmla="*/ 144 h 144"/>
            </a:gdLst>
            <a:ahLst/>
            <a:cxnLst>
              <a:cxn ang="T8">
                <a:pos x="T0" y="T1"/>
              </a:cxn>
              <a:cxn ang="T9">
                <a:pos x="T2" y="T3"/>
              </a:cxn>
              <a:cxn ang="T10">
                <a:pos x="T4" y="T5"/>
              </a:cxn>
              <a:cxn ang="T11">
                <a:pos x="T6" y="T7"/>
              </a:cxn>
            </a:cxnLst>
            <a:rect l="T12" t="T13" r="T14" b="T15"/>
            <a:pathLst>
              <a:path w="1152" h="144">
                <a:moveTo>
                  <a:pt x="0" y="0"/>
                </a:moveTo>
                <a:lnTo>
                  <a:pt x="480" y="0"/>
                </a:lnTo>
                <a:lnTo>
                  <a:pt x="480" y="144"/>
                </a:lnTo>
                <a:lnTo>
                  <a:pt x="1152" y="144"/>
                </a:lnTo>
              </a:path>
            </a:pathLst>
          </a:custGeom>
          <a:noFill/>
          <a:ln w="28575">
            <a:solidFill>
              <a:schemeClr val="tx1"/>
            </a:solidFill>
            <a:prstDash val="sysDot"/>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5613" name="Freeform 13"/>
          <p:cNvSpPr>
            <a:spLocks/>
          </p:cNvSpPr>
          <p:nvPr/>
        </p:nvSpPr>
        <p:spPr bwMode="auto">
          <a:xfrm>
            <a:off x="7935914" y="3733801"/>
            <a:ext cx="1208087" cy="315913"/>
          </a:xfrm>
          <a:custGeom>
            <a:avLst/>
            <a:gdLst>
              <a:gd name="T0" fmla="*/ 0 w 1152"/>
              <a:gd name="T1" fmla="*/ 2147483646 h 192"/>
              <a:gd name="T2" fmla="*/ 2147483646 w 1152"/>
              <a:gd name="T3" fmla="*/ 2147483646 h 192"/>
              <a:gd name="T4" fmla="*/ 2147483646 w 1152"/>
              <a:gd name="T5" fmla="*/ 0 h 192"/>
              <a:gd name="T6" fmla="*/ 2147483646 w 1152"/>
              <a:gd name="T7" fmla="*/ 0 h 192"/>
              <a:gd name="T8" fmla="*/ 0 60000 65536"/>
              <a:gd name="T9" fmla="*/ 0 60000 65536"/>
              <a:gd name="T10" fmla="*/ 0 60000 65536"/>
              <a:gd name="T11" fmla="*/ 0 60000 65536"/>
              <a:gd name="T12" fmla="*/ 0 w 1152"/>
              <a:gd name="T13" fmla="*/ 0 h 192"/>
              <a:gd name="T14" fmla="*/ 1152 w 1152"/>
              <a:gd name="T15" fmla="*/ 192 h 192"/>
            </a:gdLst>
            <a:ahLst/>
            <a:cxnLst>
              <a:cxn ang="T8">
                <a:pos x="T0" y="T1"/>
              </a:cxn>
              <a:cxn ang="T9">
                <a:pos x="T2" y="T3"/>
              </a:cxn>
              <a:cxn ang="T10">
                <a:pos x="T4" y="T5"/>
              </a:cxn>
              <a:cxn ang="T11">
                <a:pos x="T6" y="T7"/>
              </a:cxn>
            </a:cxnLst>
            <a:rect l="T12" t="T13" r="T14" b="T15"/>
            <a:pathLst>
              <a:path w="1152" h="192">
                <a:moveTo>
                  <a:pt x="0" y="192"/>
                </a:moveTo>
                <a:lnTo>
                  <a:pt x="384" y="192"/>
                </a:lnTo>
                <a:lnTo>
                  <a:pt x="384" y="0"/>
                </a:lnTo>
                <a:lnTo>
                  <a:pt x="1152" y="0"/>
                </a:lnTo>
              </a:path>
            </a:pathLst>
          </a:custGeom>
          <a:noFill/>
          <a:ln w="28575">
            <a:solidFill>
              <a:schemeClr val="tx1"/>
            </a:solidFill>
            <a:prstDash val="dash"/>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5614" name="Freeform 14"/>
          <p:cNvSpPr>
            <a:spLocks/>
          </p:cNvSpPr>
          <p:nvPr/>
        </p:nvSpPr>
        <p:spPr bwMode="auto">
          <a:xfrm>
            <a:off x="7935914" y="3860801"/>
            <a:ext cx="1208087" cy="633413"/>
          </a:xfrm>
          <a:custGeom>
            <a:avLst/>
            <a:gdLst>
              <a:gd name="T0" fmla="*/ 0 w 1152"/>
              <a:gd name="T1" fmla="*/ 2147483646 h 384"/>
              <a:gd name="T2" fmla="*/ 2147483646 w 1152"/>
              <a:gd name="T3" fmla="*/ 2147483646 h 384"/>
              <a:gd name="T4" fmla="*/ 2147483646 w 1152"/>
              <a:gd name="T5" fmla="*/ 0 h 384"/>
              <a:gd name="T6" fmla="*/ 2147483646 w 1152"/>
              <a:gd name="T7" fmla="*/ 0 h 384"/>
              <a:gd name="T8" fmla="*/ 0 60000 65536"/>
              <a:gd name="T9" fmla="*/ 0 60000 65536"/>
              <a:gd name="T10" fmla="*/ 0 60000 65536"/>
              <a:gd name="T11" fmla="*/ 0 60000 65536"/>
              <a:gd name="T12" fmla="*/ 0 w 1152"/>
              <a:gd name="T13" fmla="*/ 0 h 384"/>
              <a:gd name="T14" fmla="*/ 1152 w 1152"/>
              <a:gd name="T15" fmla="*/ 384 h 384"/>
            </a:gdLst>
            <a:ahLst/>
            <a:cxnLst>
              <a:cxn ang="T8">
                <a:pos x="T0" y="T1"/>
              </a:cxn>
              <a:cxn ang="T9">
                <a:pos x="T2" y="T3"/>
              </a:cxn>
              <a:cxn ang="T10">
                <a:pos x="T4" y="T5"/>
              </a:cxn>
              <a:cxn ang="T11">
                <a:pos x="T6" y="T7"/>
              </a:cxn>
            </a:cxnLst>
            <a:rect l="T12" t="T13" r="T14" b="T15"/>
            <a:pathLst>
              <a:path w="1152" h="384">
                <a:moveTo>
                  <a:pt x="0" y="384"/>
                </a:moveTo>
                <a:lnTo>
                  <a:pt x="480" y="384"/>
                </a:lnTo>
                <a:lnTo>
                  <a:pt x="480" y="0"/>
                </a:lnTo>
                <a:lnTo>
                  <a:pt x="1152" y="0"/>
                </a:lnTo>
              </a:path>
            </a:pathLst>
          </a:custGeom>
          <a:noFill/>
          <a:ln w="28575">
            <a:solidFill>
              <a:schemeClr val="tx1"/>
            </a:solidFill>
            <a:prstDash val="dash"/>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5615" name="Rectangle 15"/>
          <p:cNvSpPr>
            <a:spLocks noChangeArrowheads="1"/>
          </p:cNvSpPr>
          <p:nvPr/>
        </p:nvSpPr>
        <p:spPr bwMode="auto">
          <a:xfrm>
            <a:off x="6694489" y="3070226"/>
            <a:ext cx="1241425" cy="277813"/>
          </a:xfrm>
          <a:prstGeom prst="rect">
            <a:avLst/>
          </a:prstGeom>
          <a:solidFill>
            <a:schemeClr val="bg1"/>
          </a:solidFill>
          <a:ln w="28575">
            <a:solidFill>
              <a:schemeClr val="tx1"/>
            </a:solidFill>
            <a:prstDash val="sysDot"/>
            <a:miter lim="800000"/>
            <a:headEnd/>
            <a:tailEnd/>
          </a:ln>
        </p:spPr>
        <p:txBody>
          <a:bodyPr wrap="none" lIns="45720" rIns="4572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u="sng">
                <a:solidFill>
                  <a:schemeClr val="tx1"/>
                </a:solidFill>
                <a:latin typeface="Arial" panose="020B0604020202020204" pitchFamily="34" charset="0"/>
                <a:cs typeface="Arial" panose="020B0604020202020204" pitchFamily="34" charset="0"/>
              </a:rPr>
              <a:t>: Connection</a:t>
            </a:r>
          </a:p>
        </p:txBody>
      </p:sp>
      <p:sp>
        <p:nvSpPr>
          <p:cNvPr id="25616" name="Rectangle 16"/>
          <p:cNvSpPr>
            <a:spLocks noChangeArrowheads="1"/>
          </p:cNvSpPr>
          <p:nvPr/>
        </p:nvSpPr>
        <p:spPr bwMode="auto">
          <a:xfrm>
            <a:off x="6694489" y="3459164"/>
            <a:ext cx="1241425" cy="276225"/>
          </a:xfrm>
          <a:prstGeom prst="rect">
            <a:avLst/>
          </a:prstGeom>
          <a:solidFill>
            <a:srgbClr val="CDDFF3"/>
          </a:solidFill>
          <a:ln w="28575">
            <a:solidFill>
              <a:schemeClr val="tx1"/>
            </a:solidFill>
            <a:miter lim="800000"/>
            <a:headEnd/>
            <a:tailEnd/>
          </a:ln>
        </p:spPr>
        <p:txBody>
          <a:bodyPr wrap="none" lIns="45720" rIns="4572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u="sng">
                <a:solidFill>
                  <a:schemeClr val="tx1"/>
                </a:solidFill>
                <a:latin typeface="Arial" panose="020B0604020202020204" pitchFamily="34" charset="0"/>
                <a:cs typeface="Arial" panose="020B0604020202020204" pitchFamily="34" charset="0"/>
              </a:rPr>
              <a:t>: Connection</a:t>
            </a:r>
          </a:p>
        </p:txBody>
      </p:sp>
      <p:sp>
        <p:nvSpPr>
          <p:cNvPr id="25617" name="Rectangle 17"/>
          <p:cNvSpPr>
            <a:spLocks noChangeArrowheads="1"/>
          </p:cNvSpPr>
          <p:nvPr/>
        </p:nvSpPr>
        <p:spPr bwMode="auto">
          <a:xfrm>
            <a:off x="6694489" y="3902076"/>
            <a:ext cx="1241425" cy="277813"/>
          </a:xfrm>
          <a:prstGeom prst="rect">
            <a:avLst/>
          </a:prstGeom>
          <a:solidFill>
            <a:schemeClr val="bg1"/>
          </a:solidFill>
          <a:ln w="28575">
            <a:solidFill>
              <a:schemeClr val="tx1"/>
            </a:solidFill>
            <a:miter lim="800000"/>
            <a:headEnd/>
            <a:tailEnd/>
          </a:ln>
        </p:spPr>
        <p:txBody>
          <a:bodyPr wrap="none" lIns="45720" rIns="4572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u="sng">
                <a:solidFill>
                  <a:schemeClr val="tx1"/>
                </a:solidFill>
                <a:latin typeface="Arial" panose="020B0604020202020204" pitchFamily="34" charset="0"/>
                <a:cs typeface="Arial" panose="020B0604020202020204" pitchFamily="34" charset="0"/>
              </a:rPr>
              <a:t>: Connection</a:t>
            </a:r>
          </a:p>
        </p:txBody>
      </p:sp>
      <p:sp>
        <p:nvSpPr>
          <p:cNvPr id="25618" name="Rectangle 18"/>
          <p:cNvSpPr>
            <a:spLocks noChangeArrowheads="1"/>
          </p:cNvSpPr>
          <p:nvPr/>
        </p:nvSpPr>
        <p:spPr bwMode="auto">
          <a:xfrm>
            <a:off x="6694489" y="4346576"/>
            <a:ext cx="1241425" cy="276225"/>
          </a:xfrm>
          <a:prstGeom prst="rect">
            <a:avLst/>
          </a:prstGeom>
          <a:solidFill>
            <a:schemeClr val="bg1"/>
          </a:solidFill>
          <a:ln w="28575">
            <a:solidFill>
              <a:schemeClr val="tx1"/>
            </a:solidFill>
            <a:miter lim="800000"/>
            <a:headEnd/>
            <a:tailEnd/>
          </a:ln>
        </p:spPr>
        <p:txBody>
          <a:bodyPr wrap="none" lIns="45720" rIns="4572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u="sng">
                <a:solidFill>
                  <a:schemeClr val="tx1"/>
                </a:solidFill>
                <a:latin typeface="Arial" panose="020B0604020202020204" pitchFamily="34" charset="0"/>
                <a:cs typeface="Arial" panose="020B0604020202020204" pitchFamily="34" charset="0"/>
              </a:rPr>
              <a:t>: Connection</a:t>
            </a:r>
          </a:p>
        </p:txBody>
      </p:sp>
      <p:sp>
        <p:nvSpPr>
          <p:cNvPr id="25619" name="Text Box 19"/>
          <p:cNvSpPr txBox="1">
            <a:spLocks noChangeArrowheads="1"/>
          </p:cNvSpPr>
          <p:nvPr/>
        </p:nvSpPr>
        <p:spPr bwMode="auto">
          <a:xfrm>
            <a:off x="6540500" y="5214939"/>
            <a:ext cx="2070100" cy="592137"/>
          </a:xfrm>
          <a:prstGeom prst="rect">
            <a:avLst/>
          </a:prstGeom>
          <a:solidFill>
            <a:schemeClr val="bg1"/>
          </a:solidFill>
          <a:ln w="28575">
            <a:solidFill>
              <a:schemeClr val="tx1"/>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endParaRPr lang="en-GB" altLang="en-US" sz="1800">
              <a:solidFill>
                <a:srgbClr val="666666"/>
              </a:solidFill>
              <a:latin typeface="Arial Narrow" panose="020B0606020202030204" pitchFamily="34" charset="0"/>
            </a:endParaRPr>
          </a:p>
        </p:txBody>
      </p:sp>
      <p:sp>
        <p:nvSpPr>
          <p:cNvPr id="25620" name="Text Box 20"/>
          <p:cNvSpPr txBox="1">
            <a:spLocks noChangeArrowheads="1"/>
          </p:cNvSpPr>
          <p:nvPr/>
        </p:nvSpPr>
        <p:spPr bwMode="auto">
          <a:xfrm>
            <a:off x="6540500" y="4940300"/>
            <a:ext cx="2070100" cy="274638"/>
          </a:xfrm>
          <a:prstGeom prst="rect">
            <a:avLst/>
          </a:prstGeom>
          <a:solidFill>
            <a:schemeClr val="bg1"/>
          </a:solidFill>
          <a:ln w="28575">
            <a:solidFill>
              <a:schemeClr val="tx1"/>
            </a:solidFill>
            <a:miter lim="800000"/>
            <a:headEnd/>
            <a:tailEnd/>
          </a:ln>
        </p:spPr>
        <p:txBody>
          <a:bodyPr wrap="none" lIns="45720" tIns="0" rIns="45720"/>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r>
              <a:rPr lang="en-US" altLang="en-US" sz="1800">
                <a:solidFill>
                  <a:schemeClr val="tx1"/>
                </a:solidFill>
                <a:latin typeface="Arial" panose="020B0604020202020204" pitchFamily="34" charset="0"/>
              </a:rPr>
              <a:t>JDBC Conn. Pool</a:t>
            </a:r>
          </a:p>
        </p:txBody>
      </p:sp>
      <p:sp>
        <p:nvSpPr>
          <p:cNvPr id="25621" name="Text Box 21"/>
          <p:cNvSpPr txBox="1">
            <a:spLocks noChangeArrowheads="1"/>
          </p:cNvSpPr>
          <p:nvPr/>
        </p:nvSpPr>
        <p:spPr bwMode="auto">
          <a:xfrm>
            <a:off x="6540500" y="2012951"/>
            <a:ext cx="2070100" cy="614363"/>
          </a:xfrm>
          <a:prstGeom prst="rect">
            <a:avLst/>
          </a:prstGeom>
          <a:solidFill>
            <a:schemeClr val="bg1"/>
          </a:solidFill>
          <a:ln w="28575">
            <a:solidFill>
              <a:schemeClr val="tx1"/>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endParaRPr lang="en-GB" altLang="en-US" sz="1800">
              <a:solidFill>
                <a:srgbClr val="666666"/>
              </a:solidFill>
              <a:latin typeface="Arial Narrow" panose="020B0606020202030204" pitchFamily="34" charset="0"/>
            </a:endParaRPr>
          </a:p>
        </p:txBody>
      </p:sp>
      <p:sp>
        <p:nvSpPr>
          <p:cNvPr id="25622" name="Text Box 22"/>
          <p:cNvSpPr txBox="1">
            <a:spLocks noChangeArrowheads="1"/>
          </p:cNvSpPr>
          <p:nvPr/>
        </p:nvSpPr>
        <p:spPr bwMode="auto">
          <a:xfrm>
            <a:off x="6540500" y="1739900"/>
            <a:ext cx="2070100" cy="273050"/>
          </a:xfrm>
          <a:prstGeom prst="rect">
            <a:avLst/>
          </a:prstGeom>
          <a:solidFill>
            <a:schemeClr val="bg1"/>
          </a:solidFill>
          <a:ln w="28575">
            <a:solidFill>
              <a:schemeClr val="tx1"/>
            </a:solidFill>
            <a:miter lim="800000"/>
            <a:headEnd/>
            <a:tailEnd/>
          </a:ln>
        </p:spPr>
        <p:txBody>
          <a:bodyPr wrap="none" lIns="45720" tIns="0" rIns="45720"/>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spcBef>
                <a:spcPct val="50000"/>
              </a:spcBef>
              <a:spcAft>
                <a:spcPct val="0"/>
              </a:spcAft>
              <a:buClrTx/>
              <a:buFontTx/>
              <a:buNone/>
            </a:pPr>
            <a:r>
              <a:rPr lang="en-US" altLang="en-US" sz="1800">
                <a:solidFill>
                  <a:schemeClr val="tx1"/>
                </a:solidFill>
                <a:latin typeface="Arial" panose="020B0604020202020204" pitchFamily="34" charset="0"/>
              </a:rPr>
              <a:t>JDBC Conn. Pool</a:t>
            </a:r>
          </a:p>
        </p:txBody>
      </p:sp>
      <p:sp>
        <p:nvSpPr>
          <p:cNvPr id="25623" name="Line 23"/>
          <p:cNvSpPr>
            <a:spLocks noChangeShapeType="1"/>
          </p:cNvSpPr>
          <p:nvPr/>
        </p:nvSpPr>
        <p:spPr bwMode="auto">
          <a:xfrm>
            <a:off x="5953126" y="5510214"/>
            <a:ext cx="587375" cy="3175"/>
          </a:xfrm>
          <a:prstGeom prst="line">
            <a:avLst/>
          </a:prstGeom>
          <a:noFill/>
          <a:ln w="28575">
            <a:solidFill>
              <a:schemeClr val="tx1"/>
            </a:solidFill>
            <a:prstDash val="dash"/>
            <a:round/>
            <a:headEnd type="triangl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25624" name="Line 24"/>
          <p:cNvSpPr>
            <a:spLocks noChangeShapeType="1"/>
          </p:cNvSpPr>
          <p:nvPr/>
        </p:nvSpPr>
        <p:spPr bwMode="auto">
          <a:xfrm>
            <a:off x="5953126" y="2403476"/>
            <a:ext cx="587375" cy="3175"/>
          </a:xfrm>
          <a:prstGeom prst="line">
            <a:avLst/>
          </a:prstGeom>
          <a:noFill/>
          <a:ln w="28575">
            <a:solidFill>
              <a:schemeClr val="tx1"/>
            </a:solidFill>
            <a:prstDash val="dash"/>
            <a:round/>
            <a:headEnd type="triangle" w="sm" len="sm"/>
            <a:tailEnd type="triangle" w="sm" len="sm"/>
          </a:ln>
          <a:extLst>
            <a:ext uri="{909E8E84-426E-40DD-AFC4-6F175D3DCCD1}">
              <a14:hiddenFill xmlns:a14="http://schemas.microsoft.com/office/drawing/2010/main">
                <a:noFill/>
              </a14:hiddenFill>
            </a:ext>
          </a:extLst>
        </p:spPr>
        <p:txBody>
          <a:bodyPr/>
          <a:lstStyle/>
          <a:p>
            <a:endParaRPr lang="en-IN"/>
          </a:p>
        </p:txBody>
      </p:sp>
      <p:sp>
        <p:nvSpPr>
          <p:cNvPr id="25625" name="Rectangle 26"/>
          <p:cNvSpPr>
            <a:spLocks noChangeArrowheads="1"/>
          </p:cNvSpPr>
          <p:nvPr/>
        </p:nvSpPr>
        <p:spPr bwMode="auto">
          <a:xfrm>
            <a:off x="4522789" y="3144838"/>
            <a:ext cx="1430337" cy="442912"/>
          </a:xfrm>
          <a:prstGeom prst="rect">
            <a:avLst/>
          </a:prstGeom>
          <a:solidFill>
            <a:srgbClr val="CDDFF3"/>
          </a:solidFill>
          <a:ln w="28575">
            <a:solidFill>
              <a:schemeClr val="tx1"/>
            </a:solidFill>
            <a:miter lim="800000"/>
            <a:headEnd/>
            <a:tailEnd/>
          </a:ln>
        </p:spPr>
        <p:txBody>
          <a:bodyPr wrap="none" lIns="45720" tIns="228600" rIns="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 DataSourceB</a:t>
            </a:r>
            <a:br>
              <a:rPr lang="en-US" altLang="en-US" sz="1600">
                <a:solidFill>
                  <a:schemeClr val="tx1"/>
                </a:solidFill>
                <a:latin typeface="Arial" panose="020B0604020202020204" pitchFamily="34" charset="0"/>
                <a:cs typeface="Arial" panose="020B0604020202020204" pitchFamily="34" charset="0"/>
              </a:rPr>
            </a:br>
            <a:endParaRPr lang="en-US" altLang="en-US" sz="1600">
              <a:solidFill>
                <a:schemeClr val="tx1"/>
              </a:solidFill>
              <a:latin typeface="Arial" panose="020B0604020202020204" pitchFamily="34" charset="0"/>
              <a:cs typeface="Arial" panose="020B0604020202020204" pitchFamily="34" charset="0"/>
            </a:endParaRPr>
          </a:p>
        </p:txBody>
      </p:sp>
      <p:sp>
        <p:nvSpPr>
          <p:cNvPr id="25626" name="Rectangle 30"/>
          <p:cNvSpPr>
            <a:spLocks noChangeArrowheads="1"/>
          </p:cNvSpPr>
          <p:nvPr/>
        </p:nvSpPr>
        <p:spPr bwMode="auto">
          <a:xfrm>
            <a:off x="2362200" y="3294064"/>
            <a:ext cx="1462088" cy="592137"/>
          </a:xfrm>
          <a:prstGeom prst="rect">
            <a:avLst/>
          </a:prstGeom>
          <a:solidFill>
            <a:srgbClr val="CDDFF3"/>
          </a:solidFill>
          <a:ln w="28575">
            <a:solidFill>
              <a:schemeClr val="tx1"/>
            </a:solidFill>
            <a:miter lim="800000"/>
            <a:headEnd/>
            <a:tailEnd/>
          </a:ln>
        </p:spPr>
        <p:txBody>
          <a:bodyPr wrap="none" lIns="45720" rIns="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Application</a:t>
            </a:r>
          </a:p>
        </p:txBody>
      </p:sp>
      <p:grpSp>
        <p:nvGrpSpPr>
          <p:cNvPr id="25627" name="Group 34"/>
          <p:cNvGrpSpPr>
            <a:grpSpLocks/>
          </p:cNvGrpSpPr>
          <p:nvPr/>
        </p:nvGrpSpPr>
        <p:grpSpPr bwMode="auto">
          <a:xfrm>
            <a:off x="4608514" y="3587751"/>
            <a:ext cx="147637" cy="296863"/>
            <a:chOff x="3124" y="2304"/>
            <a:chExt cx="96" cy="192"/>
          </a:xfrm>
        </p:grpSpPr>
        <p:sp>
          <p:nvSpPr>
            <p:cNvPr id="25639" name="Oval 35"/>
            <p:cNvSpPr>
              <a:spLocks noChangeArrowheads="1"/>
            </p:cNvSpPr>
            <p:nvPr/>
          </p:nvSpPr>
          <p:spPr bwMode="auto">
            <a:xfrm>
              <a:off x="3124" y="2400"/>
              <a:ext cx="96" cy="96"/>
            </a:xfrm>
            <a:prstGeom prst="ellipse">
              <a:avLst/>
            </a:prstGeom>
            <a:solidFill>
              <a:srgbClr val="CDDFF3"/>
            </a:solidFill>
            <a:ln w="28575">
              <a:solidFill>
                <a:schemeClr val="tx1"/>
              </a:solidFill>
              <a:round/>
              <a:headEnd/>
              <a:tailEnd/>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5640" name="Line 36"/>
            <p:cNvSpPr>
              <a:spLocks noChangeShapeType="1"/>
            </p:cNvSpPr>
            <p:nvPr/>
          </p:nvSpPr>
          <p:spPr bwMode="auto">
            <a:xfrm flipH="1">
              <a:off x="3168" y="2304"/>
              <a:ext cx="0"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5628" name="Rectangle 38"/>
          <p:cNvSpPr>
            <a:spLocks noChangeArrowheads="1"/>
          </p:cNvSpPr>
          <p:nvPr/>
        </p:nvSpPr>
        <p:spPr bwMode="auto">
          <a:xfrm>
            <a:off x="4522789" y="5289551"/>
            <a:ext cx="1430337" cy="4429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5720" tIns="228600" rIns="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 DataSourceC</a:t>
            </a:r>
            <a:br>
              <a:rPr lang="en-US" altLang="en-US" sz="1600">
                <a:solidFill>
                  <a:schemeClr val="tx1"/>
                </a:solidFill>
                <a:latin typeface="Arial" panose="020B0604020202020204" pitchFamily="34" charset="0"/>
                <a:cs typeface="Arial" panose="020B0604020202020204" pitchFamily="34" charset="0"/>
              </a:rPr>
            </a:br>
            <a:endParaRPr lang="en-US" altLang="en-US" sz="1600">
              <a:solidFill>
                <a:schemeClr val="tx1"/>
              </a:solidFill>
              <a:latin typeface="Arial" panose="020B0604020202020204" pitchFamily="34" charset="0"/>
              <a:cs typeface="Arial" panose="020B0604020202020204" pitchFamily="34" charset="0"/>
            </a:endParaRPr>
          </a:p>
        </p:txBody>
      </p:sp>
      <p:sp>
        <p:nvSpPr>
          <p:cNvPr id="25629" name="Rectangle 43"/>
          <p:cNvSpPr>
            <a:spLocks noChangeArrowheads="1"/>
          </p:cNvSpPr>
          <p:nvPr/>
        </p:nvSpPr>
        <p:spPr bwMode="auto">
          <a:xfrm>
            <a:off x="4522789" y="2182813"/>
            <a:ext cx="1430337" cy="444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5720" tIns="228600" rIns="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 DataSourceA</a:t>
            </a:r>
            <a:br>
              <a:rPr lang="en-US" altLang="en-US" sz="1600">
                <a:solidFill>
                  <a:schemeClr val="tx1"/>
                </a:solidFill>
                <a:latin typeface="Arial" panose="020B0604020202020204" pitchFamily="34" charset="0"/>
                <a:cs typeface="Arial" panose="020B0604020202020204" pitchFamily="34" charset="0"/>
              </a:rPr>
            </a:br>
            <a:endParaRPr lang="en-US" altLang="en-US" sz="1600">
              <a:solidFill>
                <a:schemeClr val="tx1"/>
              </a:solidFill>
              <a:latin typeface="Arial" panose="020B0604020202020204" pitchFamily="34" charset="0"/>
              <a:cs typeface="Arial" panose="020B0604020202020204" pitchFamily="34" charset="0"/>
            </a:endParaRPr>
          </a:p>
        </p:txBody>
      </p:sp>
      <p:sp>
        <p:nvSpPr>
          <p:cNvPr id="25630" name="Rectangle 47"/>
          <p:cNvSpPr>
            <a:spLocks noChangeArrowheads="1"/>
          </p:cNvSpPr>
          <p:nvPr/>
        </p:nvSpPr>
        <p:spPr bwMode="auto">
          <a:xfrm>
            <a:off x="2362200" y="4179889"/>
            <a:ext cx="1462088" cy="592137"/>
          </a:xfrm>
          <a:prstGeom prst="rect">
            <a:avLst/>
          </a:prstGeom>
          <a:solidFill>
            <a:schemeClr val="bg1"/>
          </a:solidFill>
          <a:ln w="28575">
            <a:solidFill>
              <a:schemeClr val="tx1"/>
            </a:solidFill>
            <a:miter lim="800000"/>
            <a:headEnd/>
            <a:tailEnd/>
          </a:ln>
        </p:spPr>
        <p:txBody>
          <a:bodyPr wrap="none" lIns="45720" rIns="0"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a:spcBef>
                <a:spcPct val="50000"/>
              </a:spcBef>
              <a:spcAft>
                <a:spcPct val="0"/>
              </a:spcAft>
              <a:buClrTx/>
              <a:buFontTx/>
              <a:buNone/>
            </a:pPr>
            <a:r>
              <a:rPr lang="en-US" altLang="en-US" sz="1600">
                <a:solidFill>
                  <a:schemeClr val="tx1"/>
                </a:solidFill>
                <a:latin typeface="Arial" panose="020B0604020202020204" pitchFamily="34" charset="0"/>
                <a:cs typeface="Arial" panose="020B0604020202020204" pitchFamily="34" charset="0"/>
              </a:rPr>
              <a:t> Component</a:t>
            </a:r>
          </a:p>
        </p:txBody>
      </p:sp>
      <p:grpSp>
        <p:nvGrpSpPr>
          <p:cNvPr id="25631" name="Group 51"/>
          <p:cNvGrpSpPr>
            <a:grpSpLocks/>
          </p:cNvGrpSpPr>
          <p:nvPr/>
        </p:nvGrpSpPr>
        <p:grpSpPr bwMode="auto">
          <a:xfrm>
            <a:off x="4608514" y="5732463"/>
            <a:ext cx="147637" cy="296862"/>
            <a:chOff x="3124" y="2304"/>
            <a:chExt cx="96" cy="192"/>
          </a:xfrm>
        </p:grpSpPr>
        <p:sp>
          <p:nvSpPr>
            <p:cNvPr id="25637" name="Oval 52"/>
            <p:cNvSpPr>
              <a:spLocks noChangeArrowheads="1"/>
            </p:cNvSpPr>
            <p:nvPr/>
          </p:nvSpPr>
          <p:spPr bwMode="auto">
            <a:xfrm>
              <a:off x="3124" y="2400"/>
              <a:ext cx="96" cy="9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5638" name="Line 53"/>
            <p:cNvSpPr>
              <a:spLocks noChangeShapeType="1"/>
            </p:cNvSpPr>
            <p:nvPr/>
          </p:nvSpPr>
          <p:spPr bwMode="auto">
            <a:xfrm flipH="1">
              <a:off x="3168" y="2304"/>
              <a:ext cx="0"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25632" name="Group 54"/>
          <p:cNvGrpSpPr>
            <a:grpSpLocks/>
          </p:cNvGrpSpPr>
          <p:nvPr/>
        </p:nvGrpSpPr>
        <p:grpSpPr bwMode="auto">
          <a:xfrm>
            <a:off x="4608514" y="2627314"/>
            <a:ext cx="147637" cy="295275"/>
            <a:chOff x="3124" y="2304"/>
            <a:chExt cx="96" cy="192"/>
          </a:xfrm>
        </p:grpSpPr>
        <p:sp>
          <p:nvSpPr>
            <p:cNvPr id="25635" name="Oval 55"/>
            <p:cNvSpPr>
              <a:spLocks noChangeArrowheads="1"/>
            </p:cNvSpPr>
            <p:nvPr/>
          </p:nvSpPr>
          <p:spPr bwMode="auto">
            <a:xfrm>
              <a:off x="3124" y="2400"/>
              <a:ext cx="96" cy="9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5636" name="Line 56"/>
            <p:cNvSpPr>
              <a:spLocks noChangeShapeType="1"/>
            </p:cNvSpPr>
            <p:nvPr/>
          </p:nvSpPr>
          <p:spPr bwMode="auto">
            <a:xfrm flipH="1">
              <a:off x="3168" y="2304"/>
              <a:ext cx="0"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5633" name="Line 57"/>
          <p:cNvSpPr>
            <a:spLocks noChangeShapeType="1"/>
          </p:cNvSpPr>
          <p:nvPr/>
        </p:nvSpPr>
        <p:spPr bwMode="auto">
          <a:xfrm>
            <a:off x="3819525" y="3771900"/>
            <a:ext cx="762000" cy="0"/>
          </a:xfrm>
          <a:prstGeom prst="line">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txBody>
          <a:bodyPr wrap="none" anchor="ctr"/>
          <a:lstStyle/>
          <a:p>
            <a:endParaRPr lang="en-IN"/>
          </a:p>
        </p:txBody>
      </p:sp>
      <p:sp>
        <p:nvSpPr>
          <p:cNvPr id="25634" name="Freeform 58"/>
          <p:cNvSpPr>
            <a:spLocks/>
          </p:cNvSpPr>
          <p:nvPr/>
        </p:nvSpPr>
        <p:spPr bwMode="auto">
          <a:xfrm>
            <a:off x="3810000" y="3886200"/>
            <a:ext cx="838200" cy="609600"/>
          </a:xfrm>
          <a:custGeom>
            <a:avLst/>
            <a:gdLst>
              <a:gd name="T0" fmla="*/ 0 w 528"/>
              <a:gd name="T1" fmla="*/ 2147483646 h 384"/>
              <a:gd name="T2" fmla="*/ 2147483646 w 528"/>
              <a:gd name="T3" fmla="*/ 2147483646 h 384"/>
              <a:gd name="T4" fmla="*/ 2147483646 w 528"/>
              <a:gd name="T5" fmla="*/ 0 h 384"/>
              <a:gd name="T6" fmla="*/ 0 60000 65536"/>
              <a:gd name="T7" fmla="*/ 0 60000 65536"/>
              <a:gd name="T8" fmla="*/ 0 60000 65536"/>
              <a:gd name="T9" fmla="*/ 0 w 528"/>
              <a:gd name="T10" fmla="*/ 0 h 384"/>
              <a:gd name="T11" fmla="*/ 528 w 528"/>
              <a:gd name="T12" fmla="*/ 384 h 384"/>
            </a:gdLst>
            <a:ahLst/>
            <a:cxnLst>
              <a:cxn ang="T6">
                <a:pos x="T0" y="T1"/>
              </a:cxn>
              <a:cxn ang="T7">
                <a:pos x="T2" y="T3"/>
              </a:cxn>
              <a:cxn ang="T8">
                <a:pos x="T4" y="T5"/>
              </a:cxn>
            </a:cxnLst>
            <a:rect l="T9" t="T10" r="T11" b="T12"/>
            <a:pathLst>
              <a:path w="528" h="384">
                <a:moveTo>
                  <a:pt x="0" y="384"/>
                </a:moveTo>
                <a:lnTo>
                  <a:pt x="528" y="384"/>
                </a:lnTo>
                <a:lnTo>
                  <a:pt x="528" y="0"/>
                </a:lnTo>
              </a:path>
            </a:pathLst>
          </a:custGeom>
          <a:noFill/>
          <a:ln w="28575">
            <a:solidFill>
              <a:schemeClr val="tx1"/>
            </a:solidFill>
            <a:prstDash val="dash"/>
            <a:round/>
            <a:headEnd type="triangl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Tree>
    <p:extLst>
      <p:ext uri="{BB962C8B-B14F-4D97-AF65-F5344CB8AC3E}">
        <p14:creationId xmlns:p14="http://schemas.microsoft.com/office/powerpoint/2010/main" val="1277773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t>Benefits of Connection Pools</a:t>
            </a:r>
          </a:p>
        </p:txBody>
      </p:sp>
      <p:sp>
        <p:nvSpPr>
          <p:cNvPr id="27651" name="Rectangle 3"/>
          <p:cNvSpPr>
            <a:spLocks noGrp="1" noChangeArrowheads="1"/>
          </p:cNvSpPr>
          <p:nvPr>
            <p:ph idx="1"/>
          </p:nvPr>
        </p:nvSpPr>
        <p:spPr>
          <a:xfrm>
            <a:off x="1064654" y="1066800"/>
            <a:ext cx="8285408" cy="4635790"/>
          </a:xfrm>
        </p:spPr>
        <p:txBody>
          <a:bodyPr>
            <a:noAutofit/>
          </a:bodyPr>
          <a:lstStyle/>
          <a:p>
            <a:pPr lvl="2" eaLnBrk="1" hangingPunct="1"/>
            <a:r>
              <a:rPr lang="en-US" altLang="en-US" dirty="0"/>
              <a:t>Connection time and overhead are saved by using an existing database connection.</a:t>
            </a:r>
          </a:p>
          <a:p>
            <a:pPr lvl="2" eaLnBrk="1" hangingPunct="1"/>
            <a:endParaRPr lang="en-US" altLang="en-US" dirty="0"/>
          </a:p>
          <a:p>
            <a:pPr lvl="2" eaLnBrk="1" hangingPunct="1"/>
            <a:r>
              <a:rPr lang="en-US" altLang="en-US" dirty="0"/>
              <a:t>It facilitates easier management because connection information is managed in one location.</a:t>
            </a:r>
          </a:p>
          <a:p>
            <a:pPr lvl="2" eaLnBrk="1" hangingPunct="1"/>
            <a:endParaRPr lang="en-US" altLang="en-US" dirty="0"/>
          </a:p>
          <a:p>
            <a:pPr lvl="2" eaLnBrk="1" hangingPunct="1"/>
            <a:r>
              <a:rPr lang="en-US" altLang="en-US" dirty="0"/>
              <a:t>The number of connections to a database can be controlled.</a:t>
            </a:r>
          </a:p>
          <a:p>
            <a:pPr lvl="2" eaLnBrk="1" hangingPunct="1"/>
            <a:endParaRPr lang="en-US" altLang="en-US" dirty="0"/>
          </a:p>
          <a:p>
            <a:pPr lvl="2" eaLnBrk="1" hangingPunct="1"/>
            <a:r>
              <a:rPr lang="en-US" altLang="en-US" dirty="0"/>
              <a:t>The DBMS can be changed without the application developer having to modify the underlying code.</a:t>
            </a:r>
          </a:p>
          <a:p>
            <a:pPr lvl="2" eaLnBrk="1" hangingPunct="1"/>
            <a:endParaRPr lang="en-US" altLang="en-US" dirty="0"/>
          </a:p>
          <a:p>
            <a:pPr lvl="2" eaLnBrk="1" hangingPunct="1"/>
            <a:r>
              <a:rPr lang="en-US" altLang="en-US" dirty="0"/>
              <a:t>A connection pool allows an application to “borrow” a DBMS connection.</a:t>
            </a:r>
          </a:p>
        </p:txBody>
      </p:sp>
    </p:spTree>
    <p:extLst>
      <p:ext uri="{BB962C8B-B14F-4D97-AF65-F5344CB8AC3E}">
        <p14:creationId xmlns:p14="http://schemas.microsoft.com/office/powerpoint/2010/main" val="1414031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Grp="1" noChangeArrowheads="1"/>
          </p:cNvSpPr>
          <p:nvPr>
            <p:ph type="title"/>
          </p:nvPr>
        </p:nvSpPr>
        <p:spPr/>
        <p:txBody>
          <a:bodyPr/>
          <a:lstStyle/>
          <a:p>
            <a:pPr eaLnBrk="1" hangingPunct="1"/>
            <a:r>
              <a:rPr lang="en-US" altLang="en-US"/>
              <a:t>How Data Source Connection Pools Are Used</a:t>
            </a:r>
          </a:p>
        </p:txBody>
      </p:sp>
      <p:sp>
        <p:nvSpPr>
          <p:cNvPr id="29699" name="Rectangle 6"/>
          <p:cNvSpPr>
            <a:spLocks noGrp="1" noChangeArrowheads="1"/>
          </p:cNvSpPr>
          <p:nvPr>
            <p:ph idx="1"/>
          </p:nvPr>
        </p:nvSpPr>
        <p:spPr>
          <a:xfrm>
            <a:off x="2133600" y="1295401"/>
            <a:ext cx="7918450" cy="695325"/>
          </a:xfrm>
        </p:spPr>
        <p:txBody>
          <a:bodyPr>
            <a:normAutofit fontScale="77500" lnSpcReduction="20000"/>
          </a:bodyPr>
          <a:lstStyle/>
          <a:p>
            <a:pPr eaLnBrk="1" hangingPunct="1"/>
            <a:r>
              <a:rPr lang="en-US" altLang="en-US"/>
              <a:t>A client retrieves a data source through a JNDI lookup and uses it to obtain a database connection.</a:t>
            </a:r>
          </a:p>
        </p:txBody>
      </p:sp>
      <p:sp>
        <p:nvSpPr>
          <p:cNvPr id="29700" name="Text Box 9"/>
          <p:cNvSpPr txBox="1">
            <a:spLocks noChangeArrowheads="1"/>
          </p:cNvSpPr>
          <p:nvPr/>
        </p:nvSpPr>
        <p:spPr bwMode="auto">
          <a:xfrm>
            <a:off x="4217988" y="2362200"/>
            <a:ext cx="13716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bIns="0">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50000"/>
              </a:spcBef>
              <a:spcAft>
                <a:spcPct val="0"/>
              </a:spcAft>
              <a:buClrTx/>
              <a:buFontTx/>
              <a:buNone/>
            </a:pPr>
            <a:r>
              <a:rPr lang="en-US" altLang="en-US" sz="1600">
                <a:solidFill>
                  <a:schemeClr val="tx1"/>
                </a:solidFill>
                <a:latin typeface="Arial" panose="020B0604020202020204" pitchFamily="34" charset="0"/>
              </a:rPr>
              <a:t>Lookup data source</a:t>
            </a:r>
          </a:p>
        </p:txBody>
      </p:sp>
      <p:sp>
        <p:nvSpPr>
          <p:cNvPr id="29701" name="AutoShape 10"/>
          <p:cNvSpPr>
            <a:spLocks noChangeArrowheads="1"/>
          </p:cNvSpPr>
          <p:nvPr/>
        </p:nvSpPr>
        <p:spPr bwMode="auto">
          <a:xfrm>
            <a:off x="8866188" y="5029200"/>
            <a:ext cx="1066800" cy="990600"/>
          </a:xfrm>
          <a:prstGeom prst="can">
            <a:avLst>
              <a:gd name="adj" fmla="val 25000"/>
            </a:avLst>
          </a:prstGeom>
          <a:solidFill>
            <a:srgbClr val="EDC774"/>
          </a:solidFill>
          <a:ln w="28575">
            <a:solidFill>
              <a:schemeClr val="tx1"/>
            </a:solidFill>
            <a:round/>
            <a:headEnd type="none" w="lg" len="lg"/>
            <a:tailEnd type="none" w="lg" len="lg"/>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0"/>
              </a:spcBef>
              <a:spcAft>
                <a:spcPct val="0"/>
              </a:spcAft>
              <a:buClrTx/>
              <a:buFontTx/>
              <a:buNone/>
            </a:pPr>
            <a:r>
              <a:rPr lang="en-US" altLang="en-US" sz="2000">
                <a:solidFill>
                  <a:schemeClr val="tx1"/>
                </a:solidFill>
                <a:latin typeface="Arial" panose="020B0604020202020204" pitchFamily="34" charset="0"/>
              </a:rPr>
              <a:t>DBMS</a:t>
            </a:r>
          </a:p>
        </p:txBody>
      </p:sp>
      <p:sp>
        <p:nvSpPr>
          <p:cNvPr id="29702" name="Text Box 12"/>
          <p:cNvSpPr txBox="1">
            <a:spLocks noChangeArrowheads="1"/>
          </p:cNvSpPr>
          <p:nvPr/>
        </p:nvSpPr>
        <p:spPr bwMode="auto">
          <a:xfrm>
            <a:off x="4281488" y="3276601"/>
            <a:ext cx="22860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bIns="0">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50000"/>
              </a:spcBef>
              <a:spcAft>
                <a:spcPct val="0"/>
              </a:spcAft>
              <a:buClrTx/>
              <a:buFontTx/>
              <a:buNone/>
            </a:pPr>
            <a:r>
              <a:rPr lang="en-US" altLang="en-US" sz="1600">
                <a:solidFill>
                  <a:schemeClr val="tx1"/>
                </a:solidFill>
                <a:latin typeface="Arial" panose="020B0604020202020204" pitchFamily="34" charset="0"/>
              </a:rPr>
              <a:t>Return data source</a:t>
            </a:r>
          </a:p>
        </p:txBody>
      </p:sp>
      <p:sp>
        <p:nvSpPr>
          <p:cNvPr id="29703" name="Oval 13"/>
          <p:cNvSpPr>
            <a:spLocks noChangeArrowheads="1"/>
          </p:cNvSpPr>
          <p:nvPr/>
        </p:nvSpPr>
        <p:spPr bwMode="auto">
          <a:xfrm>
            <a:off x="4191000" y="3276600"/>
            <a:ext cx="228600" cy="228600"/>
          </a:xfrm>
          <a:prstGeom prst="ellipse">
            <a:avLst/>
          </a:prstGeom>
          <a:solidFill>
            <a:schemeClr val="accent1"/>
          </a:solidFill>
          <a:ln w="28575">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04" name="Text Box 14"/>
          <p:cNvSpPr txBox="1">
            <a:spLocks noChangeArrowheads="1"/>
          </p:cNvSpPr>
          <p:nvPr/>
        </p:nvSpPr>
        <p:spPr bwMode="auto">
          <a:xfrm>
            <a:off x="4827588" y="4064001"/>
            <a:ext cx="20955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bIns="0">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50000"/>
              </a:spcBef>
              <a:spcAft>
                <a:spcPct val="0"/>
              </a:spcAft>
              <a:buClrTx/>
              <a:buFontTx/>
              <a:buNone/>
            </a:pPr>
            <a:r>
              <a:rPr lang="en-US" altLang="en-US" sz="1600">
                <a:solidFill>
                  <a:schemeClr val="tx1"/>
                </a:solidFill>
                <a:latin typeface="Courier New" panose="02070309020205020404" pitchFamily="49" charset="0"/>
              </a:rPr>
              <a:t>getConnection()</a:t>
            </a:r>
          </a:p>
        </p:txBody>
      </p:sp>
      <p:sp>
        <p:nvSpPr>
          <p:cNvPr id="29705" name="Text Box 19"/>
          <p:cNvSpPr txBox="1">
            <a:spLocks noChangeArrowheads="1"/>
          </p:cNvSpPr>
          <p:nvPr/>
        </p:nvSpPr>
        <p:spPr bwMode="auto">
          <a:xfrm>
            <a:off x="4548188" y="4648201"/>
            <a:ext cx="21336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bIns="0">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50000"/>
              </a:spcBef>
              <a:spcAft>
                <a:spcPct val="0"/>
              </a:spcAft>
              <a:buClrTx/>
              <a:buFontTx/>
              <a:buNone/>
            </a:pPr>
            <a:r>
              <a:rPr lang="en-US" altLang="en-US" sz="1600">
                <a:solidFill>
                  <a:schemeClr val="tx1"/>
                </a:solidFill>
                <a:latin typeface="Arial" panose="020B0604020202020204" pitchFamily="34" charset="0"/>
              </a:rPr>
              <a:t>Return connection</a:t>
            </a:r>
          </a:p>
        </p:txBody>
      </p:sp>
      <p:grpSp>
        <p:nvGrpSpPr>
          <p:cNvPr id="29706" name="Group 20"/>
          <p:cNvGrpSpPr>
            <a:grpSpLocks/>
          </p:cNvGrpSpPr>
          <p:nvPr/>
        </p:nvGrpSpPr>
        <p:grpSpPr bwMode="auto">
          <a:xfrm>
            <a:off x="4448176" y="4724400"/>
            <a:ext cx="193675" cy="177800"/>
            <a:chOff x="1681" y="3185"/>
            <a:chExt cx="122" cy="112"/>
          </a:xfrm>
        </p:grpSpPr>
        <p:sp>
          <p:nvSpPr>
            <p:cNvPr id="29759" name="Freeform 21"/>
            <p:cNvSpPr>
              <a:spLocks/>
            </p:cNvSpPr>
            <p:nvPr/>
          </p:nvSpPr>
          <p:spPr bwMode="auto">
            <a:xfrm>
              <a:off x="1681" y="3185"/>
              <a:ext cx="122" cy="112"/>
            </a:xfrm>
            <a:custGeom>
              <a:avLst/>
              <a:gdLst>
                <a:gd name="T0" fmla="*/ 0 w 485"/>
                <a:gd name="T1" fmla="*/ 0 h 449"/>
                <a:gd name="T2" fmla="*/ 1 w 485"/>
                <a:gd name="T3" fmla="*/ 0 h 449"/>
                <a:gd name="T4" fmla="*/ 1 w 485"/>
                <a:gd name="T5" fmla="*/ 0 h 449"/>
                <a:gd name="T6" fmla="*/ 1 w 485"/>
                <a:gd name="T7" fmla="*/ 0 h 449"/>
                <a:gd name="T8" fmla="*/ 1 w 485"/>
                <a:gd name="T9" fmla="*/ 0 h 449"/>
                <a:gd name="T10" fmla="*/ 1 w 485"/>
                <a:gd name="T11" fmla="*/ 0 h 449"/>
                <a:gd name="T12" fmla="*/ 1 w 485"/>
                <a:gd name="T13" fmla="*/ 0 h 449"/>
                <a:gd name="T14" fmla="*/ 0 w 485"/>
                <a:gd name="T15" fmla="*/ 0 h 449"/>
                <a:gd name="T16" fmla="*/ 0 w 485"/>
                <a:gd name="T17" fmla="*/ 0 h 4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5"/>
                <a:gd name="T28" fmla="*/ 0 h 449"/>
                <a:gd name="T29" fmla="*/ 485 w 485"/>
                <a:gd name="T30" fmla="*/ 449 h 4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5" h="449">
                  <a:moveTo>
                    <a:pt x="0" y="361"/>
                  </a:moveTo>
                  <a:lnTo>
                    <a:pt x="397" y="361"/>
                  </a:lnTo>
                  <a:lnTo>
                    <a:pt x="397" y="0"/>
                  </a:lnTo>
                  <a:lnTo>
                    <a:pt x="485" y="88"/>
                  </a:lnTo>
                  <a:lnTo>
                    <a:pt x="485" y="449"/>
                  </a:lnTo>
                  <a:lnTo>
                    <a:pt x="397" y="361"/>
                  </a:lnTo>
                  <a:lnTo>
                    <a:pt x="485" y="449"/>
                  </a:lnTo>
                  <a:lnTo>
                    <a:pt x="88" y="449"/>
                  </a:lnTo>
                  <a:lnTo>
                    <a:pt x="0" y="361"/>
                  </a:lnTo>
                  <a:close/>
                </a:path>
              </a:pathLst>
            </a:custGeom>
            <a:solidFill>
              <a:schemeClr val="hlink"/>
            </a:solidFill>
            <a:ln w="12700">
              <a:solidFill>
                <a:srgbClr val="000000"/>
              </a:solidFill>
              <a:round/>
              <a:headEnd/>
              <a:tailEnd/>
            </a:ln>
          </p:spPr>
          <p:txBody>
            <a:bodyPr/>
            <a:lstStyle/>
            <a:p>
              <a:endParaRPr lang="en-IN"/>
            </a:p>
          </p:txBody>
        </p:sp>
        <p:sp>
          <p:nvSpPr>
            <p:cNvPr id="29760" name="Rectangle 22"/>
            <p:cNvSpPr>
              <a:spLocks noChangeArrowheads="1"/>
            </p:cNvSpPr>
            <p:nvPr/>
          </p:nvSpPr>
          <p:spPr bwMode="auto">
            <a:xfrm>
              <a:off x="1681" y="3185"/>
              <a:ext cx="100" cy="90"/>
            </a:xfrm>
            <a:prstGeom prst="rect">
              <a:avLst/>
            </a:prstGeom>
            <a:solidFill>
              <a:schemeClr val="hlink"/>
            </a:solidFill>
            <a:ln w="12700">
              <a:solidFill>
                <a:srgbClr val="000000"/>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grpSp>
      <p:sp>
        <p:nvSpPr>
          <p:cNvPr id="29707" name="Rectangle 24"/>
          <p:cNvSpPr>
            <a:spLocks noChangeArrowheads="1"/>
          </p:cNvSpPr>
          <p:nvPr/>
        </p:nvSpPr>
        <p:spPr bwMode="auto">
          <a:xfrm>
            <a:off x="4916489" y="5803900"/>
            <a:ext cx="1819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eaLnBrk="1" hangingPunct="1">
              <a:spcBef>
                <a:spcPct val="50000"/>
              </a:spcBef>
              <a:spcAft>
                <a:spcPct val="0"/>
              </a:spcAft>
              <a:buClrTx/>
              <a:buFontTx/>
              <a:buNone/>
            </a:pPr>
            <a:r>
              <a:rPr lang="en-US" altLang="en-US" sz="1600">
                <a:solidFill>
                  <a:schemeClr val="tx1"/>
                </a:solidFill>
                <a:latin typeface="Arial" panose="020B0604020202020204" pitchFamily="34" charset="0"/>
              </a:rPr>
              <a:t>Database access</a:t>
            </a:r>
          </a:p>
        </p:txBody>
      </p:sp>
      <p:sp>
        <p:nvSpPr>
          <p:cNvPr id="29708" name="Oval 50"/>
          <p:cNvSpPr>
            <a:spLocks noChangeArrowheads="1"/>
          </p:cNvSpPr>
          <p:nvPr/>
        </p:nvSpPr>
        <p:spPr bwMode="auto">
          <a:xfrm>
            <a:off x="5562600" y="2438400"/>
            <a:ext cx="381000" cy="381000"/>
          </a:xfrm>
          <a:prstGeom prst="ellipse">
            <a:avLst/>
          </a:prstGeom>
          <a:solidFill>
            <a:srgbClr val="99CC00"/>
          </a:solidFill>
          <a:ln w="28575">
            <a:solidFill>
              <a:schemeClr val="tx1"/>
            </a:solidFill>
            <a:round/>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1</a:t>
            </a:r>
          </a:p>
        </p:txBody>
      </p:sp>
      <p:sp>
        <p:nvSpPr>
          <p:cNvPr id="29709" name="Oval 51"/>
          <p:cNvSpPr>
            <a:spLocks noChangeArrowheads="1"/>
          </p:cNvSpPr>
          <p:nvPr/>
        </p:nvSpPr>
        <p:spPr bwMode="auto">
          <a:xfrm>
            <a:off x="6400800" y="3276600"/>
            <a:ext cx="381000" cy="381000"/>
          </a:xfrm>
          <a:prstGeom prst="ellipse">
            <a:avLst/>
          </a:prstGeom>
          <a:solidFill>
            <a:srgbClr val="99CC00"/>
          </a:solidFill>
          <a:ln w="28575">
            <a:solidFill>
              <a:schemeClr val="tx1"/>
            </a:solidFill>
            <a:round/>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2</a:t>
            </a:r>
          </a:p>
        </p:txBody>
      </p:sp>
      <p:sp>
        <p:nvSpPr>
          <p:cNvPr id="29710" name="Oval 52"/>
          <p:cNvSpPr>
            <a:spLocks noChangeArrowheads="1"/>
          </p:cNvSpPr>
          <p:nvPr/>
        </p:nvSpPr>
        <p:spPr bwMode="auto">
          <a:xfrm>
            <a:off x="4495800" y="3962400"/>
            <a:ext cx="381000" cy="381000"/>
          </a:xfrm>
          <a:prstGeom prst="ellipse">
            <a:avLst/>
          </a:prstGeom>
          <a:solidFill>
            <a:srgbClr val="99CC00"/>
          </a:solidFill>
          <a:ln w="28575">
            <a:solidFill>
              <a:schemeClr val="tx1"/>
            </a:solidFill>
            <a:round/>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3</a:t>
            </a:r>
          </a:p>
        </p:txBody>
      </p:sp>
      <p:sp>
        <p:nvSpPr>
          <p:cNvPr id="29711" name="Oval 53"/>
          <p:cNvSpPr>
            <a:spLocks noChangeArrowheads="1"/>
          </p:cNvSpPr>
          <p:nvPr/>
        </p:nvSpPr>
        <p:spPr bwMode="auto">
          <a:xfrm>
            <a:off x="6553200" y="4724400"/>
            <a:ext cx="381000" cy="381000"/>
          </a:xfrm>
          <a:prstGeom prst="ellipse">
            <a:avLst/>
          </a:prstGeom>
          <a:solidFill>
            <a:srgbClr val="99CC00"/>
          </a:solidFill>
          <a:ln w="28575">
            <a:solidFill>
              <a:schemeClr val="tx1"/>
            </a:solidFill>
            <a:round/>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4</a:t>
            </a:r>
          </a:p>
        </p:txBody>
      </p:sp>
      <p:sp>
        <p:nvSpPr>
          <p:cNvPr id="29712" name="Oval 54"/>
          <p:cNvSpPr>
            <a:spLocks noChangeArrowheads="1"/>
          </p:cNvSpPr>
          <p:nvPr/>
        </p:nvSpPr>
        <p:spPr bwMode="auto">
          <a:xfrm>
            <a:off x="4572000" y="5762625"/>
            <a:ext cx="381000" cy="381000"/>
          </a:xfrm>
          <a:prstGeom prst="ellipse">
            <a:avLst/>
          </a:prstGeom>
          <a:solidFill>
            <a:srgbClr val="99CC00"/>
          </a:solidFill>
          <a:ln w="28575">
            <a:solidFill>
              <a:schemeClr val="tx1"/>
            </a:solidFill>
            <a:round/>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r>
              <a:rPr lang="en-US" altLang="en-US" sz="1800">
                <a:solidFill>
                  <a:schemeClr val="tx1"/>
                </a:solidFill>
                <a:latin typeface="Arial" panose="020B0604020202020204" pitchFamily="34" charset="0"/>
              </a:rPr>
              <a:t>5</a:t>
            </a:r>
          </a:p>
        </p:txBody>
      </p:sp>
      <p:grpSp>
        <p:nvGrpSpPr>
          <p:cNvPr id="29713" name="Group 65"/>
          <p:cNvGrpSpPr>
            <a:grpSpLocks/>
          </p:cNvGrpSpPr>
          <p:nvPr/>
        </p:nvGrpSpPr>
        <p:grpSpPr bwMode="auto">
          <a:xfrm>
            <a:off x="2236788" y="2438400"/>
            <a:ext cx="1905000" cy="3767138"/>
            <a:chOff x="449" y="1536"/>
            <a:chExt cx="1200" cy="2373"/>
          </a:xfrm>
        </p:grpSpPr>
        <p:sp>
          <p:nvSpPr>
            <p:cNvPr id="29750" name="AutoShape 4"/>
            <p:cNvSpPr>
              <a:spLocks noChangeArrowheads="1"/>
            </p:cNvSpPr>
            <p:nvPr/>
          </p:nvSpPr>
          <p:spPr bwMode="auto">
            <a:xfrm>
              <a:off x="449" y="1536"/>
              <a:ext cx="1200" cy="2352"/>
            </a:xfrm>
            <a:prstGeom prst="roundRect">
              <a:avLst>
                <a:gd name="adj" fmla="val 16667"/>
              </a:avLst>
            </a:prstGeom>
            <a:solidFill>
              <a:srgbClr val="C8DCFF"/>
            </a:solidFill>
            <a:ln w="28575">
              <a:solidFill>
                <a:schemeClr val="tx1"/>
              </a:solidFill>
              <a:prstDash val="dashDot"/>
              <a:round/>
              <a:headEnd type="none" w="lg" len="lg"/>
              <a:tailEnd type="none" w="lg" len="lg"/>
            </a:ln>
          </p:spPr>
          <p:txBody>
            <a:bodyPr wrap="none"/>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eaLnBrk="1" hangingPunct="1">
                <a:spcBef>
                  <a:spcPct val="0"/>
                </a:spcBef>
                <a:spcAft>
                  <a:spcPct val="0"/>
                </a:spcAft>
                <a:buClrTx/>
                <a:buFontTx/>
                <a:buNone/>
              </a:pPr>
              <a:r>
                <a:rPr lang="en-US" altLang="en-US" sz="1600">
                  <a:solidFill>
                    <a:schemeClr val="tx1"/>
                  </a:solidFill>
                  <a:latin typeface="Arial" panose="020B0604020202020204" pitchFamily="34" charset="0"/>
                </a:rPr>
                <a:t>Client</a:t>
              </a:r>
            </a:p>
          </p:txBody>
        </p:sp>
        <p:grpSp>
          <p:nvGrpSpPr>
            <p:cNvPr id="29751" name="Group 15"/>
            <p:cNvGrpSpPr>
              <a:grpSpLocks/>
            </p:cNvGrpSpPr>
            <p:nvPr/>
          </p:nvGrpSpPr>
          <p:grpSpPr bwMode="auto">
            <a:xfrm>
              <a:off x="836" y="3411"/>
              <a:ext cx="313" cy="290"/>
              <a:chOff x="675" y="3547"/>
              <a:chExt cx="313" cy="290"/>
            </a:xfrm>
          </p:grpSpPr>
          <p:sp>
            <p:nvSpPr>
              <p:cNvPr id="29757" name="Freeform 16"/>
              <p:cNvSpPr>
                <a:spLocks/>
              </p:cNvSpPr>
              <p:nvPr/>
            </p:nvSpPr>
            <p:spPr bwMode="auto">
              <a:xfrm>
                <a:off x="675" y="3547"/>
                <a:ext cx="313" cy="290"/>
              </a:xfrm>
              <a:custGeom>
                <a:avLst/>
                <a:gdLst>
                  <a:gd name="T0" fmla="*/ 0 w 626"/>
                  <a:gd name="T1" fmla="*/ 15 h 579"/>
                  <a:gd name="T2" fmla="*/ 17 w 626"/>
                  <a:gd name="T3" fmla="*/ 15 h 579"/>
                  <a:gd name="T4" fmla="*/ 17 w 626"/>
                  <a:gd name="T5" fmla="*/ 0 h 579"/>
                  <a:gd name="T6" fmla="*/ 20 w 626"/>
                  <a:gd name="T7" fmla="*/ 4 h 579"/>
                  <a:gd name="T8" fmla="*/ 20 w 626"/>
                  <a:gd name="T9" fmla="*/ 19 h 579"/>
                  <a:gd name="T10" fmla="*/ 17 w 626"/>
                  <a:gd name="T11" fmla="*/ 15 h 579"/>
                  <a:gd name="T12" fmla="*/ 20 w 626"/>
                  <a:gd name="T13" fmla="*/ 19 h 579"/>
                  <a:gd name="T14" fmla="*/ 4 w 626"/>
                  <a:gd name="T15" fmla="*/ 19 h 579"/>
                  <a:gd name="T16" fmla="*/ 0 w 626"/>
                  <a:gd name="T17" fmla="*/ 15 h 5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26"/>
                  <a:gd name="T28" fmla="*/ 0 h 579"/>
                  <a:gd name="T29" fmla="*/ 626 w 626"/>
                  <a:gd name="T30" fmla="*/ 579 h 5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26" h="579">
                    <a:moveTo>
                      <a:pt x="0" y="466"/>
                    </a:moveTo>
                    <a:lnTo>
                      <a:pt x="513" y="466"/>
                    </a:lnTo>
                    <a:lnTo>
                      <a:pt x="513" y="0"/>
                    </a:lnTo>
                    <a:lnTo>
                      <a:pt x="626" y="113"/>
                    </a:lnTo>
                    <a:lnTo>
                      <a:pt x="626" y="579"/>
                    </a:lnTo>
                    <a:lnTo>
                      <a:pt x="513" y="466"/>
                    </a:lnTo>
                    <a:lnTo>
                      <a:pt x="626" y="579"/>
                    </a:lnTo>
                    <a:lnTo>
                      <a:pt x="114" y="579"/>
                    </a:lnTo>
                    <a:lnTo>
                      <a:pt x="0" y="466"/>
                    </a:lnTo>
                    <a:close/>
                  </a:path>
                </a:pathLst>
              </a:custGeom>
              <a:solidFill>
                <a:srgbClr val="FFA7A7"/>
              </a:solidFill>
              <a:ln w="28575">
                <a:solidFill>
                  <a:srgbClr val="000000"/>
                </a:solidFill>
                <a:round/>
                <a:headEnd/>
                <a:tailEnd/>
              </a:ln>
            </p:spPr>
            <p:txBody>
              <a:bodyPr/>
              <a:lstStyle/>
              <a:p>
                <a:endParaRPr lang="en-IN"/>
              </a:p>
            </p:txBody>
          </p:sp>
          <p:sp>
            <p:nvSpPr>
              <p:cNvPr id="29758" name="Rectangle 17"/>
              <p:cNvSpPr>
                <a:spLocks noChangeArrowheads="1"/>
              </p:cNvSpPr>
              <p:nvPr/>
            </p:nvSpPr>
            <p:spPr bwMode="auto">
              <a:xfrm>
                <a:off x="675" y="3547"/>
                <a:ext cx="256" cy="233"/>
              </a:xfrm>
              <a:prstGeom prst="rect">
                <a:avLst/>
              </a:prstGeom>
              <a:solidFill>
                <a:srgbClr val="FFA7A7"/>
              </a:solidFill>
              <a:ln w="28575">
                <a:solidFill>
                  <a:srgbClr val="000000"/>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grpSp>
        <p:sp>
          <p:nvSpPr>
            <p:cNvPr id="29752" name="Text Box 18"/>
            <p:cNvSpPr txBox="1">
              <a:spLocks noChangeArrowheads="1"/>
            </p:cNvSpPr>
            <p:nvPr/>
          </p:nvSpPr>
          <p:spPr bwMode="auto">
            <a:xfrm>
              <a:off x="641" y="3008"/>
              <a:ext cx="86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bIns="0">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50000"/>
                </a:spcBef>
                <a:spcAft>
                  <a:spcPct val="0"/>
                </a:spcAft>
                <a:buClrTx/>
                <a:buFontTx/>
                <a:buNone/>
              </a:pPr>
              <a:r>
                <a:rPr lang="en-US" altLang="en-US" sz="1600">
                  <a:solidFill>
                    <a:schemeClr val="tx1"/>
                  </a:solidFill>
                  <a:latin typeface="Arial" panose="020B0604020202020204" pitchFamily="34" charset="0"/>
                </a:rPr>
                <a:t>Data source</a:t>
              </a:r>
            </a:p>
          </p:txBody>
        </p:sp>
        <p:sp>
          <p:nvSpPr>
            <p:cNvPr id="29753" name="Rectangle 23"/>
            <p:cNvSpPr>
              <a:spLocks noChangeArrowheads="1"/>
            </p:cNvSpPr>
            <p:nvPr/>
          </p:nvSpPr>
          <p:spPr bwMode="auto">
            <a:xfrm>
              <a:off x="593" y="3696"/>
              <a:ext cx="76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eaLnBrk="1" hangingPunct="1">
                <a:spcBef>
                  <a:spcPct val="50000"/>
                </a:spcBef>
                <a:spcAft>
                  <a:spcPct val="0"/>
                </a:spcAft>
                <a:buClrTx/>
                <a:buFontTx/>
                <a:buNone/>
              </a:pPr>
              <a:r>
                <a:rPr lang="en-US" altLang="en-US" sz="1600">
                  <a:solidFill>
                    <a:schemeClr val="tx1"/>
                  </a:solidFill>
                  <a:latin typeface="Arial" panose="020B0604020202020204" pitchFamily="34" charset="0"/>
                </a:rPr>
                <a:t>Connection</a:t>
              </a:r>
            </a:p>
          </p:txBody>
        </p:sp>
        <p:sp>
          <p:nvSpPr>
            <p:cNvPr id="29754" name="AutoShape 48"/>
            <p:cNvSpPr>
              <a:spLocks noChangeArrowheads="1"/>
            </p:cNvSpPr>
            <p:nvPr/>
          </p:nvSpPr>
          <p:spPr bwMode="auto">
            <a:xfrm>
              <a:off x="736" y="1844"/>
              <a:ext cx="669" cy="486"/>
            </a:xfrm>
            <a:prstGeom prst="roundRect">
              <a:avLst>
                <a:gd name="adj" fmla="val 16667"/>
              </a:avLst>
            </a:prstGeom>
            <a:solidFill>
              <a:schemeClr val="bg1"/>
            </a:solidFill>
            <a:ln w="28575">
              <a:solidFill>
                <a:srgbClr val="EB9213"/>
              </a:solidFill>
              <a:round/>
              <a:headEnd/>
              <a:tailEnd/>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pic>
          <p:nvPicPr>
            <p:cNvPr id="29755" name="Picture 49" descr="compu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 y="1876"/>
              <a:ext cx="432" cy="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56" name="Oval 57"/>
            <p:cNvSpPr>
              <a:spLocks noChangeArrowheads="1"/>
            </p:cNvSpPr>
            <p:nvPr/>
          </p:nvSpPr>
          <p:spPr bwMode="auto">
            <a:xfrm>
              <a:off x="833" y="2640"/>
              <a:ext cx="384" cy="336"/>
            </a:xfrm>
            <a:prstGeom prst="ellipse">
              <a:avLst/>
            </a:prstGeom>
            <a:solidFill>
              <a:schemeClr val="folHlink"/>
            </a:solidFill>
            <a:ln w="28575">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grpSp>
      <p:grpSp>
        <p:nvGrpSpPr>
          <p:cNvPr id="29714" name="Group 64"/>
          <p:cNvGrpSpPr>
            <a:grpSpLocks/>
          </p:cNvGrpSpPr>
          <p:nvPr/>
        </p:nvGrpSpPr>
        <p:grpSpPr bwMode="auto">
          <a:xfrm>
            <a:off x="6934200" y="2209800"/>
            <a:ext cx="2895600" cy="2286000"/>
            <a:chOff x="3408" y="1392"/>
            <a:chExt cx="1824" cy="1440"/>
          </a:xfrm>
        </p:grpSpPr>
        <p:sp>
          <p:nvSpPr>
            <p:cNvPr id="29720" name="Rectangle 63"/>
            <p:cNvSpPr>
              <a:spLocks noChangeArrowheads="1"/>
            </p:cNvSpPr>
            <p:nvPr/>
          </p:nvSpPr>
          <p:spPr bwMode="auto">
            <a:xfrm>
              <a:off x="3408" y="1392"/>
              <a:ext cx="1824" cy="1440"/>
            </a:xfrm>
            <a:prstGeom prst="rect">
              <a:avLst/>
            </a:prstGeom>
            <a:solidFill>
              <a:srgbClr val="66CCFF"/>
            </a:solidFill>
            <a:ln w="28575">
              <a:solidFill>
                <a:schemeClr val="tx1"/>
              </a:solidFill>
              <a:miter lim="800000"/>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1" name="AutoShape 3"/>
            <p:cNvSpPr>
              <a:spLocks noChangeArrowheads="1"/>
            </p:cNvSpPr>
            <p:nvPr/>
          </p:nvSpPr>
          <p:spPr bwMode="auto">
            <a:xfrm>
              <a:off x="4320" y="2100"/>
              <a:ext cx="672" cy="528"/>
            </a:xfrm>
            <a:prstGeom prst="roundRect">
              <a:avLst>
                <a:gd name="adj" fmla="val 16667"/>
              </a:avLst>
            </a:prstGeom>
            <a:solidFill>
              <a:srgbClr val="E5E5E5"/>
            </a:solidFill>
            <a:ln w="28575">
              <a:solidFill>
                <a:schemeClr val="tx1"/>
              </a:solidFill>
              <a:round/>
              <a:headEnd type="none" w="sm" len="sm"/>
              <a:tailEnd type="none" w="sm" len="sm"/>
            </a:ln>
          </p:spPr>
          <p:txBody>
            <a:bodyPr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2" name="Text Box 25"/>
            <p:cNvSpPr txBox="1">
              <a:spLocks noChangeArrowheads="1"/>
            </p:cNvSpPr>
            <p:nvPr/>
          </p:nvSpPr>
          <p:spPr bwMode="auto">
            <a:xfrm>
              <a:off x="4049" y="1468"/>
              <a:ext cx="109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eaLnBrk="1" hangingPunct="1">
                <a:spcBef>
                  <a:spcPct val="0"/>
                </a:spcBef>
                <a:spcAft>
                  <a:spcPct val="0"/>
                </a:spcAft>
                <a:buClrTx/>
                <a:buFontTx/>
                <a:buNone/>
              </a:pPr>
              <a:r>
                <a:rPr lang="en-US" altLang="en-US" sz="1600">
                  <a:solidFill>
                    <a:schemeClr val="tx1"/>
                  </a:solidFill>
                  <a:latin typeface="Arial" panose="020B0604020202020204" pitchFamily="34" charset="0"/>
                </a:rPr>
                <a:t>Managed server</a:t>
              </a:r>
            </a:p>
          </p:txBody>
        </p:sp>
        <p:sp>
          <p:nvSpPr>
            <p:cNvPr id="29723" name="AutoShape 26"/>
            <p:cNvSpPr>
              <a:spLocks noChangeArrowheads="1"/>
            </p:cNvSpPr>
            <p:nvPr/>
          </p:nvSpPr>
          <p:spPr bwMode="auto">
            <a:xfrm>
              <a:off x="3521" y="1719"/>
              <a:ext cx="558" cy="690"/>
            </a:xfrm>
            <a:prstGeom prst="roundRect">
              <a:avLst>
                <a:gd name="adj" fmla="val 16667"/>
              </a:avLst>
            </a:prstGeom>
            <a:solidFill>
              <a:schemeClr val="bg1"/>
            </a:solidFill>
            <a:ln w="28575">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4" name="Oval 27"/>
            <p:cNvSpPr>
              <a:spLocks noChangeArrowheads="1"/>
            </p:cNvSpPr>
            <p:nvPr/>
          </p:nvSpPr>
          <p:spPr bwMode="auto">
            <a:xfrm>
              <a:off x="3677" y="1773"/>
              <a:ext cx="52" cy="59"/>
            </a:xfrm>
            <a:prstGeom prst="ellipse">
              <a:avLst/>
            </a:prstGeom>
            <a:solidFill>
              <a:schemeClr val="tx2"/>
            </a:solidFill>
            <a:ln w="12700">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5" name="Oval 28"/>
            <p:cNvSpPr>
              <a:spLocks noChangeArrowheads="1"/>
            </p:cNvSpPr>
            <p:nvPr/>
          </p:nvSpPr>
          <p:spPr bwMode="auto">
            <a:xfrm>
              <a:off x="3601" y="1921"/>
              <a:ext cx="52" cy="59"/>
            </a:xfrm>
            <a:prstGeom prst="ellipse">
              <a:avLst/>
            </a:prstGeom>
            <a:solidFill>
              <a:schemeClr val="tx2"/>
            </a:solidFill>
            <a:ln w="12700">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6" name="Oval 29"/>
            <p:cNvSpPr>
              <a:spLocks noChangeArrowheads="1"/>
            </p:cNvSpPr>
            <p:nvPr/>
          </p:nvSpPr>
          <p:spPr bwMode="auto">
            <a:xfrm>
              <a:off x="3747" y="1921"/>
              <a:ext cx="52" cy="59"/>
            </a:xfrm>
            <a:prstGeom prst="ellipse">
              <a:avLst/>
            </a:prstGeom>
            <a:solidFill>
              <a:schemeClr val="tx2"/>
            </a:solidFill>
            <a:ln w="12700">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7" name="AutoShape 30"/>
            <p:cNvSpPr>
              <a:spLocks noChangeArrowheads="1"/>
            </p:cNvSpPr>
            <p:nvPr/>
          </p:nvSpPr>
          <p:spPr bwMode="auto">
            <a:xfrm>
              <a:off x="3588" y="2098"/>
              <a:ext cx="78" cy="59"/>
            </a:xfrm>
            <a:prstGeom prst="triangle">
              <a:avLst>
                <a:gd name="adj" fmla="val 50000"/>
              </a:avLst>
            </a:prstGeom>
            <a:solidFill>
              <a:schemeClr val="accent2"/>
            </a:solidFill>
            <a:ln w="12700">
              <a:solidFill>
                <a:schemeClr val="bg2"/>
              </a:solidFill>
              <a:miter lim="800000"/>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8" name="AutoShape 31"/>
            <p:cNvSpPr>
              <a:spLocks noChangeArrowheads="1"/>
            </p:cNvSpPr>
            <p:nvPr/>
          </p:nvSpPr>
          <p:spPr bwMode="auto">
            <a:xfrm>
              <a:off x="3735" y="2098"/>
              <a:ext cx="78" cy="59"/>
            </a:xfrm>
            <a:prstGeom prst="triangle">
              <a:avLst>
                <a:gd name="adj" fmla="val 50000"/>
              </a:avLst>
            </a:prstGeom>
            <a:solidFill>
              <a:schemeClr val="accent2"/>
            </a:solidFill>
            <a:ln w="12700">
              <a:solidFill>
                <a:schemeClr val="bg2"/>
              </a:solidFill>
              <a:miter lim="800000"/>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29" name="Oval 32"/>
            <p:cNvSpPr>
              <a:spLocks noChangeArrowheads="1"/>
            </p:cNvSpPr>
            <p:nvPr/>
          </p:nvSpPr>
          <p:spPr bwMode="auto">
            <a:xfrm>
              <a:off x="3888" y="2098"/>
              <a:ext cx="52" cy="59"/>
            </a:xfrm>
            <a:prstGeom prst="ellipse">
              <a:avLst/>
            </a:prstGeom>
            <a:solidFill>
              <a:schemeClr val="tx2"/>
            </a:solidFill>
            <a:ln w="12700">
              <a:solidFill>
                <a:schemeClr val="bg2"/>
              </a:solidFill>
              <a:round/>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30" name="AutoShape 33"/>
            <p:cNvSpPr>
              <a:spLocks noChangeArrowheads="1"/>
            </p:cNvSpPr>
            <p:nvPr/>
          </p:nvSpPr>
          <p:spPr bwMode="auto">
            <a:xfrm>
              <a:off x="3801" y="2275"/>
              <a:ext cx="78" cy="59"/>
            </a:xfrm>
            <a:prstGeom prst="triangle">
              <a:avLst>
                <a:gd name="adj" fmla="val 50000"/>
              </a:avLst>
            </a:prstGeom>
            <a:solidFill>
              <a:schemeClr val="accent2"/>
            </a:solidFill>
            <a:ln w="12700">
              <a:solidFill>
                <a:schemeClr val="bg2"/>
              </a:solidFill>
              <a:miter lim="800000"/>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sp>
          <p:nvSpPr>
            <p:cNvPr id="29731" name="AutoShape 34"/>
            <p:cNvSpPr>
              <a:spLocks noChangeArrowheads="1"/>
            </p:cNvSpPr>
            <p:nvPr/>
          </p:nvSpPr>
          <p:spPr bwMode="auto">
            <a:xfrm>
              <a:off x="3957" y="2275"/>
              <a:ext cx="78" cy="59"/>
            </a:xfrm>
            <a:prstGeom prst="triangle">
              <a:avLst>
                <a:gd name="adj" fmla="val 50000"/>
              </a:avLst>
            </a:prstGeom>
            <a:solidFill>
              <a:schemeClr val="accent2"/>
            </a:solidFill>
            <a:ln w="12700">
              <a:solidFill>
                <a:schemeClr val="bg2"/>
              </a:solidFill>
              <a:miter lim="800000"/>
              <a:headEnd type="none" w="lg" len="lg"/>
              <a:tailEnd type="none" w="lg" len="lg"/>
            </a:ln>
          </p:spPr>
          <p:txBody>
            <a:bodyPr rot="10800000" wrap="none" anchor="ct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cxnSp>
          <p:nvCxnSpPr>
            <p:cNvPr id="29732" name="AutoShape 35"/>
            <p:cNvCxnSpPr>
              <a:cxnSpLocks noChangeShapeType="1"/>
              <a:stCxn id="29727" idx="0"/>
              <a:endCxn id="29725" idx="4"/>
            </p:cNvCxnSpPr>
            <p:nvPr/>
          </p:nvCxnSpPr>
          <p:spPr bwMode="auto">
            <a:xfrm flipV="1">
              <a:off x="3627" y="1980"/>
              <a:ext cx="0" cy="118"/>
            </a:xfrm>
            <a:prstGeom prst="straightConnector1">
              <a:avLst/>
            </a:prstGeom>
            <a:noFill/>
            <a:ln w="12700">
              <a:solidFill>
                <a:schemeClr val="bg2"/>
              </a:solidFill>
              <a:round/>
              <a:headEnd type="none" w="lg" len="lg"/>
              <a:tailEnd type="triangle" w="sm" len="sm"/>
            </a:ln>
            <a:extLst>
              <a:ext uri="{909E8E84-426E-40DD-AFC4-6F175D3DCCD1}">
                <a14:hiddenFill xmlns:a14="http://schemas.microsoft.com/office/drawing/2010/main">
                  <a:noFill/>
                </a14:hiddenFill>
              </a:ext>
            </a:extLst>
          </p:spPr>
        </p:cxnSp>
        <p:cxnSp>
          <p:nvCxnSpPr>
            <p:cNvPr id="29733" name="AutoShape 36"/>
            <p:cNvCxnSpPr>
              <a:cxnSpLocks noChangeShapeType="1"/>
              <a:stCxn id="29728" idx="0"/>
              <a:endCxn id="29726" idx="4"/>
            </p:cNvCxnSpPr>
            <p:nvPr/>
          </p:nvCxnSpPr>
          <p:spPr bwMode="auto">
            <a:xfrm flipH="1" flipV="1">
              <a:off x="3773" y="1980"/>
              <a:ext cx="1" cy="118"/>
            </a:xfrm>
            <a:prstGeom prst="straightConnector1">
              <a:avLst/>
            </a:prstGeom>
            <a:noFill/>
            <a:ln w="12700">
              <a:solidFill>
                <a:schemeClr val="bg2"/>
              </a:solidFill>
              <a:round/>
              <a:headEnd type="none" w="lg" len="lg"/>
              <a:tailEnd type="triangle" w="sm" len="sm"/>
            </a:ln>
            <a:extLst>
              <a:ext uri="{909E8E84-426E-40DD-AFC4-6F175D3DCCD1}">
                <a14:hiddenFill xmlns:a14="http://schemas.microsoft.com/office/drawing/2010/main">
                  <a:noFill/>
                </a14:hiddenFill>
              </a:ext>
            </a:extLst>
          </p:spPr>
        </p:cxnSp>
        <p:sp>
          <p:nvSpPr>
            <p:cNvPr id="29734" name="Text Box 37"/>
            <p:cNvSpPr txBox="1">
              <a:spLocks noChangeArrowheads="1"/>
            </p:cNvSpPr>
            <p:nvPr/>
          </p:nvSpPr>
          <p:spPr bwMode="auto">
            <a:xfrm>
              <a:off x="3577" y="2425"/>
              <a:ext cx="44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bIns="0">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50000"/>
                </a:spcBef>
                <a:spcAft>
                  <a:spcPct val="0"/>
                </a:spcAft>
                <a:buClrTx/>
                <a:buFontTx/>
                <a:buNone/>
              </a:pPr>
              <a:r>
                <a:rPr lang="en-US" altLang="en-US" sz="1600">
                  <a:solidFill>
                    <a:schemeClr val="tx1"/>
                  </a:solidFill>
                  <a:latin typeface="Arial" panose="020B0604020202020204" pitchFamily="34" charset="0"/>
                </a:rPr>
                <a:t>JNDI</a:t>
              </a:r>
            </a:p>
          </p:txBody>
        </p:sp>
        <p:grpSp>
          <p:nvGrpSpPr>
            <p:cNvPr id="29735" name="Group 38"/>
            <p:cNvGrpSpPr>
              <a:grpSpLocks/>
            </p:cNvGrpSpPr>
            <p:nvPr/>
          </p:nvGrpSpPr>
          <p:grpSpPr bwMode="auto">
            <a:xfrm>
              <a:off x="4458" y="2151"/>
              <a:ext cx="208" cy="207"/>
              <a:chOff x="4297" y="2287"/>
              <a:chExt cx="208" cy="207"/>
            </a:xfrm>
          </p:grpSpPr>
          <p:sp>
            <p:nvSpPr>
              <p:cNvPr id="29748" name="Freeform 39"/>
              <p:cNvSpPr>
                <a:spLocks/>
              </p:cNvSpPr>
              <p:nvPr/>
            </p:nvSpPr>
            <p:spPr bwMode="auto">
              <a:xfrm>
                <a:off x="4297" y="2287"/>
                <a:ext cx="208" cy="207"/>
              </a:xfrm>
              <a:custGeom>
                <a:avLst/>
                <a:gdLst>
                  <a:gd name="T0" fmla="*/ 0 w 415"/>
                  <a:gd name="T1" fmla="*/ 10 h 415"/>
                  <a:gd name="T2" fmla="*/ 11 w 415"/>
                  <a:gd name="T3" fmla="*/ 10 h 415"/>
                  <a:gd name="T4" fmla="*/ 11 w 415"/>
                  <a:gd name="T5" fmla="*/ 0 h 415"/>
                  <a:gd name="T6" fmla="*/ 13 w 415"/>
                  <a:gd name="T7" fmla="*/ 2 h 415"/>
                  <a:gd name="T8" fmla="*/ 13 w 415"/>
                  <a:gd name="T9" fmla="*/ 12 h 415"/>
                  <a:gd name="T10" fmla="*/ 11 w 415"/>
                  <a:gd name="T11" fmla="*/ 10 h 415"/>
                  <a:gd name="T12" fmla="*/ 13 w 415"/>
                  <a:gd name="T13" fmla="*/ 12 h 415"/>
                  <a:gd name="T14" fmla="*/ 3 w 415"/>
                  <a:gd name="T15" fmla="*/ 12 h 415"/>
                  <a:gd name="T16" fmla="*/ 0 w 415"/>
                  <a:gd name="T17" fmla="*/ 10 h 4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5"/>
                  <a:gd name="T28" fmla="*/ 0 h 415"/>
                  <a:gd name="T29" fmla="*/ 415 w 415"/>
                  <a:gd name="T30" fmla="*/ 415 h 4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5" h="415">
                    <a:moveTo>
                      <a:pt x="0" y="340"/>
                    </a:moveTo>
                    <a:lnTo>
                      <a:pt x="339" y="340"/>
                    </a:lnTo>
                    <a:lnTo>
                      <a:pt x="339" y="0"/>
                    </a:lnTo>
                    <a:lnTo>
                      <a:pt x="415" y="75"/>
                    </a:lnTo>
                    <a:lnTo>
                      <a:pt x="415" y="415"/>
                    </a:lnTo>
                    <a:lnTo>
                      <a:pt x="339" y="340"/>
                    </a:lnTo>
                    <a:lnTo>
                      <a:pt x="415" y="415"/>
                    </a:lnTo>
                    <a:lnTo>
                      <a:pt x="75" y="415"/>
                    </a:lnTo>
                    <a:lnTo>
                      <a:pt x="0" y="340"/>
                    </a:lnTo>
                    <a:close/>
                  </a:path>
                </a:pathLst>
              </a:custGeom>
              <a:solidFill>
                <a:schemeClr val="accent2"/>
              </a:solidFill>
              <a:ln w="28575">
                <a:solidFill>
                  <a:srgbClr val="000000"/>
                </a:solidFill>
                <a:round/>
                <a:headEnd/>
                <a:tailEnd/>
              </a:ln>
            </p:spPr>
            <p:txBody>
              <a:bodyPr/>
              <a:lstStyle/>
              <a:p>
                <a:endParaRPr lang="en-IN"/>
              </a:p>
            </p:txBody>
          </p:sp>
          <p:sp>
            <p:nvSpPr>
              <p:cNvPr id="29749" name="Rectangle 40"/>
              <p:cNvSpPr>
                <a:spLocks noChangeArrowheads="1"/>
              </p:cNvSpPr>
              <p:nvPr/>
            </p:nvSpPr>
            <p:spPr bwMode="auto">
              <a:xfrm>
                <a:off x="4297" y="2287"/>
                <a:ext cx="170" cy="169"/>
              </a:xfrm>
              <a:prstGeom prst="rect">
                <a:avLst/>
              </a:prstGeom>
              <a:solidFill>
                <a:schemeClr val="accent2"/>
              </a:solidFill>
              <a:ln w="28575">
                <a:solidFill>
                  <a:srgbClr val="000000"/>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grpSp>
        <p:grpSp>
          <p:nvGrpSpPr>
            <p:cNvPr id="29736" name="Group 41"/>
            <p:cNvGrpSpPr>
              <a:grpSpLocks/>
            </p:cNvGrpSpPr>
            <p:nvPr/>
          </p:nvGrpSpPr>
          <p:grpSpPr bwMode="auto">
            <a:xfrm>
              <a:off x="4713" y="2226"/>
              <a:ext cx="208" cy="208"/>
              <a:chOff x="4552" y="2362"/>
              <a:chExt cx="208" cy="208"/>
            </a:xfrm>
          </p:grpSpPr>
          <p:sp>
            <p:nvSpPr>
              <p:cNvPr id="29746" name="Freeform 42"/>
              <p:cNvSpPr>
                <a:spLocks/>
              </p:cNvSpPr>
              <p:nvPr/>
            </p:nvSpPr>
            <p:spPr bwMode="auto">
              <a:xfrm>
                <a:off x="4552" y="2362"/>
                <a:ext cx="208" cy="208"/>
              </a:xfrm>
              <a:custGeom>
                <a:avLst/>
                <a:gdLst>
                  <a:gd name="T0" fmla="*/ 0 w 416"/>
                  <a:gd name="T1" fmla="*/ 11 h 415"/>
                  <a:gd name="T2" fmla="*/ 11 w 416"/>
                  <a:gd name="T3" fmla="*/ 11 h 415"/>
                  <a:gd name="T4" fmla="*/ 11 w 416"/>
                  <a:gd name="T5" fmla="*/ 0 h 415"/>
                  <a:gd name="T6" fmla="*/ 13 w 416"/>
                  <a:gd name="T7" fmla="*/ 3 h 415"/>
                  <a:gd name="T8" fmla="*/ 13 w 416"/>
                  <a:gd name="T9" fmla="*/ 13 h 415"/>
                  <a:gd name="T10" fmla="*/ 11 w 416"/>
                  <a:gd name="T11" fmla="*/ 11 h 415"/>
                  <a:gd name="T12" fmla="*/ 13 w 416"/>
                  <a:gd name="T13" fmla="*/ 13 h 415"/>
                  <a:gd name="T14" fmla="*/ 3 w 416"/>
                  <a:gd name="T15" fmla="*/ 13 h 415"/>
                  <a:gd name="T16" fmla="*/ 0 w 416"/>
                  <a:gd name="T17" fmla="*/ 11 h 4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6"/>
                  <a:gd name="T28" fmla="*/ 0 h 415"/>
                  <a:gd name="T29" fmla="*/ 416 w 416"/>
                  <a:gd name="T30" fmla="*/ 415 h 4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6" h="415">
                    <a:moveTo>
                      <a:pt x="0" y="340"/>
                    </a:moveTo>
                    <a:lnTo>
                      <a:pt x="341" y="340"/>
                    </a:lnTo>
                    <a:lnTo>
                      <a:pt x="341" y="0"/>
                    </a:lnTo>
                    <a:lnTo>
                      <a:pt x="416" y="75"/>
                    </a:lnTo>
                    <a:lnTo>
                      <a:pt x="416" y="415"/>
                    </a:lnTo>
                    <a:lnTo>
                      <a:pt x="341" y="340"/>
                    </a:lnTo>
                    <a:lnTo>
                      <a:pt x="416" y="415"/>
                    </a:lnTo>
                    <a:lnTo>
                      <a:pt x="75" y="415"/>
                    </a:lnTo>
                    <a:lnTo>
                      <a:pt x="0" y="340"/>
                    </a:lnTo>
                    <a:close/>
                  </a:path>
                </a:pathLst>
              </a:custGeom>
              <a:solidFill>
                <a:schemeClr val="accent2"/>
              </a:solidFill>
              <a:ln w="28575">
                <a:solidFill>
                  <a:srgbClr val="000000"/>
                </a:solidFill>
                <a:round/>
                <a:headEnd/>
                <a:tailEnd/>
              </a:ln>
            </p:spPr>
            <p:txBody>
              <a:bodyPr/>
              <a:lstStyle/>
              <a:p>
                <a:endParaRPr lang="en-IN"/>
              </a:p>
            </p:txBody>
          </p:sp>
          <p:sp>
            <p:nvSpPr>
              <p:cNvPr id="29747" name="Rectangle 43"/>
              <p:cNvSpPr>
                <a:spLocks noChangeArrowheads="1"/>
              </p:cNvSpPr>
              <p:nvPr/>
            </p:nvSpPr>
            <p:spPr bwMode="auto">
              <a:xfrm>
                <a:off x="4552" y="2362"/>
                <a:ext cx="170" cy="170"/>
              </a:xfrm>
              <a:prstGeom prst="rect">
                <a:avLst/>
              </a:prstGeom>
              <a:solidFill>
                <a:schemeClr val="accent2"/>
              </a:solidFill>
              <a:ln w="28575">
                <a:solidFill>
                  <a:srgbClr val="000000"/>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grpSp>
        <p:grpSp>
          <p:nvGrpSpPr>
            <p:cNvPr id="29737" name="Group 44"/>
            <p:cNvGrpSpPr>
              <a:grpSpLocks/>
            </p:cNvGrpSpPr>
            <p:nvPr/>
          </p:nvGrpSpPr>
          <p:grpSpPr bwMode="auto">
            <a:xfrm>
              <a:off x="4514" y="2401"/>
              <a:ext cx="208" cy="192"/>
              <a:chOff x="4353" y="2537"/>
              <a:chExt cx="208" cy="192"/>
            </a:xfrm>
          </p:grpSpPr>
          <p:sp>
            <p:nvSpPr>
              <p:cNvPr id="29744" name="Freeform 45"/>
              <p:cNvSpPr>
                <a:spLocks/>
              </p:cNvSpPr>
              <p:nvPr/>
            </p:nvSpPr>
            <p:spPr bwMode="auto">
              <a:xfrm>
                <a:off x="4353" y="2537"/>
                <a:ext cx="208" cy="192"/>
              </a:xfrm>
              <a:custGeom>
                <a:avLst/>
                <a:gdLst>
                  <a:gd name="T0" fmla="*/ 0 w 416"/>
                  <a:gd name="T1" fmla="*/ 9 h 385"/>
                  <a:gd name="T2" fmla="*/ 11 w 416"/>
                  <a:gd name="T3" fmla="*/ 9 h 385"/>
                  <a:gd name="T4" fmla="*/ 11 w 416"/>
                  <a:gd name="T5" fmla="*/ 0 h 385"/>
                  <a:gd name="T6" fmla="*/ 13 w 416"/>
                  <a:gd name="T7" fmla="*/ 2 h 385"/>
                  <a:gd name="T8" fmla="*/ 13 w 416"/>
                  <a:gd name="T9" fmla="*/ 12 h 385"/>
                  <a:gd name="T10" fmla="*/ 11 w 416"/>
                  <a:gd name="T11" fmla="*/ 9 h 385"/>
                  <a:gd name="T12" fmla="*/ 13 w 416"/>
                  <a:gd name="T13" fmla="*/ 12 h 385"/>
                  <a:gd name="T14" fmla="*/ 3 w 416"/>
                  <a:gd name="T15" fmla="*/ 12 h 385"/>
                  <a:gd name="T16" fmla="*/ 0 w 416"/>
                  <a:gd name="T17" fmla="*/ 9 h 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6"/>
                  <a:gd name="T28" fmla="*/ 0 h 385"/>
                  <a:gd name="T29" fmla="*/ 416 w 416"/>
                  <a:gd name="T30" fmla="*/ 385 h 3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6" h="385">
                    <a:moveTo>
                      <a:pt x="0" y="310"/>
                    </a:moveTo>
                    <a:lnTo>
                      <a:pt x="340" y="310"/>
                    </a:lnTo>
                    <a:lnTo>
                      <a:pt x="340" y="0"/>
                    </a:lnTo>
                    <a:lnTo>
                      <a:pt x="416" y="75"/>
                    </a:lnTo>
                    <a:lnTo>
                      <a:pt x="416" y="385"/>
                    </a:lnTo>
                    <a:lnTo>
                      <a:pt x="340" y="310"/>
                    </a:lnTo>
                    <a:lnTo>
                      <a:pt x="416" y="385"/>
                    </a:lnTo>
                    <a:lnTo>
                      <a:pt x="75" y="385"/>
                    </a:lnTo>
                    <a:lnTo>
                      <a:pt x="0" y="310"/>
                    </a:lnTo>
                    <a:close/>
                  </a:path>
                </a:pathLst>
              </a:custGeom>
              <a:solidFill>
                <a:schemeClr val="hlink"/>
              </a:solidFill>
              <a:ln w="28575">
                <a:solidFill>
                  <a:srgbClr val="000000"/>
                </a:solidFill>
                <a:round/>
                <a:headEnd/>
                <a:tailEnd/>
              </a:ln>
            </p:spPr>
            <p:txBody>
              <a:bodyPr/>
              <a:lstStyle/>
              <a:p>
                <a:endParaRPr lang="en-IN"/>
              </a:p>
            </p:txBody>
          </p:sp>
          <p:sp>
            <p:nvSpPr>
              <p:cNvPr id="29745" name="Rectangle 46"/>
              <p:cNvSpPr>
                <a:spLocks noChangeArrowheads="1"/>
              </p:cNvSpPr>
              <p:nvPr/>
            </p:nvSpPr>
            <p:spPr bwMode="auto">
              <a:xfrm>
                <a:off x="4353" y="2537"/>
                <a:ext cx="171" cy="155"/>
              </a:xfrm>
              <a:prstGeom prst="rect">
                <a:avLst/>
              </a:prstGeom>
              <a:solidFill>
                <a:schemeClr val="hlink"/>
              </a:solidFill>
              <a:ln w="28575">
                <a:solidFill>
                  <a:srgbClr val="000000"/>
                </a:solidFill>
                <a:miter lim="800000"/>
                <a:headEnd/>
                <a:tailEnd/>
              </a:ln>
            </p:spPr>
            <p:txBody>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Aft>
                    <a:spcPct val="0"/>
                  </a:spcAft>
                  <a:buClr>
                    <a:srgbClr val="FF0000"/>
                  </a:buClr>
                  <a:buFont typeface="Arial" panose="020B0604020202020204" pitchFamily="34" charset="0"/>
                  <a:buNone/>
                </a:pPr>
                <a:endParaRPr lang="en-US" altLang="en-US" sz="1800">
                  <a:solidFill>
                    <a:schemeClr val="tx1"/>
                  </a:solidFill>
                  <a:latin typeface="Arial" panose="020B0604020202020204" pitchFamily="34" charset="0"/>
                </a:endParaRPr>
              </a:p>
            </p:txBody>
          </p:sp>
        </p:grpSp>
        <p:sp>
          <p:nvSpPr>
            <p:cNvPr id="29738" name="Text Box 47"/>
            <p:cNvSpPr txBox="1">
              <a:spLocks noChangeArrowheads="1"/>
            </p:cNvSpPr>
            <p:nvPr/>
          </p:nvSpPr>
          <p:spPr bwMode="auto">
            <a:xfrm>
              <a:off x="4266" y="1746"/>
              <a:ext cx="76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lg" len="lg"/>
                  <a:tailEnd type="none" w="lg" len="lg"/>
                </a14:hiddenLine>
              </a:ext>
            </a:extLst>
          </p:spPr>
          <p:txBody>
            <a:bodyPr wrap="none">
              <a:spAutoFit/>
            </a:bodyPr>
            <a:lstStyle>
              <a:lvl1pPr>
                <a:spcBef>
                  <a:spcPct val="20000"/>
                </a:spcBef>
                <a:spcAft>
                  <a:spcPct val="50000"/>
                </a:spcAft>
                <a:buClr>
                  <a:srgbClr val="EEB000"/>
                </a:buClr>
                <a:buFont typeface="Wingdings" panose="05000000000000000000" pitchFamily="2" charset="2"/>
                <a:buChar char="o"/>
                <a:defRPr sz="2200">
                  <a:solidFill>
                    <a:schemeClr val="folHlink"/>
                  </a:solidFill>
                  <a:latin typeface="Verdana" panose="020B0604030504040204" pitchFamily="34" charset="0"/>
                </a:defRPr>
              </a:lvl1pPr>
              <a:lvl2pPr marL="742950" indent="-285750">
                <a:spcBef>
                  <a:spcPct val="20000"/>
                </a:spcBef>
                <a:spcAft>
                  <a:spcPct val="50000"/>
                </a:spcAft>
                <a:buClr>
                  <a:srgbClr val="EEB000"/>
                </a:buClr>
                <a:buFont typeface="Wingdings" panose="05000000000000000000" pitchFamily="2" charset="2"/>
                <a:buChar char="n"/>
                <a:defRPr sz="2000">
                  <a:solidFill>
                    <a:schemeClr val="hlink"/>
                  </a:solidFill>
                  <a:latin typeface="Verdana" panose="020B0604030504040204" pitchFamily="34" charset="0"/>
                </a:defRPr>
              </a:lvl2pPr>
              <a:lvl3pPr marL="1143000" indent="-228600">
                <a:spcBef>
                  <a:spcPct val="20000"/>
                </a:spcBef>
                <a:buClr>
                  <a:srgbClr val="EEB000"/>
                </a:buClr>
                <a:buFont typeface="Wingdings" panose="05000000000000000000" pitchFamily="2" charset="2"/>
                <a:buChar char="o"/>
                <a:defRPr sz="2400">
                  <a:solidFill>
                    <a:schemeClr val="tx1"/>
                  </a:solidFill>
                  <a:latin typeface="Verdana" panose="020B0604030504040204" pitchFamily="34" charset="0"/>
                </a:defRPr>
              </a:lvl3pPr>
              <a:lvl4pPr marL="1600200" indent="-228600">
                <a:spcBef>
                  <a:spcPct val="20000"/>
                </a:spcBef>
                <a:buClr>
                  <a:srgbClr val="EEB000"/>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rgbClr val="EEB000"/>
                </a:buClr>
                <a:buFont typeface="Wingdings" panose="05000000000000000000" pitchFamily="2" charset="2"/>
                <a:buChar char="§"/>
                <a:defRPr sz="1600">
                  <a:solidFill>
                    <a:schemeClr val="tx1"/>
                  </a:solidFill>
                  <a:latin typeface="Verdana" panose="020B0604030504040204" pitchFamily="34" charset="0"/>
                </a:defRPr>
              </a:lvl5pPr>
              <a:lvl6pPr marL="25146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6pPr>
              <a:lvl7pPr marL="29718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7pPr>
              <a:lvl8pPr marL="34290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8pPr>
              <a:lvl9pPr marL="3886200" indent="-228600" eaLnBrk="0" fontAlgn="base" hangingPunct="0">
                <a:spcBef>
                  <a:spcPct val="25000"/>
                </a:spcBef>
                <a:spcAft>
                  <a:spcPct val="0"/>
                </a:spcAft>
                <a:buClr>
                  <a:srgbClr val="EEB000"/>
                </a:buClr>
                <a:buFont typeface="Wingdings" panose="05000000000000000000" pitchFamily="2" charset="2"/>
                <a:buChar char="§"/>
                <a:defRPr sz="1600">
                  <a:solidFill>
                    <a:schemeClr val="tx1"/>
                  </a:solidFill>
                  <a:latin typeface="Verdana" panose="020B0604030504040204" pitchFamily="34" charset="0"/>
                </a:defRPr>
              </a:lvl9pPr>
            </a:lstStyle>
            <a:p>
              <a:pPr algn="ctr" eaLnBrk="1" hangingPunct="1">
                <a:spcBef>
                  <a:spcPct val="0"/>
                </a:spcBef>
                <a:spcAft>
                  <a:spcPct val="0"/>
                </a:spcAft>
                <a:buClrTx/>
                <a:buFontTx/>
                <a:buNone/>
              </a:pPr>
              <a:r>
                <a:rPr lang="en-US" altLang="en-US" sz="1600">
                  <a:solidFill>
                    <a:schemeClr val="tx1"/>
                  </a:solidFill>
                  <a:latin typeface="Arial" panose="020B0604020202020204" pitchFamily="34" charset="0"/>
                </a:rPr>
                <a:t>Connection</a:t>
              </a:r>
            </a:p>
            <a:p>
              <a:pPr algn="ctr" eaLnBrk="1" hangingPunct="1">
                <a:spcBef>
                  <a:spcPct val="0"/>
                </a:spcBef>
                <a:spcAft>
                  <a:spcPct val="0"/>
                </a:spcAft>
                <a:buClrTx/>
                <a:buFontTx/>
                <a:buNone/>
              </a:pPr>
              <a:r>
                <a:rPr lang="en-US" altLang="en-US" sz="1600">
                  <a:solidFill>
                    <a:schemeClr val="tx1"/>
                  </a:solidFill>
                  <a:latin typeface="Arial" panose="020B0604020202020204" pitchFamily="34" charset="0"/>
                </a:rPr>
                <a:t>pool</a:t>
              </a:r>
            </a:p>
          </p:txBody>
        </p:sp>
        <p:sp>
          <p:nvSpPr>
            <p:cNvPr id="29739" name="Freeform 58"/>
            <p:cNvSpPr>
              <a:spLocks/>
            </p:cNvSpPr>
            <p:nvPr/>
          </p:nvSpPr>
          <p:spPr bwMode="auto">
            <a:xfrm>
              <a:off x="3936" y="2160"/>
              <a:ext cx="60" cy="108"/>
            </a:xfrm>
            <a:custGeom>
              <a:avLst/>
              <a:gdLst>
                <a:gd name="T0" fmla="*/ 148 w 48"/>
                <a:gd name="T1" fmla="*/ 172 h 96"/>
                <a:gd name="T2" fmla="*/ 148 w 48"/>
                <a:gd name="T3" fmla="*/ 0 h 96"/>
                <a:gd name="T4" fmla="*/ 0 w 48"/>
                <a:gd name="T5" fmla="*/ 0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48" y="96"/>
                  </a:moveTo>
                  <a:lnTo>
                    <a:pt x="48" y="0"/>
                  </a:lnTo>
                  <a:lnTo>
                    <a:pt x="0" y="0"/>
                  </a:lnTo>
                </a:path>
              </a:pathLst>
            </a:custGeom>
            <a:noFill/>
            <a:ln w="12700">
              <a:solidFill>
                <a:schemeClr val="tx1"/>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9740" name="Freeform 59"/>
            <p:cNvSpPr>
              <a:spLocks/>
            </p:cNvSpPr>
            <p:nvPr/>
          </p:nvSpPr>
          <p:spPr bwMode="auto">
            <a:xfrm flipH="1">
              <a:off x="3837" y="2160"/>
              <a:ext cx="60" cy="108"/>
            </a:xfrm>
            <a:custGeom>
              <a:avLst/>
              <a:gdLst>
                <a:gd name="T0" fmla="*/ 148 w 48"/>
                <a:gd name="T1" fmla="*/ 172 h 96"/>
                <a:gd name="T2" fmla="*/ 148 w 48"/>
                <a:gd name="T3" fmla="*/ 0 h 96"/>
                <a:gd name="T4" fmla="*/ 0 w 48"/>
                <a:gd name="T5" fmla="*/ 0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48" y="96"/>
                  </a:moveTo>
                  <a:lnTo>
                    <a:pt x="48" y="0"/>
                  </a:lnTo>
                  <a:lnTo>
                    <a:pt x="0" y="0"/>
                  </a:lnTo>
                </a:path>
              </a:pathLst>
            </a:custGeom>
            <a:noFill/>
            <a:ln w="12700">
              <a:solidFill>
                <a:schemeClr val="tx1"/>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9741" name="Freeform 60"/>
            <p:cNvSpPr>
              <a:spLocks/>
            </p:cNvSpPr>
            <p:nvPr/>
          </p:nvSpPr>
          <p:spPr bwMode="auto">
            <a:xfrm>
              <a:off x="3792" y="1968"/>
              <a:ext cx="123" cy="123"/>
            </a:xfrm>
            <a:custGeom>
              <a:avLst/>
              <a:gdLst>
                <a:gd name="T0" fmla="*/ 5299 w 48"/>
                <a:gd name="T1" fmla="*/ 332 h 96"/>
                <a:gd name="T2" fmla="*/ 5299 w 48"/>
                <a:gd name="T3" fmla="*/ 0 h 96"/>
                <a:gd name="T4" fmla="*/ 0 w 48"/>
                <a:gd name="T5" fmla="*/ 0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48" y="96"/>
                  </a:moveTo>
                  <a:lnTo>
                    <a:pt x="48" y="0"/>
                  </a:lnTo>
                  <a:lnTo>
                    <a:pt x="0" y="0"/>
                  </a:lnTo>
                </a:path>
              </a:pathLst>
            </a:custGeom>
            <a:noFill/>
            <a:ln w="12700">
              <a:solidFill>
                <a:schemeClr val="tx1"/>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9742" name="Freeform 61"/>
            <p:cNvSpPr>
              <a:spLocks/>
            </p:cNvSpPr>
            <p:nvPr/>
          </p:nvSpPr>
          <p:spPr bwMode="auto">
            <a:xfrm flipH="1">
              <a:off x="3618" y="1824"/>
              <a:ext cx="60" cy="108"/>
            </a:xfrm>
            <a:custGeom>
              <a:avLst/>
              <a:gdLst>
                <a:gd name="T0" fmla="*/ 148 w 48"/>
                <a:gd name="T1" fmla="*/ 172 h 96"/>
                <a:gd name="T2" fmla="*/ 148 w 48"/>
                <a:gd name="T3" fmla="*/ 0 h 96"/>
                <a:gd name="T4" fmla="*/ 0 w 48"/>
                <a:gd name="T5" fmla="*/ 0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48" y="96"/>
                  </a:moveTo>
                  <a:lnTo>
                    <a:pt x="48" y="0"/>
                  </a:lnTo>
                  <a:lnTo>
                    <a:pt x="0" y="0"/>
                  </a:lnTo>
                </a:path>
              </a:pathLst>
            </a:custGeom>
            <a:noFill/>
            <a:ln w="9525">
              <a:solidFill>
                <a:schemeClr val="tx1"/>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9743" name="Freeform 62"/>
            <p:cNvSpPr>
              <a:spLocks/>
            </p:cNvSpPr>
            <p:nvPr/>
          </p:nvSpPr>
          <p:spPr bwMode="auto">
            <a:xfrm>
              <a:off x="3732" y="1824"/>
              <a:ext cx="60" cy="108"/>
            </a:xfrm>
            <a:custGeom>
              <a:avLst/>
              <a:gdLst>
                <a:gd name="T0" fmla="*/ 148 w 48"/>
                <a:gd name="T1" fmla="*/ 172 h 96"/>
                <a:gd name="T2" fmla="*/ 148 w 48"/>
                <a:gd name="T3" fmla="*/ 0 h 96"/>
                <a:gd name="T4" fmla="*/ 0 w 48"/>
                <a:gd name="T5" fmla="*/ 0 h 96"/>
                <a:gd name="T6" fmla="*/ 0 60000 65536"/>
                <a:gd name="T7" fmla="*/ 0 60000 65536"/>
                <a:gd name="T8" fmla="*/ 0 60000 65536"/>
                <a:gd name="T9" fmla="*/ 0 w 48"/>
                <a:gd name="T10" fmla="*/ 0 h 96"/>
                <a:gd name="T11" fmla="*/ 48 w 48"/>
                <a:gd name="T12" fmla="*/ 96 h 96"/>
              </a:gdLst>
              <a:ahLst/>
              <a:cxnLst>
                <a:cxn ang="T6">
                  <a:pos x="T0" y="T1"/>
                </a:cxn>
                <a:cxn ang="T7">
                  <a:pos x="T2" y="T3"/>
                </a:cxn>
                <a:cxn ang="T8">
                  <a:pos x="T4" y="T5"/>
                </a:cxn>
              </a:cxnLst>
              <a:rect l="T9" t="T10" r="T11" b="T12"/>
              <a:pathLst>
                <a:path w="48" h="96">
                  <a:moveTo>
                    <a:pt x="48" y="96"/>
                  </a:moveTo>
                  <a:lnTo>
                    <a:pt x="48" y="0"/>
                  </a:lnTo>
                  <a:lnTo>
                    <a:pt x="0" y="0"/>
                  </a:lnTo>
                </a:path>
              </a:pathLst>
            </a:custGeom>
            <a:noFill/>
            <a:ln w="9525">
              <a:solidFill>
                <a:schemeClr val="tx1"/>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29715" name="Line 7"/>
          <p:cNvSpPr>
            <a:spLocks noChangeShapeType="1"/>
          </p:cNvSpPr>
          <p:nvPr/>
        </p:nvSpPr>
        <p:spPr bwMode="auto">
          <a:xfrm>
            <a:off x="4114800" y="2971800"/>
            <a:ext cx="2979738" cy="0"/>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rot="10800000"/>
          <a:lstStyle/>
          <a:p>
            <a:endParaRPr lang="en-IN"/>
          </a:p>
        </p:txBody>
      </p:sp>
      <p:sp>
        <p:nvSpPr>
          <p:cNvPr id="29716" name="Line 8"/>
          <p:cNvSpPr>
            <a:spLocks noChangeShapeType="1"/>
          </p:cNvSpPr>
          <p:nvPr/>
        </p:nvSpPr>
        <p:spPr bwMode="auto">
          <a:xfrm flipH="1">
            <a:off x="4133850" y="3124200"/>
            <a:ext cx="2971800" cy="0"/>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rot="10800000"/>
          <a:lstStyle/>
          <a:p>
            <a:endParaRPr lang="en-IN"/>
          </a:p>
        </p:txBody>
      </p:sp>
      <p:sp>
        <p:nvSpPr>
          <p:cNvPr id="29717" name="Line 11"/>
          <p:cNvSpPr>
            <a:spLocks noChangeShapeType="1"/>
          </p:cNvSpPr>
          <p:nvPr/>
        </p:nvSpPr>
        <p:spPr bwMode="auto">
          <a:xfrm flipH="1">
            <a:off x="3379788" y="5715000"/>
            <a:ext cx="5486400" cy="0"/>
          </a:xfrm>
          <a:prstGeom prst="line">
            <a:avLst/>
          </a:prstGeom>
          <a:noFill/>
          <a:ln w="28575">
            <a:solidFill>
              <a:schemeClr val="tx1"/>
            </a:solidFill>
            <a:round/>
            <a:headEnd type="triangle" w="sm" len="sm"/>
            <a:tailEnd type="triangle" w="sm" len="sm"/>
          </a:ln>
          <a:extLst>
            <a:ext uri="{909E8E84-426E-40DD-AFC4-6F175D3DCCD1}">
              <a14:hiddenFill xmlns:a14="http://schemas.microsoft.com/office/drawing/2010/main">
                <a:noFill/>
              </a14:hiddenFill>
            </a:ext>
          </a:extLst>
        </p:spPr>
        <p:txBody>
          <a:bodyPr rot="10800000"/>
          <a:lstStyle/>
          <a:p>
            <a:endParaRPr lang="en-IN"/>
          </a:p>
        </p:txBody>
      </p:sp>
      <p:sp>
        <p:nvSpPr>
          <p:cNvPr id="29718" name="Freeform 55"/>
          <p:cNvSpPr>
            <a:spLocks/>
          </p:cNvSpPr>
          <p:nvPr/>
        </p:nvSpPr>
        <p:spPr bwMode="auto">
          <a:xfrm>
            <a:off x="3429000" y="4171950"/>
            <a:ext cx="5105400" cy="228600"/>
          </a:xfrm>
          <a:custGeom>
            <a:avLst/>
            <a:gdLst>
              <a:gd name="T0" fmla="*/ 0 w 3216"/>
              <a:gd name="T1" fmla="*/ 2147483646 h 144"/>
              <a:gd name="T2" fmla="*/ 2147483646 w 3216"/>
              <a:gd name="T3" fmla="*/ 2147483646 h 144"/>
              <a:gd name="T4" fmla="*/ 2147483646 w 3216"/>
              <a:gd name="T5" fmla="*/ 0 h 144"/>
              <a:gd name="T6" fmla="*/ 0 60000 65536"/>
              <a:gd name="T7" fmla="*/ 0 60000 65536"/>
              <a:gd name="T8" fmla="*/ 0 60000 65536"/>
              <a:gd name="T9" fmla="*/ 0 w 3216"/>
              <a:gd name="T10" fmla="*/ 0 h 144"/>
              <a:gd name="T11" fmla="*/ 3216 w 3216"/>
              <a:gd name="T12" fmla="*/ 144 h 144"/>
            </a:gdLst>
            <a:ahLst/>
            <a:cxnLst>
              <a:cxn ang="T6">
                <a:pos x="T0" y="T1"/>
              </a:cxn>
              <a:cxn ang="T7">
                <a:pos x="T2" y="T3"/>
              </a:cxn>
              <a:cxn ang="T8">
                <a:pos x="T4" y="T5"/>
              </a:cxn>
            </a:cxnLst>
            <a:rect l="T9" t="T10" r="T11" b="T12"/>
            <a:pathLst>
              <a:path w="3216" h="144">
                <a:moveTo>
                  <a:pt x="0" y="144"/>
                </a:moveTo>
                <a:lnTo>
                  <a:pt x="3216" y="144"/>
                </a:lnTo>
                <a:lnTo>
                  <a:pt x="3216" y="0"/>
                </a:lnTo>
              </a:path>
            </a:pathLst>
          </a:custGeom>
          <a:noFill/>
          <a:ln w="28575">
            <a:solidFill>
              <a:schemeClr val="tx1"/>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29719" name="Freeform 56"/>
          <p:cNvSpPr>
            <a:spLocks/>
          </p:cNvSpPr>
          <p:nvPr/>
        </p:nvSpPr>
        <p:spPr bwMode="auto">
          <a:xfrm>
            <a:off x="3429000" y="4191000"/>
            <a:ext cx="5334000" cy="457200"/>
          </a:xfrm>
          <a:custGeom>
            <a:avLst/>
            <a:gdLst>
              <a:gd name="T0" fmla="*/ 0 w 3216"/>
              <a:gd name="T1" fmla="*/ 2147483646 h 144"/>
              <a:gd name="T2" fmla="*/ 2147483646 w 3216"/>
              <a:gd name="T3" fmla="*/ 2147483646 h 144"/>
              <a:gd name="T4" fmla="*/ 2147483646 w 3216"/>
              <a:gd name="T5" fmla="*/ 0 h 144"/>
              <a:gd name="T6" fmla="*/ 0 60000 65536"/>
              <a:gd name="T7" fmla="*/ 0 60000 65536"/>
              <a:gd name="T8" fmla="*/ 0 60000 65536"/>
              <a:gd name="T9" fmla="*/ 0 w 3216"/>
              <a:gd name="T10" fmla="*/ 0 h 144"/>
              <a:gd name="T11" fmla="*/ 3216 w 3216"/>
              <a:gd name="T12" fmla="*/ 144 h 144"/>
            </a:gdLst>
            <a:ahLst/>
            <a:cxnLst>
              <a:cxn ang="T6">
                <a:pos x="T0" y="T1"/>
              </a:cxn>
              <a:cxn ang="T7">
                <a:pos x="T2" y="T3"/>
              </a:cxn>
              <a:cxn ang="T8">
                <a:pos x="T4" y="T5"/>
              </a:cxn>
            </a:cxnLst>
            <a:rect l="T9" t="T10" r="T11" b="T12"/>
            <a:pathLst>
              <a:path w="3216" h="144">
                <a:moveTo>
                  <a:pt x="0" y="144"/>
                </a:moveTo>
                <a:lnTo>
                  <a:pt x="3216" y="144"/>
                </a:lnTo>
                <a:lnTo>
                  <a:pt x="3216" y="0"/>
                </a:lnTo>
              </a:path>
            </a:pathLst>
          </a:custGeom>
          <a:noFill/>
          <a:ln w="28575">
            <a:solidFill>
              <a:schemeClr val="tx1"/>
            </a:solidFill>
            <a:round/>
            <a:headEnd type="triangl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Tree>
    <p:extLst>
      <p:ext uri="{BB962C8B-B14F-4D97-AF65-F5344CB8AC3E}">
        <p14:creationId xmlns:p14="http://schemas.microsoft.com/office/powerpoint/2010/main" val="604946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4179" y="217868"/>
            <a:ext cx="11582400" cy="5638800"/>
          </a:xfrm>
        </p:spPr>
        <p:txBody>
          <a:bodyPr>
            <a:normAutofit lnSpcReduction="10000"/>
          </a:bodyPr>
          <a:lstStyle/>
          <a:p>
            <a:pPr marL="0" indent="0">
              <a:buNone/>
            </a:pPr>
            <a:r>
              <a:rPr lang="en-IN" sz="2800" b="1" dirty="0"/>
              <a:t>DataSource Support in Spring Framework</a:t>
            </a:r>
          </a:p>
          <a:p>
            <a:pPr marL="0" indent="0">
              <a:buNone/>
            </a:pPr>
            <a:endParaRPr lang="en-IN" dirty="0"/>
          </a:p>
          <a:p>
            <a:r>
              <a:rPr lang="en-IN" dirty="0"/>
              <a:t>Spring has excellent support for DataSource</a:t>
            </a:r>
          </a:p>
          <a:p>
            <a:pPr marL="0" indent="0">
              <a:buNone/>
            </a:pPr>
            <a:endParaRPr lang="en-IN" dirty="0"/>
          </a:p>
          <a:p>
            <a:r>
              <a:rPr lang="en-IN" dirty="0"/>
              <a:t>Spring DAO Module implements DataSource interface and gives you the benefits of Using DataSource without the need of Web Container or Application Server  to create it</a:t>
            </a:r>
          </a:p>
          <a:p>
            <a:endParaRPr lang="en-IN"/>
          </a:p>
          <a:p>
            <a:r>
              <a:rPr lang="en-IN"/>
              <a:t>The </a:t>
            </a:r>
            <a:r>
              <a:rPr lang="en-IN" dirty="0"/>
              <a:t>out of the box implemented </a:t>
            </a:r>
            <a:r>
              <a:rPr lang="en-IN" dirty="0" err="1"/>
              <a:t>datasources</a:t>
            </a:r>
            <a:r>
              <a:rPr lang="en-IN" dirty="0"/>
              <a:t> are primarily used for development and testing your application.</a:t>
            </a:r>
          </a:p>
          <a:p>
            <a:endParaRPr lang="en-IN" dirty="0"/>
          </a:p>
          <a:p>
            <a:r>
              <a:rPr lang="en-IN" dirty="0"/>
              <a:t>When you deploy your application in production server, you are recommended to use </a:t>
            </a:r>
            <a:r>
              <a:rPr lang="en-IN" dirty="0" err="1"/>
              <a:t>datasource</a:t>
            </a:r>
            <a:r>
              <a:rPr lang="en-IN" dirty="0"/>
              <a:t> resourced from Web Server (</a:t>
            </a:r>
            <a:r>
              <a:rPr lang="en-IN" dirty="0" err="1"/>
              <a:t>e.g</a:t>
            </a:r>
            <a:r>
              <a:rPr lang="en-IN" dirty="0"/>
              <a:t> Tomcat) or Application Server (e.g. WebLogic).</a:t>
            </a:r>
          </a:p>
        </p:txBody>
      </p:sp>
    </p:spTree>
    <p:extLst>
      <p:ext uri="{BB962C8B-B14F-4D97-AF65-F5344CB8AC3E}">
        <p14:creationId xmlns:p14="http://schemas.microsoft.com/office/powerpoint/2010/main" val="220990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 spring-supported data access you use, you’ll likely need to configure a reference to a data source.</a:t>
            </a:r>
          </a:p>
          <a:p>
            <a:r>
              <a:rPr lang="en-US" dirty="0"/>
              <a:t>Spring offers several options for configuring data-source beans in your Spring application, including these:</a:t>
            </a:r>
          </a:p>
          <a:p>
            <a:pPr lvl="1"/>
            <a:r>
              <a:rPr lang="en-US" dirty="0"/>
              <a:t>Data sources that are defined by a JDBC driver</a:t>
            </a:r>
          </a:p>
          <a:p>
            <a:pPr lvl="1"/>
            <a:r>
              <a:rPr lang="en-US" dirty="0"/>
              <a:t>Data sources that are looked up by JNDI</a:t>
            </a:r>
          </a:p>
          <a:p>
            <a:pPr lvl="1"/>
            <a:r>
              <a:rPr lang="en-US" dirty="0"/>
              <a:t>Data sources that pool connections</a:t>
            </a:r>
          </a:p>
          <a:p>
            <a:pPr lvl="1"/>
            <a:endParaRPr lang="en-IN" dirty="0"/>
          </a:p>
          <a:p>
            <a:r>
              <a:rPr lang="en-US" dirty="0"/>
              <a:t>For production-ready applications, It is recommended to use a data source that draws its connections from a connection pool.</a:t>
            </a:r>
          </a:p>
        </p:txBody>
      </p:sp>
      <p:sp>
        <p:nvSpPr>
          <p:cNvPr id="3" name="TextBox 2"/>
          <p:cNvSpPr txBox="1"/>
          <p:nvPr/>
        </p:nvSpPr>
        <p:spPr>
          <a:xfrm>
            <a:off x="241300" y="257578"/>
            <a:ext cx="3973139" cy="523220"/>
          </a:xfrm>
          <a:prstGeom prst="rect">
            <a:avLst/>
          </a:prstGeom>
          <a:noFill/>
        </p:spPr>
        <p:txBody>
          <a:bodyPr wrap="none" rtlCol="0">
            <a:spAutoFit/>
          </a:bodyPr>
          <a:lstStyle/>
          <a:p>
            <a:r>
              <a:rPr lang="en-US" sz="2800" b="1" dirty="0"/>
              <a:t>Configuring a data source</a:t>
            </a:r>
          </a:p>
        </p:txBody>
      </p:sp>
    </p:spTree>
    <p:extLst>
      <p:ext uri="{BB962C8B-B14F-4D97-AF65-F5344CB8AC3E}">
        <p14:creationId xmlns:p14="http://schemas.microsoft.com/office/powerpoint/2010/main" val="2255883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990600"/>
            <a:ext cx="11582400" cy="1391992"/>
          </a:xfrm>
        </p:spPr>
        <p:txBody>
          <a:bodyPr>
            <a:normAutofit lnSpcReduction="10000"/>
          </a:bodyPr>
          <a:lstStyle/>
          <a:p>
            <a:r>
              <a:rPr lang="en-IN" dirty="0"/>
              <a:t>When a Spring application is deployed in a JEE Server (Application Server) like </a:t>
            </a:r>
            <a:r>
              <a:rPr lang="en-IN" dirty="0" err="1"/>
              <a:t>Jboss</a:t>
            </a:r>
            <a:r>
              <a:rPr lang="en-IN" dirty="0"/>
              <a:t> or </a:t>
            </a:r>
            <a:r>
              <a:rPr lang="en-IN" dirty="0" err="1"/>
              <a:t>WebLogic</a:t>
            </a:r>
            <a:r>
              <a:rPr lang="en-IN" dirty="0"/>
              <a:t>, </a:t>
            </a:r>
            <a:r>
              <a:rPr lang="en-US" dirty="0"/>
              <a:t>or even a web container like Tomcat, it can get a </a:t>
            </a:r>
            <a:r>
              <a:rPr lang="en-US" dirty="0" err="1"/>
              <a:t>DataSource</a:t>
            </a:r>
            <a:r>
              <a:rPr lang="en-US" dirty="0"/>
              <a:t> resourced from JNDI.</a:t>
            </a:r>
          </a:p>
          <a:p>
            <a:r>
              <a:rPr lang="en-IN" dirty="0"/>
              <a:t>Spring can wire a </a:t>
            </a:r>
            <a:r>
              <a:rPr lang="en-IN" dirty="0" err="1"/>
              <a:t>DataSourec</a:t>
            </a:r>
            <a:r>
              <a:rPr lang="en-IN" dirty="0"/>
              <a:t> in JEE environment using</a:t>
            </a:r>
          </a:p>
          <a:p>
            <a:endParaRPr lang="en-US" dirty="0"/>
          </a:p>
        </p:txBody>
      </p:sp>
      <p:sp>
        <p:nvSpPr>
          <p:cNvPr id="3" name="TextBox 2"/>
          <p:cNvSpPr txBox="1"/>
          <p:nvPr/>
        </p:nvSpPr>
        <p:spPr>
          <a:xfrm>
            <a:off x="241300" y="257578"/>
            <a:ext cx="3726598" cy="523220"/>
          </a:xfrm>
          <a:prstGeom prst="rect">
            <a:avLst/>
          </a:prstGeom>
          <a:noFill/>
        </p:spPr>
        <p:txBody>
          <a:bodyPr wrap="none" rtlCol="0">
            <a:spAutoFit/>
          </a:bodyPr>
          <a:lstStyle/>
          <a:p>
            <a:r>
              <a:rPr lang="en-US" sz="2800" b="1" dirty="0"/>
              <a:t>Using JNDI data sources</a:t>
            </a:r>
          </a:p>
        </p:txBody>
      </p:sp>
      <p:sp>
        <p:nvSpPr>
          <p:cNvPr id="4" name="TextBox 3"/>
          <p:cNvSpPr txBox="1"/>
          <p:nvPr/>
        </p:nvSpPr>
        <p:spPr>
          <a:xfrm>
            <a:off x="1468191" y="2493104"/>
            <a:ext cx="6619741" cy="830997"/>
          </a:xfrm>
          <a:prstGeom prst="rect">
            <a:avLst/>
          </a:prstGeom>
          <a:noFill/>
          <a:ln>
            <a:solidFill>
              <a:schemeClr val="accent1">
                <a:lumMod val="50000"/>
              </a:schemeClr>
            </a:solidFill>
          </a:ln>
        </p:spPr>
        <p:txBody>
          <a:bodyPr wrap="square" rtlCol="0">
            <a:spAutoFit/>
          </a:bodyPr>
          <a:lstStyle/>
          <a:p>
            <a:r>
              <a:rPr lang="en-US" sz="2400" dirty="0">
                <a:solidFill>
                  <a:srgbClr val="002060"/>
                </a:solidFill>
              </a:rPr>
              <a:t>&lt;</a:t>
            </a:r>
            <a:r>
              <a:rPr lang="en-US" sz="2400" dirty="0" err="1">
                <a:solidFill>
                  <a:srgbClr val="002060"/>
                </a:solidFill>
              </a:rPr>
              <a:t>jee:jndi-lookup</a:t>
            </a:r>
            <a:r>
              <a:rPr lang="en-US" sz="2400" dirty="0">
                <a:solidFill>
                  <a:srgbClr val="002060"/>
                </a:solidFill>
              </a:rPr>
              <a:t> id="</a:t>
            </a:r>
            <a:r>
              <a:rPr lang="en-US" sz="2400" dirty="0" err="1">
                <a:solidFill>
                  <a:srgbClr val="002060"/>
                </a:solidFill>
              </a:rPr>
              <a:t>dataSource</a:t>
            </a:r>
            <a:r>
              <a:rPr lang="en-US" sz="2400" dirty="0">
                <a:solidFill>
                  <a:srgbClr val="002060"/>
                </a:solidFill>
              </a:rPr>
              <a:t>"</a:t>
            </a:r>
          </a:p>
          <a:p>
            <a:r>
              <a:rPr lang="en-US" sz="2400" dirty="0" err="1">
                <a:solidFill>
                  <a:srgbClr val="002060"/>
                </a:solidFill>
              </a:rPr>
              <a:t>jndi</a:t>
            </a:r>
            <a:r>
              <a:rPr lang="en-US" sz="2400" dirty="0">
                <a:solidFill>
                  <a:srgbClr val="002060"/>
                </a:solidFill>
              </a:rPr>
              <a:t>-name="/</a:t>
            </a:r>
            <a:r>
              <a:rPr lang="en-US" sz="2400" dirty="0" err="1">
                <a:solidFill>
                  <a:srgbClr val="002060"/>
                </a:solidFill>
              </a:rPr>
              <a:t>jdbc</a:t>
            </a:r>
            <a:r>
              <a:rPr lang="en-US" sz="2400" dirty="0">
                <a:solidFill>
                  <a:srgbClr val="002060"/>
                </a:solidFill>
              </a:rPr>
              <a:t>/</a:t>
            </a:r>
            <a:r>
              <a:rPr lang="en-US" sz="2400" dirty="0" err="1">
                <a:solidFill>
                  <a:srgbClr val="002060"/>
                </a:solidFill>
              </a:rPr>
              <a:t>myDS</a:t>
            </a:r>
            <a:r>
              <a:rPr lang="en-US" sz="2400" dirty="0">
                <a:solidFill>
                  <a:srgbClr val="002060"/>
                </a:solidFill>
              </a:rPr>
              <a:t>“ resource-ref="true" /&gt;</a:t>
            </a:r>
          </a:p>
        </p:txBody>
      </p:sp>
      <p:sp>
        <p:nvSpPr>
          <p:cNvPr id="5" name="TextBox 4"/>
          <p:cNvSpPr txBox="1"/>
          <p:nvPr/>
        </p:nvSpPr>
        <p:spPr>
          <a:xfrm>
            <a:off x="4417600" y="3553673"/>
            <a:ext cx="7340664" cy="2554545"/>
          </a:xfrm>
          <a:prstGeom prst="rect">
            <a:avLst/>
          </a:prstGeom>
          <a:noFill/>
          <a:ln>
            <a:solidFill>
              <a:schemeClr val="accent1">
                <a:lumMod val="50000"/>
              </a:schemeClr>
            </a:solidFill>
          </a:ln>
        </p:spPr>
        <p:txBody>
          <a:bodyPr wrap="none" rtlCol="0">
            <a:spAutoFit/>
          </a:bodyPr>
          <a:lstStyle/>
          <a:p>
            <a:r>
              <a:rPr lang="en-US" sz="2000" dirty="0"/>
              <a:t>@Bean</a:t>
            </a:r>
          </a:p>
          <a:p>
            <a:r>
              <a:rPr lang="en-US" sz="2000" dirty="0"/>
              <a:t>public </a:t>
            </a:r>
            <a:r>
              <a:rPr lang="en-US" sz="2000" dirty="0" err="1"/>
              <a:t>JndiObjectFactoryBean</a:t>
            </a:r>
            <a:r>
              <a:rPr lang="en-US" sz="2000" dirty="0"/>
              <a:t> </a:t>
            </a:r>
            <a:r>
              <a:rPr lang="en-US" sz="2000" dirty="0" err="1"/>
              <a:t>dataSource</a:t>
            </a:r>
            <a:r>
              <a:rPr lang="en-US" sz="2000" dirty="0"/>
              <a:t>() {</a:t>
            </a:r>
          </a:p>
          <a:p>
            <a:r>
              <a:rPr lang="en-US" sz="2000" dirty="0" err="1"/>
              <a:t>JndiObjectFactoryBean</a:t>
            </a:r>
            <a:r>
              <a:rPr lang="en-US" sz="2000" dirty="0"/>
              <a:t> </a:t>
            </a:r>
            <a:r>
              <a:rPr lang="en-US" sz="2000" dirty="0" err="1"/>
              <a:t>jndiObjectFB</a:t>
            </a:r>
            <a:r>
              <a:rPr lang="en-US" sz="2000" dirty="0"/>
              <a:t> = new </a:t>
            </a:r>
            <a:r>
              <a:rPr lang="en-US" sz="2000" dirty="0" err="1"/>
              <a:t>JndiObjectFactoryBean</a:t>
            </a:r>
            <a:r>
              <a:rPr lang="en-US" sz="2000" dirty="0"/>
              <a:t>();</a:t>
            </a:r>
          </a:p>
          <a:p>
            <a:r>
              <a:rPr lang="en-US" sz="2000" dirty="0" err="1"/>
              <a:t>jndiObjectFB.setJndiName</a:t>
            </a:r>
            <a:r>
              <a:rPr lang="en-US" sz="2000" dirty="0"/>
              <a:t>("</a:t>
            </a:r>
            <a:r>
              <a:rPr lang="en-US" sz="2000" dirty="0" err="1"/>
              <a:t>jdbc</a:t>
            </a:r>
            <a:r>
              <a:rPr lang="en-US" sz="2000" dirty="0"/>
              <a:t>/</a:t>
            </a:r>
            <a:r>
              <a:rPr lang="en-US" sz="2000" dirty="0" err="1"/>
              <a:t>myDS</a:t>
            </a:r>
            <a:r>
              <a:rPr lang="en-US" sz="2000" dirty="0"/>
              <a:t>");</a:t>
            </a:r>
          </a:p>
          <a:p>
            <a:r>
              <a:rPr lang="en-US" sz="2000" dirty="0" err="1"/>
              <a:t>jndiObjectFB.setResourceRef</a:t>
            </a:r>
            <a:r>
              <a:rPr lang="en-US" sz="2000" dirty="0"/>
              <a:t>(true);</a:t>
            </a:r>
          </a:p>
          <a:p>
            <a:r>
              <a:rPr lang="en-US" sz="2000" dirty="0" err="1"/>
              <a:t>jndiObjectFB.setProxyInterface</a:t>
            </a:r>
            <a:r>
              <a:rPr lang="en-US" sz="2000" dirty="0"/>
              <a:t>(</a:t>
            </a:r>
            <a:r>
              <a:rPr lang="en-US" sz="2000" dirty="0" err="1"/>
              <a:t>javax.sql.DataSource.class</a:t>
            </a:r>
            <a:r>
              <a:rPr lang="en-US" sz="2000" dirty="0"/>
              <a:t>);</a:t>
            </a:r>
          </a:p>
          <a:p>
            <a:r>
              <a:rPr lang="en-US" sz="2000" dirty="0"/>
              <a:t>return </a:t>
            </a:r>
            <a:r>
              <a:rPr lang="en-US" sz="2000" dirty="0" err="1"/>
              <a:t>jndiObjectFB</a:t>
            </a:r>
            <a:r>
              <a:rPr lang="en-US" sz="2000" dirty="0"/>
              <a:t>;</a:t>
            </a:r>
          </a:p>
          <a:p>
            <a:r>
              <a:rPr lang="en-US" sz="2000" dirty="0"/>
              <a:t>}</a:t>
            </a:r>
          </a:p>
        </p:txBody>
      </p:sp>
      <p:sp>
        <p:nvSpPr>
          <p:cNvPr id="6" name="TextBox 5"/>
          <p:cNvSpPr txBox="1"/>
          <p:nvPr/>
        </p:nvSpPr>
        <p:spPr>
          <a:xfrm>
            <a:off x="241300" y="3676784"/>
            <a:ext cx="3992449" cy="2308324"/>
          </a:xfrm>
          <a:prstGeom prst="rect">
            <a:avLst/>
          </a:prstGeom>
          <a:solidFill>
            <a:schemeClr val="accent2">
              <a:lumMod val="40000"/>
              <a:lumOff val="60000"/>
            </a:schemeClr>
          </a:solidFill>
        </p:spPr>
        <p:txBody>
          <a:bodyPr wrap="square" rtlCol="0">
            <a:spAutoFit/>
          </a:bodyPr>
          <a:lstStyle/>
          <a:p>
            <a:pPr marL="285750" indent="-285750">
              <a:buFont typeface="Arial" panose="020B0604020202020204" pitchFamily="34" charset="0"/>
              <a:buChar char="•"/>
            </a:pPr>
            <a:r>
              <a:rPr lang="en-US" sz="2400" dirty="0"/>
              <a:t>Alternatively, if you’re using Java  configuration, you can use </a:t>
            </a:r>
            <a:r>
              <a:rPr lang="en-US" sz="2400" dirty="0" err="1"/>
              <a:t>JndiObjectFactoryBean</a:t>
            </a:r>
            <a:r>
              <a:rPr lang="en-US" sz="2400" dirty="0"/>
              <a:t> to look up the </a:t>
            </a:r>
            <a:r>
              <a:rPr lang="en-US" sz="2400" dirty="0" err="1"/>
              <a:t>DataSource</a:t>
            </a:r>
            <a:r>
              <a:rPr lang="en-US" sz="2400" dirty="0"/>
              <a:t> from JNDI</a:t>
            </a:r>
          </a:p>
          <a:p>
            <a:endParaRPr lang="en-US" sz="2400" dirty="0"/>
          </a:p>
        </p:txBody>
      </p:sp>
    </p:spTree>
    <p:extLst>
      <p:ext uri="{BB962C8B-B14F-4D97-AF65-F5344CB8AC3E}">
        <p14:creationId xmlns:p14="http://schemas.microsoft.com/office/powerpoint/2010/main" val="18079125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990600"/>
            <a:ext cx="11582400" cy="2576848"/>
          </a:xfrm>
        </p:spPr>
        <p:txBody>
          <a:bodyPr>
            <a:normAutofit fontScale="92500" lnSpcReduction="20000"/>
          </a:bodyPr>
          <a:lstStyle/>
          <a:p>
            <a:r>
              <a:rPr lang="en-US" dirty="0"/>
              <a:t>You can configure a pooled data source directly in Spring.</a:t>
            </a:r>
          </a:p>
          <a:p>
            <a:r>
              <a:rPr lang="en-US" dirty="0"/>
              <a:t>Although Spring doesn’t provide a pooled data source, plenty of suitable ones are available.</a:t>
            </a:r>
          </a:p>
          <a:p>
            <a:r>
              <a:rPr lang="en-US" dirty="0"/>
              <a:t>A few popular open source options:</a:t>
            </a:r>
          </a:p>
          <a:p>
            <a:pPr lvl="1"/>
            <a:r>
              <a:rPr lang="en-US" dirty="0"/>
              <a:t>Apache Commons DBCP (http://jakarta.apache.org/commons/dbcp)</a:t>
            </a:r>
          </a:p>
          <a:p>
            <a:pPr lvl="1"/>
            <a:r>
              <a:rPr lang="en-US" dirty="0"/>
              <a:t>c3p0 (http://sourceforge.net/projects/c3p0/)</a:t>
            </a:r>
          </a:p>
          <a:p>
            <a:pPr lvl="1"/>
            <a:r>
              <a:rPr lang="en-US" dirty="0" err="1"/>
              <a:t>BoneCP</a:t>
            </a:r>
            <a:r>
              <a:rPr lang="en-US" dirty="0"/>
              <a:t> (</a:t>
            </a:r>
            <a:r>
              <a:rPr lang="en-US" dirty="0">
                <a:hlinkClick r:id="rId2"/>
              </a:rPr>
              <a:t>http://jolbox.com/</a:t>
            </a:r>
            <a:r>
              <a:rPr lang="en-US" dirty="0"/>
              <a:t>)</a:t>
            </a:r>
          </a:p>
          <a:p>
            <a:r>
              <a:rPr lang="en-US" dirty="0"/>
              <a:t>DBCP’s </a:t>
            </a:r>
            <a:r>
              <a:rPr lang="en-US" dirty="0" err="1"/>
              <a:t>BasicDataSource</a:t>
            </a:r>
            <a:r>
              <a:rPr lang="en-US" dirty="0"/>
              <a:t> is configured in XML as</a:t>
            </a:r>
          </a:p>
        </p:txBody>
      </p:sp>
      <p:sp>
        <p:nvSpPr>
          <p:cNvPr id="3" name="TextBox 2"/>
          <p:cNvSpPr txBox="1"/>
          <p:nvPr/>
        </p:nvSpPr>
        <p:spPr>
          <a:xfrm>
            <a:off x="360608" y="231820"/>
            <a:ext cx="7286547" cy="523220"/>
          </a:xfrm>
          <a:prstGeom prst="rect">
            <a:avLst/>
          </a:prstGeom>
          <a:noFill/>
        </p:spPr>
        <p:txBody>
          <a:bodyPr wrap="none" rtlCol="0">
            <a:spAutoFit/>
          </a:bodyPr>
          <a:lstStyle/>
          <a:p>
            <a:r>
              <a:rPr lang="en-US" sz="2800" b="1" dirty="0"/>
              <a:t>Using a pooled data source (XML Configuration)</a:t>
            </a:r>
            <a:endParaRPr lang="en-US" sz="2800" dirty="0"/>
          </a:p>
        </p:txBody>
      </p:sp>
      <p:sp>
        <p:nvSpPr>
          <p:cNvPr id="4" name="TextBox 3"/>
          <p:cNvSpPr txBox="1"/>
          <p:nvPr/>
        </p:nvSpPr>
        <p:spPr>
          <a:xfrm>
            <a:off x="1197734" y="3803008"/>
            <a:ext cx="9653348" cy="2677656"/>
          </a:xfrm>
          <a:prstGeom prst="rect">
            <a:avLst/>
          </a:prstGeom>
          <a:noFill/>
        </p:spPr>
        <p:txBody>
          <a:bodyPr wrap="none" rtlCol="0">
            <a:spAutoFit/>
          </a:bodyPr>
          <a:lstStyle/>
          <a:p>
            <a:r>
              <a:rPr lang="en-US" sz="2400" dirty="0"/>
              <a:t>&lt;bean id="</a:t>
            </a:r>
            <a:r>
              <a:rPr lang="en-US" sz="2400" dirty="0" err="1"/>
              <a:t>dataSource</a:t>
            </a:r>
            <a:r>
              <a:rPr lang="en-US" sz="2400" dirty="0"/>
              <a:t>" class="</a:t>
            </a:r>
            <a:r>
              <a:rPr lang="en-US" sz="2400" dirty="0" err="1"/>
              <a:t>org.apache.commons.dbcp.BasicDataSource</a:t>
            </a:r>
            <a:r>
              <a:rPr lang="en-US" sz="2400" dirty="0"/>
              <a:t>"</a:t>
            </a:r>
          </a:p>
          <a:p>
            <a:r>
              <a:rPr lang="en-US" sz="2400" dirty="0"/>
              <a:t>p:driverClassName="org.h2.Driver"</a:t>
            </a:r>
          </a:p>
          <a:p>
            <a:r>
              <a:rPr lang="en-US" sz="2400" dirty="0"/>
              <a:t>p:url="jdbc:h2:tcp://localhost/~/demodb"</a:t>
            </a:r>
          </a:p>
          <a:p>
            <a:r>
              <a:rPr lang="en-US" sz="2400" dirty="0"/>
              <a:t>p:username="sa"</a:t>
            </a:r>
          </a:p>
          <a:p>
            <a:r>
              <a:rPr lang="en-US" sz="2400" dirty="0"/>
              <a:t>p:password=""</a:t>
            </a:r>
          </a:p>
          <a:p>
            <a:r>
              <a:rPr lang="en-US" sz="2400" dirty="0"/>
              <a:t>p:initialSize="5"</a:t>
            </a:r>
          </a:p>
          <a:p>
            <a:r>
              <a:rPr lang="en-US" sz="2400" dirty="0"/>
              <a:t>p:maxActive="10" /&gt;</a:t>
            </a:r>
          </a:p>
        </p:txBody>
      </p:sp>
    </p:spTree>
    <p:extLst>
      <p:ext uri="{BB962C8B-B14F-4D97-AF65-F5344CB8AC3E}">
        <p14:creationId xmlns:p14="http://schemas.microsoft.com/office/powerpoint/2010/main" val="41988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41300" y="204920"/>
            <a:ext cx="7256987" cy="523220"/>
          </a:xfrm>
          <a:prstGeom prst="rect">
            <a:avLst/>
          </a:prstGeom>
        </p:spPr>
        <p:txBody>
          <a:bodyPr wrap="none">
            <a:spAutoFit/>
          </a:bodyPr>
          <a:lstStyle/>
          <a:p>
            <a:r>
              <a:rPr lang="en-US" sz="2800" b="1" dirty="0"/>
              <a:t>Using a pooled data source (Java Configuration)</a:t>
            </a:r>
            <a:endParaRPr lang="en-US" sz="2800" dirty="0"/>
          </a:p>
        </p:txBody>
      </p:sp>
      <p:sp>
        <p:nvSpPr>
          <p:cNvPr id="4" name="TextBox 3"/>
          <p:cNvSpPr txBox="1"/>
          <p:nvPr/>
        </p:nvSpPr>
        <p:spPr>
          <a:xfrm>
            <a:off x="953037" y="1519707"/>
            <a:ext cx="8139448" cy="4154984"/>
          </a:xfrm>
          <a:prstGeom prst="rect">
            <a:avLst/>
          </a:prstGeom>
          <a:noFill/>
          <a:ln>
            <a:solidFill>
              <a:schemeClr val="accent1">
                <a:lumMod val="50000"/>
              </a:schemeClr>
            </a:solidFill>
          </a:ln>
        </p:spPr>
        <p:txBody>
          <a:bodyPr wrap="square" rtlCol="0">
            <a:spAutoFit/>
          </a:bodyPr>
          <a:lstStyle/>
          <a:p>
            <a:r>
              <a:rPr lang="en-US" sz="2400" dirty="0"/>
              <a:t>@Bean</a:t>
            </a:r>
          </a:p>
          <a:p>
            <a:r>
              <a:rPr lang="en-US" sz="2400" dirty="0"/>
              <a:t>public </a:t>
            </a:r>
            <a:r>
              <a:rPr lang="en-US" sz="2400" dirty="0" err="1"/>
              <a:t>BasicDataSource</a:t>
            </a:r>
            <a:r>
              <a:rPr lang="en-US" sz="2400" dirty="0"/>
              <a:t> </a:t>
            </a:r>
            <a:r>
              <a:rPr lang="en-US" sz="2400" dirty="0" err="1"/>
              <a:t>dataSource</a:t>
            </a:r>
            <a:r>
              <a:rPr lang="en-US" sz="2400" dirty="0"/>
              <a:t>() {</a:t>
            </a:r>
          </a:p>
          <a:p>
            <a:r>
              <a:rPr lang="en-US" sz="2400" dirty="0" err="1"/>
              <a:t>BasicDataSource</a:t>
            </a:r>
            <a:r>
              <a:rPr lang="en-US" sz="2400" dirty="0"/>
              <a:t> ds = new </a:t>
            </a:r>
            <a:r>
              <a:rPr lang="en-US" sz="2400" dirty="0" err="1"/>
              <a:t>BasicDataSource</a:t>
            </a:r>
            <a:r>
              <a:rPr lang="en-US" sz="2400" dirty="0"/>
              <a:t>();</a:t>
            </a:r>
          </a:p>
          <a:p>
            <a:r>
              <a:rPr lang="en-US" sz="2400" dirty="0" err="1"/>
              <a:t>ds.setDriverClassName</a:t>
            </a:r>
            <a:r>
              <a:rPr lang="en-US" sz="2400" dirty="0"/>
              <a:t>(“</a:t>
            </a:r>
            <a:r>
              <a:rPr lang="en-US" sz="2400" dirty="0" err="1"/>
              <a:t>com.mysql.jdbc.Driver</a:t>
            </a:r>
            <a:r>
              <a:rPr lang="en-US" sz="2400" dirty="0"/>
              <a:t>");</a:t>
            </a:r>
          </a:p>
          <a:p>
            <a:r>
              <a:rPr lang="en-US" sz="2400" dirty="0" err="1"/>
              <a:t>ds.setUrl</a:t>
            </a:r>
            <a:r>
              <a:rPr lang="en-US" sz="2400" dirty="0"/>
              <a:t>(“</a:t>
            </a:r>
            <a:r>
              <a:rPr lang="en-US" sz="2400" dirty="0" err="1"/>
              <a:t>jdbc:mysql</a:t>
            </a:r>
            <a:r>
              <a:rPr lang="en-US" sz="2400" dirty="0"/>
              <a:t>://localhost:3306/</a:t>
            </a:r>
            <a:r>
              <a:rPr lang="en-US" sz="2400" dirty="0" err="1"/>
              <a:t>demodb</a:t>
            </a:r>
            <a:r>
              <a:rPr lang="en-US" sz="2400" dirty="0"/>
              <a:t>");</a:t>
            </a:r>
          </a:p>
          <a:p>
            <a:r>
              <a:rPr lang="en-US" sz="2400" dirty="0" err="1"/>
              <a:t>ds.setUsername</a:t>
            </a:r>
            <a:r>
              <a:rPr lang="en-US" sz="2400" dirty="0"/>
              <a:t>(“root");</a:t>
            </a:r>
          </a:p>
          <a:p>
            <a:r>
              <a:rPr lang="en-US" sz="2400" dirty="0" err="1"/>
              <a:t>ds.setPassword</a:t>
            </a:r>
            <a:r>
              <a:rPr lang="en-US" sz="2400" dirty="0"/>
              <a:t>(“root");</a:t>
            </a:r>
          </a:p>
          <a:p>
            <a:r>
              <a:rPr lang="en-US" sz="2400" dirty="0" err="1"/>
              <a:t>ds.setInitialSize</a:t>
            </a:r>
            <a:r>
              <a:rPr lang="en-US" sz="2400" dirty="0"/>
              <a:t>(5);</a:t>
            </a:r>
          </a:p>
          <a:p>
            <a:r>
              <a:rPr lang="en-US" sz="2400" dirty="0" err="1"/>
              <a:t>ds.setMaxActive</a:t>
            </a:r>
            <a:r>
              <a:rPr lang="en-US" sz="2400" dirty="0"/>
              <a:t>(10);</a:t>
            </a:r>
          </a:p>
          <a:p>
            <a:r>
              <a:rPr lang="en-US" sz="2400" dirty="0"/>
              <a:t>return ds;</a:t>
            </a:r>
          </a:p>
          <a:p>
            <a:r>
              <a:rPr lang="en-US" sz="2400" dirty="0"/>
              <a:t>}</a:t>
            </a:r>
          </a:p>
        </p:txBody>
      </p:sp>
    </p:spTree>
    <p:extLst>
      <p:ext uri="{BB962C8B-B14F-4D97-AF65-F5344CB8AC3E}">
        <p14:creationId xmlns:p14="http://schemas.microsoft.com/office/powerpoint/2010/main" val="1120632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dirty="0"/>
              <a:t>Spring Provided simplest </a:t>
            </a:r>
            <a:r>
              <a:rPr lang="en-IN" dirty="0" err="1"/>
              <a:t>DataSources</a:t>
            </a:r>
            <a:r>
              <a:rPr lang="en-IN" dirty="0"/>
              <a:t> for Development and testing.</a:t>
            </a:r>
          </a:p>
          <a:p>
            <a:r>
              <a:rPr lang="en-US" dirty="0"/>
              <a:t>Spring offers three such data-source classes to choose from.</a:t>
            </a:r>
          </a:p>
          <a:p>
            <a:endParaRPr lang="en-US" dirty="0"/>
          </a:p>
          <a:p>
            <a:pPr lvl="1"/>
            <a:r>
              <a:rPr lang="en-US" b="1" dirty="0" err="1"/>
              <a:t>DriverManagerDataSource</a:t>
            </a:r>
            <a:endParaRPr lang="en-US" b="1" dirty="0"/>
          </a:p>
          <a:p>
            <a:pPr lvl="2"/>
            <a:r>
              <a:rPr lang="en-US" dirty="0"/>
              <a:t>Returns a new connection every time a connection is requested.</a:t>
            </a:r>
          </a:p>
          <a:p>
            <a:pPr lvl="2"/>
            <a:r>
              <a:rPr lang="en-US" dirty="0"/>
              <a:t>Not pooled. </a:t>
            </a:r>
          </a:p>
          <a:p>
            <a:pPr lvl="1"/>
            <a:endParaRPr lang="en-US" dirty="0"/>
          </a:p>
          <a:p>
            <a:pPr lvl="1"/>
            <a:r>
              <a:rPr lang="en-US" b="1" dirty="0" err="1"/>
              <a:t>SimpleDriverDataSource</a:t>
            </a:r>
            <a:endParaRPr lang="en-US" b="1" dirty="0"/>
          </a:p>
          <a:p>
            <a:pPr lvl="2"/>
            <a:r>
              <a:rPr lang="en-US" dirty="0"/>
              <a:t>Works much the same as </a:t>
            </a:r>
            <a:r>
              <a:rPr lang="en-US" dirty="0" err="1"/>
              <a:t>DriverManagerDataSource</a:t>
            </a:r>
            <a:r>
              <a:rPr lang="en-US" dirty="0"/>
              <a:t> except that it works with the JDBC driver directly to overcome class loading issues that may arise in certain environments, such as in an </a:t>
            </a:r>
            <a:r>
              <a:rPr lang="en-US" dirty="0" err="1"/>
              <a:t>OSGi</a:t>
            </a:r>
            <a:r>
              <a:rPr lang="en-US" dirty="0"/>
              <a:t> container.</a:t>
            </a:r>
          </a:p>
          <a:p>
            <a:pPr lvl="1"/>
            <a:endParaRPr lang="en-US" dirty="0"/>
          </a:p>
          <a:p>
            <a:pPr lvl="1"/>
            <a:r>
              <a:rPr lang="en-US" b="1" dirty="0" err="1"/>
              <a:t>SingleConnectionDataSource</a:t>
            </a:r>
            <a:endParaRPr lang="en-US" b="1" dirty="0"/>
          </a:p>
          <a:p>
            <a:pPr lvl="2"/>
            <a:r>
              <a:rPr lang="en-US" dirty="0"/>
              <a:t>Returns the same connection every time a connection is requested.</a:t>
            </a:r>
          </a:p>
        </p:txBody>
      </p:sp>
      <p:sp>
        <p:nvSpPr>
          <p:cNvPr id="3" name="TextBox 2"/>
          <p:cNvSpPr txBox="1"/>
          <p:nvPr/>
        </p:nvSpPr>
        <p:spPr>
          <a:xfrm>
            <a:off x="241300" y="244699"/>
            <a:ext cx="5749459" cy="523220"/>
          </a:xfrm>
          <a:prstGeom prst="rect">
            <a:avLst/>
          </a:prstGeom>
          <a:noFill/>
        </p:spPr>
        <p:txBody>
          <a:bodyPr wrap="none" rtlCol="0">
            <a:spAutoFit/>
          </a:bodyPr>
          <a:lstStyle/>
          <a:p>
            <a:r>
              <a:rPr lang="en-US" sz="2800" b="1" dirty="0"/>
              <a:t>Using JDBC driver-based data sources</a:t>
            </a:r>
            <a:endParaRPr lang="en-US" sz="2800" dirty="0"/>
          </a:p>
        </p:txBody>
      </p:sp>
    </p:spTree>
    <p:extLst>
      <p:ext uri="{BB962C8B-B14F-4D97-AF65-F5344CB8AC3E}">
        <p14:creationId xmlns:p14="http://schemas.microsoft.com/office/powerpoint/2010/main" val="2581776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6905" y="217868"/>
            <a:ext cx="11582400" cy="464713"/>
          </a:xfrm>
        </p:spPr>
        <p:txBody>
          <a:bodyPr/>
          <a:lstStyle/>
          <a:p>
            <a:pPr marL="0" indent="0">
              <a:buNone/>
            </a:pPr>
            <a:r>
              <a:rPr lang="en-IN" dirty="0"/>
              <a:t>How do We configure </a:t>
            </a:r>
            <a:r>
              <a:rPr lang="en-IN" b="1" dirty="0" err="1"/>
              <a:t>DriverManagerDataSource</a:t>
            </a:r>
            <a:endParaRPr lang="en-US" b="1" dirty="0"/>
          </a:p>
        </p:txBody>
      </p:sp>
      <p:sp>
        <p:nvSpPr>
          <p:cNvPr id="4" name="TextBox 3"/>
          <p:cNvSpPr txBox="1"/>
          <p:nvPr/>
        </p:nvSpPr>
        <p:spPr>
          <a:xfrm>
            <a:off x="618186" y="978794"/>
            <a:ext cx="7804597" cy="2862322"/>
          </a:xfrm>
          <a:prstGeom prst="rect">
            <a:avLst/>
          </a:prstGeom>
          <a:noFill/>
          <a:ln>
            <a:solidFill>
              <a:schemeClr val="accent1">
                <a:lumMod val="50000"/>
              </a:schemeClr>
            </a:solidFill>
          </a:ln>
        </p:spPr>
        <p:txBody>
          <a:bodyPr wrap="square" rtlCol="0">
            <a:spAutoFit/>
          </a:bodyPr>
          <a:lstStyle/>
          <a:p>
            <a:r>
              <a:rPr lang="en-US" sz="2000" dirty="0"/>
              <a:t>@Bean</a:t>
            </a:r>
          </a:p>
          <a:p>
            <a:r>
              <a:rPr lang="en-US" sz="2000" dirty="0"/>
              <a:t>public </a:t>
            </a:r>
            <a:r>
              <a:rPr lang="en-US" sz="2000" dirty="0" err="1"/>
              <a:t>DriverManagerDataSource</a:t>
            </a:r>
            <a:r>
              <a:rPr lang="en-US" sz="2000" dirty="0"/>
              <a:t> </a:t>
            </a:r>
            <a:r>
              <a:rPr lang="en-US" sz="2000" dirty="0" err="1"/>
              <a:t>dataSource</a:t>
            </a:r>
            <a:r>
              <a:rPr lang="en-US" sz="2000" dirty="0"/>
              <a:t>() {</a:t>
            </a:r>
          </a:p>
          <a:p>
            <a:r>
              <a:rPr lang="en-US" sz="2000" dirty="0" err="1"/>
              <a:t>DriverManagerDataSource</a:t>
            </a:r>
            <a:r>
              <a:rPr lang="en-US" sz="2000" dirty="0"/>
              <a:t> ds = new </a:t>
            </a:r>
            <a:r>
              <a:rPr lang="en-US" sz="2000" dirty="0" err="1"/>
              <a:t>DriverManagerDataSource</a:t>
            </a:r>
            <a:r>
              <a:rPr lang="en-US" sz="2000" dirty="0"/>
              <a:t> ();</a:t>
            </a:r>
          </a:p>
          <a:p>
            <a:r>
              <a:rPr lang="en-US" sz="2000" dirty="0" err="1"/>
              <a:t>ds.setDriverClassName</a:t>
            </a:r>
            <a:r>
              <a:rPr lang="en-US" sz="2000" dirty="0"/>
              <a:t>(“</a:t>
            </a:r>
            <a:r>
              <a:rPr lang="en-US" sz="2000" dirty="0" err="1"/>
              <a:t>com.mysql.jdbc.Driver</a:t>
            </a:r>
            <a:r>
              <a:rPr lang="en-US" sz="2000" dirty="0"/>
              <a:t>");</a:t>
            </a:r>
          </a:p>
          <a:p>
            <a:r>
              <a:rPr lang="en-US" sz="2000" dirty="0" err="1"/>
              <a:t>ds.setUrl</a:t>
            </a:r>
            <a:r>
              <a:rPr lang="en-US" sz="2000" dirty="0"/>
              <a:t>(“</a:t>
            </a:r>
            <a:r>
              <a:rPr lang="en-US" sz="2000" dirty="0" err="1"/>
              <a:t>jdbc:mysql</a:t>
            </a:r>
            <a:r>
              <a:rPr lang="en-US" sz="2000" dirty="0"/>
              <a:t>://localhost:3306/</a:t>
            </a:r>
            <a:r>
              <a:rPr lang="en-US" sz="2000" dirty="0" err="1"/>
              <a:t>demodb</a:t>
            </a:r>
            <a:r>
              <a:rPr lang="en-US" sz="2000" dirty="0"/>
              <a:t>");</a:t>
            </a:r>
          </a:p>
          <a:p>
            <a:r>
              <a:rPr lang="en-US" sz="2000" dirty="0" err="1"/>
              <a:t>ds.setUsername</a:t>
            </a:r>
            <a:r>
              <a:rPr lang="en-US" sz="2000" dirty="0"/>
              <a:t>(“root");</a:t>
            </a:r>
          </a:p>
          <a:p>
            <a:r>
              <a:rPr lang="en-US" sz="2000" dirty="0" err="1"/>
              <a:t>ds.setPassword</a:t>
            </a:r>
            <a:r>
              <a:rPr lang="en-US" sz="2000" dirty="0"/>
              <a:t>(“root");</a:t>
            </a:r>
          </a:p>
          <a:p>
            <a:r>
              <a:rPr lang="en-US" sz="2000" dirty="0"/>
              <a:t>return ds;</a:t>
            </a:r>
          </a:p>
          <a:p>
            <a:r>
              <a:rPr lang="en-US" sz="2000" dirty="0"/>
              <a:t>}</a:t>
            </a:r>
          </a:p>
        </p:txBody>
      </p:sp>
      <p:sp>
        <p:nvSpPr>
          <p:cNvPr id="5" name="TextBox 4"/>
          <p:cNvSpPr txBox="1"/>
          <p:nvPr/>
        </p:nvSpPr>
        <p:spPr>
          <a:xfrm>
            <a:off x="605307" y="4224270"/>
            <a:ext cx="7755265" cy="2246769"/>
          </a:xfrm>
          <a:prstGeom prst="rect">
            <a:avLst/>
          </a:prstGeom>
          <a:noFill/>
          <a:ln>
            <a:solidFill>
              <a:schemeClr val="accent1">
                <a:lumMod val="50000"/>
              </a:schemeClr>
            </a:solidFill>
          </a:ln>
        </p:spPr>
        <p:txBody>
          <a:bodyPr wrap="none" rtlCol="0">
            <a:spAutoFit/>
          </a:bodyPr>
          <a:lstStyle/>
          <a:p>
            <a:r>
              <a:rPr lang="en-US" sz="2000" b="1" dirty="0"/>
              <a:t>In XML, the </a:t>
            </a:r>
            <a:r>
              <a:rPr lang="en-US" sz="2000" b="1" dirty="0" err="1"/>
              <a:t>DriverManagerDataSource</a:t>
            </a:r>
            <a:r>
              <a:rPr lang="en-US" sz="2000" b="1" dirty="0"/>
              <a:t> can be configured as follows:</a:t>
            </a:r>
          </a:p>
          <a:p>
            <a:r>
              <a:rPr lang="en-US" sz="2000" dirty="0"/>
              <a:t>&lt;bean id="</a:t>
            </a:r>
            <a:r>
              <a:rPr lang="en-US" sz="2000" dirty="0" err="1"/>
              <a:t>dataSource</a:t>
            </a:r>
            <a:r>
              <a:rPr lang="en-US" sz="2000" dirty="0"/>
              <a:t>"</a:t>
            </a:r>
          </a:p>
          <a:p>
            <a:r>
              <a:rPr lang="en-US" sz="2000" dirty="0"/>
              <a:t>class="</a:t>
            </a:r>
            <a:r>
              <a:rPr lang="en-US" sz="2000" dirty="0" err="1"/>
              <a:t>org.springframework.jdbc.datasource.DriverManagerDataSource</a:t>
            </a:r>
            <a:r>
              <a:rPr lang="en-US" sz="2000" dirty="0"/>
              <a:t>"</a:t>
            </a:r>
          </a:p>
          <a:p>
            <a:r>
              <a:rPr lang="en-US" sz="2000" dirty="0"/>
              <a:t>p:driverClassName=" </a:t>
            </a:r>
            <a:r>
              <a:rPr lang="en-US" sz="2000" dirty="0" err="1"/>
              <a:t>com.mysql.jdbc.Driver</a:t>
            </a:r>
            <a:r>
              <a:rPr lang="en-US" sz="2000" dirty="0"/>
              <a:t> "</a:t>
            </a:r>
          </a:p>
          <a:p>
            <a:r>
              <a:rPr lang="en-US" sz="2000" dirty="0"/>
              <a:t>p:url=" </a:t>
            </a:r>
            <a:r>
              <a:rPr lang="en-US" sz="2000" dirty="0" err="1"/>
              <a:t>jdbc:mysql</a:t>
            </a:r>
            <a:r>
              <a:rPr lang="en-US" sz="2000" dirty="0"/>
              <a:t>://localhost:3306/</a:t>
            </a:r>
            <a:r>
              <a:rPr lang="en-US" sz="2000" dirty="0" err="1"/>
              <a:t>demodb</a:t>
            </a:r>
            <a:r>
              <a:rPr lang="en-US" sz="2000" dirty="0"/>
              <a:t> "</a:t>
            </a:r>
          </a:p>
          <a:p>
            <a:r>
              <a:rPr lang="en-US" sz="2000" dirty="0"/>
              <a:t>p:username=“root"</a:t>
            </a:r>
          </a:p>
          <a:p>
            <a:r>
              <a:rPr lang="en-US" sz="2000" dirty="0"/>
              <a:t>p:password=“root" /&gt;</a:t>
            </a:r>
          </a:p>
        </p:txBody>
      </p:sp>
    </p:spTree>
    <p:extLst>
      <p:ext uri="{BB962C8B-B14F-4D97-AF65-F5344CB8AC3E}">
        <p14:creationId xmlns:p14="http://schemas.microsoft.com/office/powerpoint/2010/main" val="3252990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5694" y="3167130"/>
            <a:ext cx="11582400" cy="799563"/>
          </a:xfrm>
        </p:spPr>
        <p:txBody>
          <a:bodyPr>
            <a:normAutofit/>
          </a:bodyPr>
          <a:lstStyle/>
          <a:p>
            <a:pPr marL="0" indent="0" algn="ctr">
              <a:buNone/>
            </a:pPr>
            <a:r>
              <a:rPr lang="en-US" sz="2800" b="1" dirty="0"/>
              <a:t>Using JDBC with Spring</a:t>
            </a:r>
            <a:endParaRPr lang="en-US" sz="2800" dirty="0"/>
          </a:p>
        </p:txBody>
      </p:sp>
    </p:spTree>
    <p:extLst>
      <p:ext uri="{BB962C8B-B14F-4D97-AF65-F5344CB8AC3E}">
        <p14:creationId xmlns:p14="http://schemas.microsoft.com/office/powerpoint/2010/main" val="1373334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Spring abstracts away the boilerplate data access code behind template classes.</a:t>
            </a:r>
          </a:p>
          <a:p>
            <a:r>
              <a:rPr lang="en-US" dirty="0"/>
              <a:t>For JDBC, Spring comes with three template classes to choose from:</a:t>
            </a:r>
          </a:p>
          <a:p>
            <a:pPr lvl="1"/>
            <a:r>
              <a:rPr lang="en-US" b="1" dirty="0" err="1"/>
              <a:t>JdbcTemplate</a:t>
            </a:r>
            <a:endParaRPr lang="en-US" b="1" dirty="0"/>
          </a:p>
          <a:p>
            <a:pPr lvl="2"/>
            <a:r>
              <a:rPr lang="en-US" dirty="0"/>
              <a:t>The most basic of Spring’s JDBC templates, this class provides simple access to a database through JDBC and indexed-parameter queries.</a:t>
            </a:r>
          </a:p>
          <a:p>
            <a:pPr lvl="2"/>
            <a:endParaRPr lang="en-US" dirty="0"/>
          </a:p>
          <a:p>
            <a:pPr lvl="1"/>
            <a:r>
              <a:rPr lang="en-US" b="1" dirty="0" err="1"/>
              <a:t>NamedParameterJdbcTemplate</a:t>
            </a:r>
            <a:endParaRPr lang="en-US" b="1" dirty="0"/>
          </a:p>
          <a:p>
            <a:pPr lvl="2"/>
            <a:r>
              <a:rPr lang="en-US" dirty="0"/>
              <a:t>This JDBC template class enables you to perform queries where values are bound to named parameters in SQL, rather than indexed parameters.</a:t>
            </a:r>
          </a:p>
          <a:p>
            <a:pPr lvl="2"/>
            <a:endParaRPr lang="en-US" dirty="0"/>
          </a:p>
          <a:p>
            <a:pPr lvl="1"/>
            <a:r>
              <a:rPr lang="en-US" b="1" dirty="0" err="1"/>
              <a:t>SimpleJdbcTemplate</a:t>
            </a:r>
            <a:endParaRPr lang="en-US" b="1" dirty="0"/>
          </a:p>
          <a:p>
            <a:pPr lvl="2"/>
            <a:r>
              <a:rPr lang="en-US" dirty="0"/>
              <a:t>This version of the JDBC template takes advantage of Java 5 features such as </a:t>
            </a:r>
            <a:r>
              <a:rPr lang="en-US" dirty="0" err="1"/>
              <a:t>autoboxing</a:t>
            </a:r>
            <a:r>
              <a:rPr lang="en-US" dirty="0"/>
              <a:t>, generics, and variable parameter lists to simplify how a JDBC template is used.</a:t>
            </a:r>
          </a:p>
        </p:txBody>
      </p:sp>
      <p:sp>
        <p:nvSpPr>
          <p:cNvPr id="3" name="TextBox 2"/>
          <p:cNvSpPr txBox="1"/>
          <p:nvPr/>
        </p:nvSpPr>
        <p:spPr>
          <a:xfrm>
            <a:off x="241300" y="296214"/>
            <a:ext cx="4589270" cy="523220"/>
          </a:xfrm>
          <a:prstGeom prst="rect">
            <a:avLst/>
          </a:prstGeom>
          <a:noFill/>
        </p:spPr>
        <p:txBody>
          <a:bodyPr wrap="none" rtlCol="0">
            <a:spAutoFit/>
          </a:bodyPr>
          <a:lstStyle/>
          <a:p>
            <a:r>
              <a:rPr lang="en-US" sz="2800" b="1" dirty="0"/>
              <a:t>Working with JDBC templates</a:t>
            </a:r>
            <a:endParaRPr lang="en-US" sz="2800" dirty="0"/>
          </a:p>
        </p:txBody>
      </p:sp>
    </p:spTree>
    <p:extLst>
      <p:ext uri="{BB962C8B-B14F-4D97-AF65-F5344CB8AC3E}">
        <p14:creationId xmlns:p14="http://schemas.microsoft.com/office/powerpoint/2010/main" val="1984854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09600" indent="-609600">
              <a:lnSpc>
                <a:spcPct val="80000"/>
              </a:lnSpc>
            </a:pPr>
            <a:r>
              <a:rPr lang="en-US" dirty="0"/>
              <a:t>Normally we write the code in the following way</a:t>
            </a:r>
          </a:p>
          <a:p>
            <a:pPr marL="952500" lvl="1" indent="-495300">
              <a:lnSpc>
                <a:spcPct val="80000"/>
              </a:lnSpc>
            </a:pPr>
            <a:r>
              <a:rPr lang="en-US" sz="2400" dirty="0"/>
              <a:t>Define connection parameters</a:t>
            </a:r>
          </a:p>
          <a:p>
            <a:pPr marL="952500" lvl="1" indent="-495300">
              <a:lnSpc>
                <a:spcPct val="80000"/>
              </a:lnSpc>
            </a:pPr>
            <a:r>
              <a:rPr lang="en-US" sz="2400" dirty="0"/>
              <a:t>Open the connection</a:t>
            </a:r>
          </a:p>
          <a:p>
            <a:pPr marL="952500" lvl="1" indent="-495300">
              <a:lnSpc>
                <a:spcPct val="80000"/>
              </a:lnSpc>
            </a:pPr>
            <a:r>
              <a:rPr lang="en-US" sz="2400" i="1" dirty="0">
                <a:solidFill>
                  <a:srgbClr val="CC3300"/>
                </a:solidFill>
              </a:rPr>
              <a:t>Specify the statement</a:t>
            </a:r>
            <a:endParaRPr lang="en-US" sz="2400" dirty="0">
              <a:solidFill>
                <a:srgbClr val="CC3300"/>
              </a:solidFill>
            </a:endParaRPr>
          </a:p>
          <a:p>
            <a:pPr marL="952500" lvl="1" indent="-495300">
              <a:lnSpc>
                <a:spcPct val="80000"/>
              </a:lnSpc>
            </a:pPr>
            <a:r>
              <a:rPr lang="en-US" sz="2400" dirty="0"/>
              <a:t>Prepare and execute the statement</a:t>
            </a:r>
          </a:p>
          <a:p>
            <a:pPr marL="952500" lvl="1" indent="-495300">
              <a:lnSpc>
                <a:spcPct val="80000"/>
              </a:lnSpc>
            </a:pPr>
            <a:r>
              <a:rPr lang="en-US" sz="2400" dirty="0"/>
              <a:t>Set up the loop to iterate through </a:t>
            </a:r>
          </a:p>
          <a:p>
            <a:pPr marL="457200" lvl="1" indent="0">
              <a:lnSpc>
                <a:spcPct val="80000"/>
              </a:lnSpc>
              <a:buNone/>
            </a:pPr>
            <a:r>
              <a:rPr lang="en-US" sz="2400" dirty="0"/>
              <a:t>	the results (if any)</a:t>
            </a:r>
          </a:p>
          <a:p>
            <a:pPr marL="952500" lvl="1" indent="-495300">
              <a:lnSpc>
                <a:spcPct val="80000"/>
              </a:lnSpc>
            </a:pPr>
            <a:r>
              <a:rPr lang="en-US" sz="2400" i="1" dirty="0">
                <a:solidFill>
                  <a:srgbClr val="CC3300"/>
                </a:solidFill>
              </a:rPr>
              <a:t>Do the work for each iteration</a:t>
            </a:r>
            <a:endParaRPr lang="en-US" sz="2400" dirty="0">
              <a:solidFill>
                <a:srgbClr val="CC3300"/>
              </a:solidFill>
            </a:endParaRPr>
          </a:p>
          <a:p>
            <a:pPr marL="952500" lvl="1" indent="-495300">
              <a:lnSpc>
                <a:spcPct val="80000"/>
              </a:lnSpc>
            </a:pPr>
            <a:r>
              <a:rPr lang="en-US" sz="2400" dirty="0"/>
              <a:t>Process any exception</a:t>
            </a:r>
          </a:p>
          <a:p>
            <a:pPr marL="952500" lvl="1" indent="-495300">
              <a:lnSpc>
                <a:spcPct val="80000"/>
              </a:lnSpc>
            </a:pPr>
            <a:r>
              <a:rPr lang="en-US" sz="2400" dirty="0"/>
              <a:t>Handle transactions</a:t>
            </a:r>
          </a:p>
          <a:p>
            <a:pPr marL="952500" lvl="1" indent="-495300">
              <a:lnSpc>
                <a:spcPct val="80000"/>
              </a:lnSpc>
            </a:pPr>
            <a:r>
              <a:rPr lang="en-US" sz="2400" dirty="0"/>
              <a:t>Close the connection</a:t>
            </a:r>
          </a:p>
          <a:p>
            <a:endParaRPr lang="en-US" dirty="0"/>
          </a:p>
        </p:txBody>
      </p:sp>
      <p:sp>
        <p:nvSpPr>
          <p:cNvPr id="3" name="TextBox 2"/>
          <p:cNvSpPr txBox="1"/>
          <p:nvPr/>
        </p:nvSpPr>
        <p:spPr>
          <a:xfrm>
            <a:off x="360608" y="180305"/>
            <a:ext cx="5985165" cy="523220"/>
          </a:xfrm>
          <a:prstGeom prst="rect">
            <a:avLst/>
          </a:prstGeom>
          <a:noFill/>
        </p:spPr>
        <p:txBody>
          <a:bodyPr wrap="none" rtlCol="0">
            <a:spAutoFit/>
          </a:bodyPr>
          <a:lstStyle/>
          <a:p>
            <a:r>
              <a:rPr lang="en-IN" sz="2800" b="1" dirty="0"/>
              <a:t>If we have to Access Data using JDBC …</a:t>
            </a:r>
            <a:endParaRPr lang="en-US" sz="2800" b="1" dirty="0"/>
          </a:p>
        </p:txBody>
      </p:sp>
      <p:sp>
        <p:nvSpPr>
          <p:cNvPr id="4" name="Rectangle 3"/>
          <p:cNvSpPr/>
          <p:nvPr/>
        </p:nvSpPr>
        <p:spPr>
          <a:xfrm>
            <a:off x="8526709" y="2034862"/>
            <a:ext cx="3296991" cy="158410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002060"/>
                </a:solidFill>
              </a:rPr>
              <a:t>You need to do only these steps in Spring JDBC</a:t>
            </a:r>
            <a:endParaRPr lang="en-US" sz="2000" b="1" dirty="0">
              <a:solidFill>
                <a:srgbClr val="002060"/>
              </a:solidFill>
            </a:endParaRPr>
          </a:p>
        </p:txBody>
      </p:sp>
      <p:cxnSp>
        <p:nvCxnSpPr>
          <p:cNvPr id="10" name="Straight Arrow Connector 9"/>
          <p:cNvCxnSpPr>
            <a:stCxn id="4" idx="1"/>
          </p:cNvCxnSpPr>
          <p:nvPr/>
        </p:nvCxnSpPr>
        <p:spPr>
          <a:xfrm flipH="1" flipV="1">
            <a:off x="4675031" y="2176530"/>
            <a:ext cx="3851678" cy="650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1"/>
          </p:cNvCxnSpPr>
          <p:nvPr/>
        </p:nvCxnSpPr>
        <p:spPr>
          <a:xfrm flipH="1">
            <a:off x="5937161" y="2826913"/>
            <a:ext cx="2589548" cy="792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85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755039"/>
            <a:ext cx="11582400" cy="5638800"/>
          </a:xfrm>
        </p:spPr>
        <p:txBody>
          <a:bodyPr>
            <a:normAutofit lnSpcReduction="10000"/>
          </a:bodyPr>
          <a:lstStyle/>
          <a:p>
            <a:r>
              <a:rPr lang="en-IN" dirty="0"/>
              <a:t>Spring provides some out of the Box </a:t>
            </a:r>
            <a:r>
              <a:rPr lang="en-IN" dirty="0" err="1"/>
              <a:t>Callback</a:t>
            </a:r>
            <a:r>
              <a:rPr lang="en-IN" dirty="0"/>
              <a:t> interfaces which need to be implemented by the code using </a:t>
            </a:r>
            <a:r>
              <a:rPr lang="en-IN" b="1" dirty="0" err="1"/>
              <a:t>JDBCTemplate</a:t>
            </a:r>
            <a:r>
              <a:rPr lang="en-IN" dirty="0"/>
              <a:t>.</a:t>
            </a:r>
          </a:p>
          <a:p>
            <a:r>
              <a:rPr lang="en-IN" dirty="0"/>
              <a:t>Some of the </a:t>
            </a:r>
            <a:r>
              <a:rPr lang="en-IN" dirty="0" err="1"/>
              <a:t>callbacks</a:t>
            </a:r>
            <a:r>
              <a:rPr lang="en-IN" dirty="0"/>
              <a:t> are</a:t>
            </a:r>
            <a:endParaRPr lang="en-US" dirty="0"/>
          </a:p>
          <a:p>
            <a:pPr lvl="1"/>
            <a:r>
              <a:rPr lang="en-US" b="1" dirty="0" err="1"/>
              <a:t>PreparedStatementCreator</a:t>
            </a:r>
            <a:r>
              <a:rPr lang="en-US" b="1" dirty="0"/>
              <a:t> </a:t>
            </a:r>
          </a:p>
          <a:p>
            <a:pPr lvl="2"/>
            <a:r>
              <a:rPr lang="en-US" sz="1800" dirty="0"/>
              <a:t>Creates a </a:t>
            </a:r>
            <a:r>
              <a:rPr lang="en-US" sz="1800" dirty="0" err="1"/>
              <a:t>PreparedStatement</a:t>
            </a:r>
            <a:r>
              <a:rPr lang="en-US" sz="1800" dirty="0"/>
              <a:t> given a connection</a:t>
            </a:r>
          </a:p>
          <a:p>
            <a:pPr lvl="1"/>
            <a:r>
              <a:rPr lang="en-US" b="1" dirty="0" err="1"/>
              <a:t>CallableStatementCreator</a:t>
            </a:r>
            <a:r>
              <a:rPr lang="en-US" b="1" dirty="0"/>
              <a:t> interface</a:t>
            </a:r>
          </a:p>
          <a:p>
            <a:pPr lvl="2"/>
            <a:r>
              <a:rPr lang="en-US" sz="1800" dirty="0"/>
              <a:t> which creates callable statement </a:t>
            </a:r>
          </a:p>
          <a:p>
            <a:pPr lvl="1"/>
            <a:r>
              <a:rPr lang="en-US" b="1" dirty="0" err="1"/>
              <a:t>RowCallbackHandler</a:t>
            </a:r>
            <a:r>
              <a:rPr lang="en-US" b="1" dirty="0"/>
              <a:t> interface</a:t>
            </a:r>
          </a:p>
          <a:p>
            <a:pPr lvl="2"/>
            <a:r>
              <a:rPr lang="en-US" sz="1800" dirty="0"/>
              <a:t> extracts values from each row of a </a:t>
            </a:r>
            <a:r>
              <a:rPr lang="en-US" sz="1800" dirty="0" err="1"/>
              <a:t>ResultSet</a:t>
            </a:r>
            <a:r>
              <a:rPr lang="en-US" sz="1800" dirty="0"/>
              <a:t> </a:t>
            </a:r>
          </a:p>
          <a:p>
            <a:pPr lvl="1"/>
            <a:r>
              <a:rPr lang="en-IN" b="1" dirty="0" err="1"/>
              <a:t>RowMapper</a:t>
            </a:r>
            <a:endParaRPr lang="en-IN" b="1" dirty="0"/>
          </a:p>
          <a:p>
            <a:pPr lvl="2"/>
            <a:r>
              <a:rPr lang="en-US" dirty="0"/>
              <a:t>Maps rows of a </a:t>
            </a:r>
            <a:r>
              <a:rPr lang="en-US" dirty="0" err="1"/>
              <a:t>ResultSet</a:t>
            </a:r>
            <a:r>
              <a:rPr lang="en-US" dirty="0"/>
              <a:t> on a per-row basis.</a:t>
            </a:r>
          </a:p>
          <a:p>
            <a:pPr lvl="2"/>
            <a:r>
              <a:rPr lang="en-US" dirty="0"/>
              <a:t>Implementations of this interface perform the actual work of mapping each row to a result object, but don't need to worry about exception handling</a:t>
            </a:r>
            <a:endParaRPr lang="en-IN" dirty="0"/>
          </a:p>
          <a:p>
            <a:pPr lvl="1"/>
            <a:r>
              <a:rPr lang="en-IN" b="1" dirty="0" err="1"/>
              <a:t>ResultSetExtractor</a:t>
            </a:r>
            <a:endParaRPr lang="en-IN" b="1" dirty="0"/>
          </a:p>
          <a:p>
            <a:pPr lvl="2"/>
            <a:r>
              <a:rPr lang="en-US" dirty="0"/>
              <a:t>used by </a:t>
            </a:r>
            <a:r>
              <a:rPr lang="en-US" dirty="0" err="1"/>
              <a:t>JdbcTemplate's</a:t>
            </a:r>
            <a:r>
              <a:rPr lang="en-US" dirty="0"/>
              <a:t> query methods. Implementations of this interface perform the actual work of extracting results from a </a:t>
            </a:r>
            <a:r>
              <a:rPr lang="en-US" dirty="0" err="1"/>
              <a:t>ResultSet</a:t>
            </a:r>
            <a:r>
              <a:rPr lang="en-US" dirty="0"/>
              <a:t>, but don't need to worry about exception handling</a:t>
            </a:r>
            <a:endParaRPr lang="en-IN" dirty="0"/>
          </a:p>
          <a:p>
            <a:pPr lvl="2"/>
            <a:endParaRPr lang="en-US" dirty="0"/>
          </a:p>
          <a:p>
            <a:endParaRPr lang="en-US" dirty="0"/>
          </a:p>
        </p:txBody>
      </p:sp>
      <p:sp>
        <p:nvSpPr>
          <p:cNvPr id="3" name="TextBox 2"/>
          <p:cNvSpPr txBox="1"/>
          <p:nvPr/>
        </p:nvSpPr>
        <p:spPr>
          <a:xfrm>
            <a:off x="241300" y="231819"/>
            <a:ext cx="3209405" cy="523220"/>
          </a:xfrm>
          <a:prstGeom prst="rect">
            <a:avLst/>
          </a:prstGeom>
          <a:noFill/>
        </p:spPr>
        <p:txBody>
          <a:bodyPr wrap="none" rtlCol="0">
            <a:spAutoFit/>
          </a:bodyPr>
          <a:lstStyle/>
          <a:p>
            <a:r>
              <a:rPr lang="en-IN" sz="2800" b="1" dirty="0"/>
              <a:t>Using </a:t>
            </a:r>
            <a:r>
              <a:rPr lang="en-IN" sz="2800" b="1" dirty="0" err="1"/>
              <a:t>JDBCTemplate</a:t>
            </a:r>
            <a:endParaRPr lang="en-US" sz="2800" b="1" dirty="0"/>
          </a:p>
        </p:txBody>
      </p:sp>
    </p:spTree>
    <p:extLst>
      <p:ext uri="{BB962C8B-B14F-4D97-AF65-F5344CB8AC3E}">
        <p14:creationId xmlns:p14="http://schemas.microsoft.com/office/powerpoint/2010/main" val="2653278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1300" y="270456"/>
            <a:ext cx="4273349" cy="523220"/>
          </a:xfrm>
          <a:prstGeom prst="rect">
            <a:avLst/>
          </a:prstGeom>
          <a:noFill/>
        </p:spPr>
        <p:txBody>
          <a:bodyPr wrap="none" rtlCol="0">
            <a:spAutoFit/>
          </a:bodyPr>
          <a:lstStyle/>
          <a:p>
            <a:r>
              <a:rPr lang="en-IN" sz="2800" b="1" dirty="0"/>
              <a:t>Configuring a </a:t>
            </a:r>
            <a:r>
              <a:rPr lang="en-IN" sz="2800" b="1" dirty="0" err="1"/>
              <a:t>JdbcTemplate</a:t>
            </a:r>
            <a:endParaRPr lang="en-US" sz="2800" b="1" dirty="0"/>
          </a:p>
        </p:txBody>
      </p:sp>
      <p:sp>
        <p:nvSpPr>
          <p:cNvPr id="4" name="TextBox 3"/>
          <p:cNvSpPr txBox="1"/>
          <p:nvPr/>
        </p:nvSpPr>
        <p:spPr>
          <a:xfrm>
            <a:off x="450760" y="1197735"/>
            <a:ext cx="8761767" cy="1569660"/>
          </a:xfrm>
          <a:prstGeom prst="rect">
            <a:avLst/>
          </a:prstGeom>
          <a:noFill/>
          <a:ln>
            <a:solidFill>
              <a:schemeClr val="accent1">
                <a:lumMod val="50000"/>
              </a:schemeClr>
            </a:solidFill>
          </a:ln>
        </p:spPr>
        <p:txBody>
          <a:bodyPr wrap="square" rtlCol="0">
            <a:spAutoFit/>
          </a:bodyPr>
          <a:lstStyle/>
          <a:p>
            <a:r>
              <a:rPr lang="en-US" sz="2400" dirty="0"/>
              <a:t>@Bean</a:t>
            </a:r>
          </a:p>
          <a:p>
            <a:r>
              <a:rPr lang="en-US" sz="2400" dirty="0"/>
              <a:t>public </a:t>
            </a:r>
            <a:r>
              <a:rPr lang="en-US" sz="2400" dirty="0" err="1"/>
              <a:t>JdbcTemplate</a:t>
            </a:r>
            <a:r>
              <a:rPr lang="en-US" sz="2400" dirty="0"/>
              <a:t> </a:t>
            </a:r>
            <a:r>
              <a:rPr lang="en-US" sz="2400" dirty="0" err="1"/>
              <a:t>jdbcTemplate</a:t>
            </a:r>
            <a:r>
              <a:rPr lang="en-US" sz="2400" dirty="0"/>
              <a:t>(</a:t>
            </a:r>
            <a:r>
              <a:rPr lang="en-US" sz="2400" dirty="0" err="1"/>
              <a:t>DataSource</a:t>
            </a:r>
            <a:r>
              <a:rPr lang="en-US" sz="2400" dirty="0"/>
              <a:t> </a:t>
            </a:r>
            <a:r>
              <a:rPr lang="en-US" sz="2400" dirty="0" err="1"/>
              <a:t>dataSource</a:t>
            </a:r>
            <a:r>
              <a:rPr lang="en-US" sz="2400" dirty="0"/>
              <a:t>) {</a:t>
            </a:r>
          </a:p>
          <a:p>
            <a:r>
              <a:rPr lang="en-US" sz="2400" dirty="0"/>
              <a:t>return new </a:t>
            </a:r>
            <a:r>
              <a:rPr lang="en-US" sz="2400" dirty="0" err="1"/>
              <a:t>JdbcTemplate</a:t>
            </a:r>
            <a:r>
              <a:rPr lang="en-US" sz="2400" dirty="0"/>
              <a:t>(</a:t>
            </a:r>
            <a:r>
              <a:rPr lang="en-US" sz="2400" dirty="0" err="1"/>
              <a:t>dataSource</a:t>
            </a:r>
            <a:r>
              <a:rPr lang="en-US" sz="2400" dirty="0"/>
              <a:t>);</a:t>
            </a:r>
          </a:p>
          <a:p>
            <a:r>
              <a:rPr lang="en-US" sz="2400" dirty="0"/>
              <a:t>}</a:t>
            </a:r>
          </a:p>
        </p:txBody>
      </p:sp>
      <p:sp>
        <p:nvSpPr>
          <p:cNvPr id="5" name="TextBox 4"/>
          <p:cNvSpPr txBox="1"/>
          <p:nvPr/>
        </p:nvSpPr>
        <p:spPr>
          <a:xfrm>
            <a:off x="528034" y="4018208"/>
            <a:ext cx="8684493" cy="1200329"/>
          </a:xfrm>
          <a:prstGeom prst="rect">
            <a:avLst/>
          </a:prstGeom>
          <a:noFill/>
          <a:ln>
            <a:solidFill>
              <a:schemeClr val="accent1">
                <a:lumMod val="50000"/>
              </a:schemeClr>
            </a:solidFill>
          </a:ln>
        </p:spPr>
        <p:txBody>
          <a:bodyPr wrap="none" rtlCol="0">
            <a:spAutoFit/>
          </a:bodyPr>
          <a:lstStyle/>
          <a:p>
            <a:r>
              <a:rPr lang="en-US" sz="2400" dirty="0"/>
              <a:t>&lt;bean id="</a:t>
            </a:r>
            <a:r>
              <a:rPr lang="en-US" sz="2400" dirty="0" err="1"/>
              <a:t>jt</a:t>
            </a:r>
            <a:r>
              <a:rPr lang="en-US" sz="2400" dirty="0"/>
              <a:t>" class="</a:t>
            </a:r>
            <a:r>
              <a:rPr lang="en-US" sz="2400" dirty="0" err="1"/>
              <a:t>org.springframework.jdbc.core.JdbcTemplate</a:t>
            </a:r>
            <a:r>
              <a:rPr lang="en-US" sz="2400" dirty="0"/>
              <a:t>"&gt;</a:t>
            </a:r>
          </a:p>
          <a:p>
            <a:r>
              <a:rPr lang="en-US" sz="2400" dirty="0"/>
              <a:t>		&lt;property name="</a:t>
            </a:r>
            <a:r>
              <a:rPr lang="en-US" sz="2400" dirty="0" err="1"/>
              <a:t>dataSource</a:t>
            </a:r>
            <a:r>
              <a:rPr lang="en-US" sz="2400" dirty="0"/>
              <a:t>" ref=“</a:t>
            </a:r>
            <a:r>
              <a:rPr lang="en-US" sz="2400" dirty="0" err="1"/>
              <a:t>dataSource</a:t>
            </a:r>
            <a:r>
              <a:rPr lang="en-US" sz="2400" dirty="0"/>
              <a:t>" /&gt;</a:t>
            </a:r>
          </a:p>
          <a:p>
            <a:r>
              <a:rPr lang="en-US" sz="2400" dirty="0"/>
              <a:t>&lt;/bean&gt;</a:t>
            </a:r>
          </a:p>
        </p:txBody>
      </p:sp>
      <p:sp>
        <p:nvSpPr>
          <p:cNvPr id="6" name="TextBox 5"/>
          <p:cNvSpPr txBox="1"/>
          <p:nvPr/>
        </p:nvSpPr>
        <p:spPr>
          <a:xfrm>
            <a:off x="4639287" y="3171454"/>
            <a:ext cx="617477" cy="523220"/>
          </a:xfrm>
          <a:prstGeom prst="rect">
            <a:avLst/>
          </a:prstGeom>
          <a:noFill/>
        </p:spPr>
        <p:txBody>
          <a:bodyPr wrap="none" rtlCol="0">
            <a:spAutoFit/>
          </a:bodyPr>
          <a:lstStyle/>
          <a:p>
            <a:r>
              <a:rPr lang="en-IN" sz="2800" dirty="0"/>
              <a:t>OR</a:t>
            </a:r>
            <a:endParaRPr lang="en-US" sz="2800" dirty="0"/>
          </a:p>
        </p:txBody>
      </p:sp>
    </p:spTree>
    <p:extLst>
      <p:ext uri="{BB962C8B-B14F-4D97-AF65-F5344CB8AC3E}">
        <p14:creationId xmlns:p14="http://schemas.microsoft.com/office/powerpoint/2010/main" val="948114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1300" y="2176530"/>
            <a:ext cx="11582400" cy="1635616"/>
          </a:xfrm>
        </p:spPr>
        <p:txBody>
          <a:bodyPr>
            <a:normAutofit/>
          </a:bodyPr>
          <a:lstStyle/>
          <a:p>
            <a:pPr marL="0" indent="0" algn="ctr">
              <a:buNone/>
            </a:pPr>
            <a:r>
              <a:rPr lang="en-IN" sz="2800" b="1" dirty="0"/>
              <a:t>Demo:</a:t>
            </a:r>
          </a:p>
          <a:p>
            <a:pPr marL="0" indent="0" algn="ctr">
              <a:buNone/>
            </a:pPr>
            <a:r>
              <a:rPr lang="en-IN" sz="2800" b="1" dirty="0"/>
              <a:t>Using </a:t>
            </a:r>
            <a:r>
              <a:rPr lang="en-IN" sz="2800" b="1" dirty="0" err="1"/>
              <a:t>JdbcTemplate</a:t>
            </a:r>
            <a:endParaRPr lang="en-US" sz="2800" b="1" dirty="0"/>
          </a:p>
        </p:txBody>
      </p:sp>
    </p:spTree>
    <p:extLst>
      <p:ext uri="{BB962C8B-B14F-4D97-AF65-F5344CB8AC3E}">
        <p14:creationId xmlns:p14="http://schemas.microsoft.com/office/powerpoint/2010/main" val="1816654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2617552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44604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267428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16203405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val="294699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in-2017.potx" id="{4EDF3F34-1001-4BED-9ABF-AB1DE7E97A65}" vid="{00CC2FEC-47D0-4700-973C-BCF25FFCFE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2105</TotalTime>
  <Words>2847</Words>
  <Application>Microsoft Office PowerPoint</Application>
  <PresentationFormat>Widescreen</PresentationFormat>
  <Paragraphs>304</Paragraphs>
  <Slides>37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Arial Narrow</vt:lpstr>
      <vt:lpstr>Calibri</vt:lpstr>
      <vt:lpstr>Calibri Light</vt:lpstr>
      <vt:lpstr>Courier New</vt:lpstr>
      <vt:lpstr>Times</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JDBC Review</vt:lpstr>
      <vt:lpstr>JDBC Data Sources</vt:lpstr>
      <vt:lpstr>JDBC Connection Pooling</vt:lpstr>
      <vt:lpstr>Benefits of Connection Pools</vt:lpstr>
      <vt:lpstr>How Data Source Connection Pools Are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Dependency Injection</dc:title>
  <dc:creator>Shantanu Banerjee</dc:creator>
  <cp:lastModifiedBy>Shantanu Banerjee</cp:lastModifiedBy>
  <cp:revision>96</cp:revision>
  <dcterms:created xsi:type="dcterms:W3CDTF">2017-04-14T07:04:43Z</dcterms:created>
  <dcterms:modified xsi:type="dcterms:W3CDTF">2020-08-22T09:35:10Z</dcterms:modified>
</cp:coreProperties>
</file>