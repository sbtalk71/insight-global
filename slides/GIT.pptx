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8"/>
  </p:notesMasterIdLst>
  <p:sldIdLst>
    <p:sldId id="257" r:id="rId2"/>
    <p:sldId id="277" r:id="rId3"/>
    <p:sldId id="289" r:id="rId4"/>
    <p:sldId id="290" r:id="rId5"/>
    <p:sldId id="313" r:id="rId6"/>
    <p:sldId id="316" r:id="rId7"/>
    <p:sldId id="317" r:id="rId8"/>
    <p:sldId id="258" r:id="rId9"/>
    <p:sldId id="325" r:id="rId10"/>
    <p:sldId id="259" r:id="rId11"/>
    <p:sldId id="308" r:id="rId12"/>
    <p:sldId id="293" r:id="rId13"/>
    <p:sldId id="294" r:id="rId14"/>
    <p:sldId id="295" r:id="rId15"/>
    <p:sldId id="296" r:id="rId16"/>
    <p:sldId id="297" r:id="rId17"/>
    <p:sldId id="318" r:id="rId18"/>
    <p:sldId id="298" r:id="rId19"/>
    <p:sldId id="300" r:id="rId20"/>
    <p:sldId id="265" r:id="rId21"/>
    <p:sldId id="320" r:id="rId22"/>
    <p:sldId id="321" r:id="rId23"/>
    <p:sldId id="322" r:id="rId24"/>
    <p:sldId id="323" r:id="rId25"/>
    <p:sldId id="324" r:id="rId26"/>
    <p:sldId id="319" r:id="rId27"/>
    <p:sldId id="301" r:id="rId28"/>
    <p:sldId id="261" r:id="rId29"/>
    <p:sldId id="262" r:id="rId30"/>
    <p:sldId id="263" r:id="rId31"/>
    <p:sldId id="264" r:id="rId32"/>
    <p:sldId id="309" r:id="rId33"/>
    <p:sldId id="303" r:id="rId34"/>
    <p:sldId id="304" r:id="rId35"/>
    <p:sldId id="305" r:id="rId36"/>
    <p:sldId id="268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83" r:id="rId45"/>
    <p:sldId id="310" r:id="rId46"/>
    <p:sldId id="31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92"/>
    <p:restoredTop sz="83957" autoAdjust="0"/>
  </p:normalViewPr>
  <p:slideViewPr>
    <p:cSldViewPr snapToGrid="0">
      <p:cViewPr varScale="1">
        <p:scale>
          <a:sx n="56" d="100"/>
          <a:sy n="56" d="100"/>
        </p:scale>
        <p:origin x="1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50027-762A-4347-B196-7A59525A83E8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D5EA1-5292-4E85-8E55-59054675D9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332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talk is divided into few smaller chunks. </a:t>
            </a:r>
          </a:p>
          <a:p>
            <a:r>
              <a:rPr lang="en-US" dirty="0"/>
              <a:t>First we will establish the need of a versioning system and tools and the problem it solves</a:t>
            </a:r>
          </a:p>
          <a:p>
            <a:r>
              <a:rPr lang="en-US" dirty="0"/>
              <a:t>Then we’ll see how git can be used to track codebase changes and also collaborate</a:t>
            </a:r>
          </a:p>
          <a:p>
            <a:r>
              <a:rPr lang="en-US" dirty="0"/>
              <a:t>Best practices used in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19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9pPr>
          </a:lstStyle>
          <a:p>
            <a:fld id="{57106D1A-1513-45D8-9145-C031AF9536A3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978838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9pPr>
          </a:lstStyle>
          <a:p>
            <a:fld id="{25340B72-2915-4E26-98D2-B78A4DA237FF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864073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is a distributed version control system. A version control system is a tool that allows us to manage changes made to blobs. Which can be </a:t>
            </a:r>
          </a:p>
          <a:p>
            <a:endParaRPr lang="en-US" dirty="0"/>
          </a:p>
          <a:p>
            <a:r>
              <a:rPr lang="en-US" dirty="0"/>
              <a:t> It is a tool that allows you to track your code history. Allows you to peek into the past and see what a code looks like at any given point of development. </a:t>
            </a:r>
          </a:p>
          <a:p>
            <a:endParaRPr lang="en-US" dirty="0"/>
          </a:p>
          <a:p>
            <a:r>
              <a:rPr lang="en-US" dirty="0"/>
              <a:t>An important tool to collaborate with other fellow developers. As developers you can’t collaborate efficiently by sending pieces of code in a zip file, or sharing it over the folder.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Source of truth, it is important to track down developers who made the changes and what changes are done.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83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Well there are a</a:t>
            </a:r>
            <a:r>
              <a:rPr lang="en-US" baseline="0" dirty="0"/>
              <a:t> number</a:t>
            </a:r>
            <a:r>
              <a:rPr lang="en-US" dirty="0"/>
              <a:t> of reasons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Developers need to share codebase easily</a:t>
            </a:r>
          </a:p>
          <a:p>
            <a:pPr marL="171450" indent="-171450">
              <a:buFontTx/>
              <a:buChar char="-"/>
            </a:pPr>
            <a:r>
              <a:rPr lang="en-US" dirty="0"/>
              <a:t>Keep track of all changes , undo, redo or time travel over months of development and compare code base.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Maintain working copies of same code base</a:t>
            </a:r>
          </a:p>
          <a:p>
            <a:pPr marL="171450" indent="-171450">
              <a:buFontTx/>
              <a:buChar char="-"/>
            </a:pPr>
            <a:r>
              <a:rPr lang="en-US" dirty="0"/>
              <a:t>Communicate changes made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Still need a reason to learn?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 is a industry wide tool that is being used by thousands of developers everyday. If you don’t know it probably you’ll never be able to collaborate with them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It is super powerful once you know. Employers expect you to know Git basics and have proficiency.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542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321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Alice builds a semi-calculator app that just adds and subtracts numbers. And saves it to local directory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60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 also designs a calculator that can multiply and divide numbers. And adds one more file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895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genius Average Joe changes all the file thinking the calculators were wrongly designed. Hence, changes everything and replaces the files in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16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the weekend everyone thinks they have created a great calculator and which safely resides in directory. But on Monday nobody knows who made the change to the files. </a:t>
            </a:r>
          </a:p>
          <a:p>
            <a:r>
              <a:rPr lang="en-US" dirty="0"/>
              <a:t>Joe is too drunk to realize he was the one who replaced the files!.  Perfect Recipe for disaster.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279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833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3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72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327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031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1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176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198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D5EA1-5292-4E85-8E55-59054675D9B5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151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190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9E8EA-E4F2-401B-A8EF-A9FCF5D5B896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57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9E8EA-E4F2-401B-A8EF-A9FCF5D5B896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1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9E8EA-E4F2-401B-A8EF-A9FCF5D5B896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305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9E8EA-E4F2-401B-A8EF-A9FCF5D5B896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252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9E8EA-E4F2-401B-A8EF-A9FCF5D5B896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920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86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9E8EA-E4F2-401B-A8EF-A9FCF5D5B896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331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9E8EA-E4F2-401B-A8EF-A9FCF5D5B896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174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91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990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4028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275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173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767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9E8EA-E4F2-401B-A8EF-A9FCF5D5B896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622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9E8EA-E4F2-401B-A8EF-A9FCF5D5B896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73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130" y="1594126"/>
            <a:ext cx="9404723" cy="4654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8F0BA-36B8-4733-AFEA-1CCE88DCC9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9506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2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15.svg"/><Relationship Id="rId4" Type="http://schemas.openxmlformats.org/officeDocument/2006/relationships/image" Target="../media/image11.svg"/><Relationship Id="rId9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01EF-86A0-4429-A374-845AF2AC8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2999081"/>
            <a:ext cx="10515600" cy="620793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latin typeface="Avenir Medium" charset="0"/>
                <a:ea typeface="Avenir Medium" charset="0"/>
                <a:cs typeface="Avenir Medium" charset="0"/>
              </a:rPr>
              <a:t>Version Control with Git and GitHub</a:t>
            </a:r>
          </a:p>
        </p:txBody>
      </p:sp>
    </p:spTree>
    <p:extLst>
      <p:ext uri="{BB962C8B-B14F-4D97-AF65-F5344CB8AC3E}">
        <p14:creationId xmlns:p14="http://schemas.microsoft.com/office/powerpoint/2010/main" val="3266397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9A8E4-EFE0-4DCD-A249-57EB367AA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>
                <a:latin typeface="Avenir Medium" charset="0"/>
                <a:ea typeface="Avenir Medium" charset="0"/>
                <a:cs typeface="Avenir Medium" charset="0"/>
              </a:rPr>
              <a:t>What’s the plan for today?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539C2-FF28-4EBF-B078-8E99383EA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0" indent="-857250">
              <a:buFont typeface="+mj-lt"/>
              <a:buAutoNum type="arabicPeriod"/>
            </a:pPr>
            <a:r>
              <a:rPr lang="en-US" sz="3600" dirty="0">
                <a:latin typeface="Avenir Book" charset="0"/>
                <a:ea typeface="Avenir Book" charset="0"/>
                <a:cs typeface="Avenir Book" charset="0"/>
              </a:rPr>
              <a:t>Version Control - Concepts, Terminology</a:t>
            </a:r>
          </a:p>
          <a:p>
            <a:pPr marL="857250" indent="-857250">
              <a:buFont typeface="+mj-lt"/>
              <a:buAutoNum type="arabicPeriod"/>
            </a:pPr>
            <a:r>
              <a:rPr lang="en-US" sz="3600" dirty="0">
                <a:latin typeface="Avenir Book" charset="0"/>
                <a:ea typeface="Avenir Book" charset="0"/>
                <a:cs typeface="Avenir Book" charset="0"/>
              </a:rPr>
              <a:t>Git </a:t>
            </a:r>
            <a:r>
              <a:rPr lang="mr-IN" sz="3600" dirty="0">
                <a:latin typeface="Avenir Book" charset="0"/>
                <a:ea typeface="Avenir Book" charset="0"/>
                <a:cs typeface="Avenir Book" charset="0"/>
              </a:rPr>
              <a:t>–</a:t>
            </a:r>
            <a:r>
              <a:rPr lang="en-US" sz="3600" dirty="0">
                <a:latin typeface="Avenir Book" charset="0"/>
                <a:ea typeface="Avenir Book" charset="0"/>
                <a:cs typeface="Avenir Book" charset="0"/>
              </a:rPr>
              <a:t> Commands</a:t>
            </a:r>
          </a:p>
          <a:p>
            <a:pPr marL="857250" indent="-857250">
              <a:buFont typeface="+mj-lt"/>
              <a:buAutoNum type="arabicPeriod"/>
            </a:pPr>
            <a:r>
              <a:rPr lang="en-US" sz="3600" dirty="0">
                <a:latin typeface="Avenir Book" charset="0"/>
                <a:ea typeface="Avenir Book" charset="0"/>
                <a:cs typeface="Avenir Book" charset="0"/>
              </a:rPr>
              <a:t>Collaborating with Git using GitHub</a:t>
            </a:r>
          </a:p>
          <a:p>
            <a:pPr marL="857250" indent="-857250">
              <a:buFont typeface="+mj-lt"/>
              <a:buAutoNum type="arabicPeriod"/>
            </a:pPr>
            <a:r>
              <a:rPr lang="en-US" sz="3600" dirty="0">
                <a:latin typeface="Avenir Book" charset="0"/>
                <a:ea typeface="Avenir Book" charset="0"/>
                <a:cs typeface="Avenir Book" charset="0"/>
              </a:rPr>
              <a:t>Version Control practices and workflow in the industry.</a:t>
            </a:r>
          </a:p>
        </p:txBody>
      </p:sp>
    </p:spTree>
    <p:extLst>
      <p:ext uri="{BB962C8B-B14F-4D97-AF65-F5344CB8AC3E}">
        <p14:creationId xmlns:p14="http://schemas.microsoft.com/office/powerpoint/2010/main" val="464714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 you work with other developers?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646" y="1950049"/>
            <a:ext cx="10486708" cy="27934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in a team, probably on particular components ?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Integrate your code together.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copies of your files in case something you lose them. (Not really?)</a:t>
            </a:r>
          </a:p>
        </p:txBody>
      </p:sp>
    </p:spTree>
    <p:extLst>
      <p:ext uri="{BB962C8B-B14F-4D97-AF65-F5344CB8AC3E}">
        <p14:creationId xmlns:p14="http://schemas.microsoft.com/office/powerpoint/2010/main" val="150648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>
                <a:latin typeface="Avenir Book" charset="0"/>
                <a:ea typeface="Avenir Book" charset="0"/>
                <a:cs typeface="Avenir Book" charset="0"/>
              </a:rPr>
              <a:t>So what’s version control?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Version control is the management of changes to documents, primarily computer programs. </a:t>
            </a:r>
          </a:p>
          <a:p>
            <a:endParaRPr lang="en-US" sz="3200" dirty="0">
              <a:latin typeface="Avenir Book" charset="0"/>
              <a:ea typeface="Avenir Book" charset="0"/>
              <a:cs typeface="Avenir Book" charset="0"/>
            </a:endParaRPr>
          </a:p>
          <a:p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Also known as revision control or source control. </a:t>
            </a:r>
          </a:p>
          <a:p>
            <a:endParaRPr lang="en-US" sz="3200" dirty="0">
              <a:latin typeface="Avenir Book" charset="0"/>
              <a:ea typeface="Avenir Book" charset="0"/>
              <a:cs typeface="Avenir Book" charset="0"/>
            </a:endParaRPr>
          </a:p>
          <a:p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Examples: git, mercurial, subversion</a:t>
            </a:r>
          </a:p>
          <a:p>
            <a:endParaRPr lang="en-US" sz="3200" dirty="0">
              <a:latin typeface="Avenir Book" charset="0"/>
              <a:ea typeface="Avenir Book" charset="0"/>
              <a:cs typeface="Avenir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83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62349" y="1541474"/>
            <a:ext cx="8946541" cy="461929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latin typeface="Avenir Book" charset="0"/>
                <a:ea typeface="Avenir Book" charset="0"/>
                <a:cs typeface="Avenir Book" charset="0"/>
              </a:rPr>
              <a:t>Makes working in a team easy!</a:t>
            </a:r>
          </a:p>
          <a:p>
            <a:pPr marL="971550" lvl="1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i="1" dirty="0">
                <a:latin typeface="Avenir Light" charset="0"/>
                <a:ea typeface="Avenir Light" charset="0"/>
                <a:cs typeface="Avenir Light" charset="0"/>
              </a:rPr>
              <a:t>Code without interference.</a:t>
            </a:r>
          </a:p>
          <a:p>
            <a:pPr marL="971550" lvl="1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i="1" dirty="0">
                <a:latin typeface="Avenir Light" charset="0"/>
                <a:ea typeface="Avenir Light" charset="0"/>
                <a:cs typeface="Avenir Light" charset="0"/>
              </a:rPr>
              <a:t>Go back to a previous version (iOS 10 anyone?)</a:t>
            </a:r>
          </a:p>
          <a:p>
            <a:pPr marL="971550" lvl="1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i="1" dirty="0">
                <a:latin typeface="Avenir Light" charset="0"/>
                <a:ea typeface="Avenir Light" charset="0"/>
                <a:cs typeface="Avenir Light" charset="0"/>
              </a:rPr>
              <a:t>Integrate code of multiple developer’s easily.</a:t>
            </a:r>
          </a:p>
          <a:p>
            <a:pPr marL="971550" lvl="1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i="1" dirty="0">
                <a:latin typeface="Avenir Light" charset="0"/>
                <a:ea typeface="Avenir Light" charset="0"/>
                <a:cs typeface="Avenir Light" charset="0"/>
              </a:rPr>
              <a:t>Know who did what, when.</a:t>
            </a:r>
          </a:p>
          <a:p>
            <a:pPr marL="971550" lvl="1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2800" i="1" dirty="0">
              <a:latin typeface="Avenir Light" charset="0"/>
              <a:ea typeface="Avenir Light" charset="0"/>
              <a:cs typeface="Avenir Light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latin typeface="Avenir Book" charset="0"/>
                <a:ea typeface="Avenir Book" charset="0"/>
                <a:cs typeface="Avenir Book" charset="0"/>
              </a:rPr>
              <a:t>Keep your code</a:t>
            </a:r>
            <a:r>
              <a:rPr lang="en-US" sz="2800" b="1" dirty="0">
                <a:latin typeface="Avenir Book" charset="0"/>
                <a:ea typeface="Avenir Book" charset="0"/>
                <a:cs typeface="Avenir Book" charset="0"/>
              </a:rPr>
              <a:t> secure</a:t>
            </a:r>
            <a:r>
              <a:rPr lang="en-US" sz="2800" dirty="0">
                <a:latin typeface="Avenir Book" charset="0"/>
                <a:ea typeface="Avenir Book" charset="0"/>
                <a:cs typeface="Avenir Book" charset="0"/>
              </a:rPr>
              <a:t>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Why version control?</a:t>
            </a:r>
          </a:p>
        </p:txBody>
      </p:sp>
    </p:spTree>
    <p:extLst>
      <p:ext uri="{BB962C8B-B14F-4D97-AF65-F5344CB8AC3E}">
        <p14:creationId xmlns:p14="http://schemas.microsoft.com/office/powerpoint/2010/main" val="1552685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Centralized Version Control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5201" y="1665460"/>
            <a:ext cx="8946541" cy="419548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Traditional version control system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Server with database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Clients have a working version</a:t>
            </a:r>
          </a:p>
          <a:p>
            <a:pPr>
              <a:lnSpc>
                <a:spcPct val="90000"/>
              </a:lnSpc>
            </a:pPr>
            <a:r>
              <a:rPr lang="en-US" altLang="zh-TW" sz="2800" dirty="0"/>
              <a:t>Examples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CVS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Subversion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Visual Source Safe </a:t>
            </a:r>
          </a:p>
          <a:p>
            <a:pPr>
              <a:lnSpc>
                <a:spcPct val="90000"/>
              </a:lnSpc>
            </a:pPr>
            <a:r>
              <a:rPr lang="en-US" altLang="zh-TW" sz="2800" dirty="0"/>
              <a:t>Challenges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Multi-developer conflicts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/>
              <a:t>Client/server communication</a:t>
            </a:r>
          </a:p>
          <a:p>
            <a:pPr>
              <a:lnSpc>
                <a:spcPct val="90000"/>
              </a:lnSpc>
            </a:pPr>
            <a:endParaRPr lang="en-US" altLang="zh-TW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9pPr>
          </a:lstStyle>
          <a:p>
            <a:fld id="{03CA8D00-7467-4724-A4A1-193C644F8D1F}" type="slidenum">
              <a:rPr lang="zh-TW" altLang="en-US">
                <a:solidFill>
                  <a:srgbClr val="898989"/>
                </a:solidFill>
              </a:rPr>
              <a:pPr/>
              <a:t>6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91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Distributed Version Control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400" dirty="0"/>
              <a:t>Authoritative server by convention only</a:t>
            </a:r>
          </a:p>
          <a:p>
            <a:pPr>
              <a:lnSpc>
                <a:spcPct val="90000"/>
              </a:lnSpc>
            </a:pPr>
            <a:r>
              <a:rPr lang="en-US" altLang="zh-TW" sz="2400" dirty="0"/>
              <a:t>Every working checkout is a repository</a:t>
            </a:r>
          </a:p>
          <a:p>
            <a:pPr>
              <a:lnSpc>
                <a:spcPct val="90000"/>
              </a:lnSpc>
            </a:pPr>
            <a:r>
              <a:rPr lang="en-US" altLang="zh-TW" sz="2400" dirty="0"/>
              <a:t>Get version control even when detached</a:t>
            </a:r>
          </a:p>
          <a:p>
            <a:pPr>
              <a:lnSpc>
                <a:spcPct val="90000"/>
              </a:lnSpc>
            </a:pPr>
            <a:r>
              <a:rPr lang="en-US" altLang="zh-TW" sz="2400" dirty="0"/>
              <a:t>Backups are trivial</a:t>
            </a:r>
          </a:p>
          <a:p>
            <a:pPr>
              <a:lnSpc>
                <a:spcPct val="90000"/>
              </a:lnSpc>
            </a:pPr>
            <a:endParaRPr lang="en-US" altLang="zh-TW" sz="2400" dirty="0"/>
          </a:p>
        </p:txBody>
      </p:sp>
      <p:sp>
        <p:nvSpPr>
          <p:cNvPr id="20483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6911793" y="1853248"/>
            <a:ext cx="4396341" cy="4200245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Other distributed systems include</a:t>
            </a:r>
          </a:p>
          <a:p>
            <a:pPr lvl="1"/>
            <a:r>
              <a:rPr lang="en-US" altLang="zh-TW" sz="2400" dirty="0"/>
              <a:t>Mercurial</a:t>
            </a:r>
          </a:p>
          <a:p>
            <a:pPr lvl="1"/>
            <a:r>
              <a:rPr lang="en-US" altLang="zh-TW" sz="2400" dirty="0" err="1"/>
              <a:t>BitKeeper</a:t>
            </a:r>
            <a:endParaRPr lang="en-US" altLang="zh-TW" sz="2400" dirty="0"/>
          </a:p>
          <a:p>
            <a:pPr lvl="1"/>
            <a:r>
              <a:rPr lang="en-US" altLang="zh-TW" sz="2400" dirty="0" err="1"/>
              <a:t>Darcs</a:t>
            </a:r>
            <a:endParaRPr lang="en-US" altLang="zh-TW" sz="2400" dirty="0"/>
          </a:p>
          <a:p>
            <a:pPr lvl="1"/>
            <a:r>
              <a:rPr lang="en-US" altLang="zh-TW" sz="2400" dirty="0"/>
              <a:t>Bazaar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9pPr>
          </a:lstStyle>
          <a:p>
            <a:fld id="{AE667839-3A60-4B4C-8136-E99267BED1BD}" type="slidenum">
              <a:rPr lang="zh-TW" altLang="en-US">
                <a:solidFill>
                  <a:srgbClr val="898989"/>
                </a:solidFill>
              </a:rPr>
              <a:pPr/>
              <a:t>7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41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B15C-F8D3-4C1F-9FC0-8505F81C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A248F-858C-4314-BC5C-2E5AD224B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704658"/>
            <a:ext cx="8946541" cy="419548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venir Book" charset="0"/>
                <a:ea typeface="Avenir Book" charset="0"/>
                <a:cs typeface="Avenir Book" charset="0"/>
              </a:rPr>
              <a:t>A distributed version control system</a:t>
            </a:r>
          </a:p>
          <a:p>
            <a:endParaRPr lang="en-US" sz="2800" dirty="0">
              <a:latin typeface="Avenir Book" charset="0"/>
              <a:ea typeface="Avenir Book" charset="0"/>
              <a:cs typeface="Avenir Book" charset="0"/>
            </a:endParaRPr>
          </a:p>
          <a:p>
            <a:r>
              <a:rPr lang="en-US" sz="2800" dirty="0">
                <a:latin typeface="Avenir Book" charset="0"/>
                <a:ea typeface="Avenir Book" charset="0"/>
                <a:cs typeface="Avenir Book" charset="0"/>
              </a:rPr>
              <a:t>Command-Line Tool (accessible with Terminal on the Mac or Git Bash on Windows)</a:t>
            </a:r>
          </a:p>
          <a:p>
            <a:endParaRPr lang="en-US" sz="2800" dirty="0">
              <a:latin typeface="Avenir Book" charset="0"/>
              <a:ea typeface="Avenir Book" charset="0"/>
              <a:cs typeface="Avenir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130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 Brief History of Git</a:t>
            </a:r>
            <a:endParaRPr lang="zh-TW" altLang="en-US"/>
          </a:p>
        </p:txBody>
      </p:sp>
      <p:sp>
        <p:nvSpPr>
          <p:cNvPr id="163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/>
              <a:t>Linus uses BitKeeper to manage Linux code</a:t>
            </a:r>
          </a:p>
          <a:p>
            <a:r>
              <a:rPr lang="en-US" altLang="zh-TW" sz="2800"/>
              <a:t>Ran into BitKeeper licensing issue</a:t>
            </a:r>
          </a:p>
          <a:p>
            <a:pPr lvl="1"/>
            <a:r>
              <a:rPr lang="en-US" altLang="zh-TW" sz="2400"/>
              <a:t>Liked functionality</a:t>
            </a:r>
          </a:p>
          <a:p>
            <a:pPr lvl="1"/>
            <a:r>
              <a:rPr lang="en-US" altLang="zh-TW" sz="2400"/>
              <a:t>Looked at CVS as how not to do things</a:t>
            </a:r>
          </a:p>
          <a:p>
            <a:r>
              <a:rPr lang="en-US" altLang="zh-TW" sz="2800"/>
              <a:t>April 5, 2005 - Linus sends out email showing first version</a:t>
            </a:r>
          </a:p>
          <a:p>
            <a:r>
              <a:rPr lang="en-US" altLang="zh-TW" sz="2800"/>
              <a:t>June 15, 2005 - Git used for Linux version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itchFamily="18" charset="-120"/>
              </a:defRPr>
            </a:lvl9pPr>
          </a:lstStyle>
          <a:p>
            <a:fld id="{700A872A-6C83-40F0-87A3-B04D52A42CED}" type="slidenum">
              <a:rPr lang="zh-TW" altLang="en-US">
                <a:solidFill>
                  <a:srgbClr val="898989"/>
                </a:solidFill>
              </a:rPr>
              <a:pPr/>
              <a:t>9</a:t>
            </a:fld>
            <a:endParaRPr lang="en-US" altLang="zh-TW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278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4A23-D7F5-4299-953A-ECAEDDFB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Why Git and not other VCS?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451610"/>
            <a:ext cx="8946541" cy="4000499"/>
          </a:xfrm>
        </p:spPr>
        <p:txBody>
          <a:bodyPr>
            <a:noAutofit/>
          </a:bodyPr>
          <a:lstStyle/>
          <a:p>
            <a:r>
              <a:rPr lang="en-US" sz="2800" dirty="0" err="1">
                <a:latin typeface="Avenir Book" charset="0"/>
                <a:ea typeface="Avenir Book" charset="0"/>
                <a:cs typeface="Avenir Book" charset="0"/>
              </a:rPr>
              <a:t>Git’s</a:t>
            </a:r>
            <a:r>
              <a:rPr lang="en-US" sz="2800" dirty="0">
                <a:latin typeface="Avenir Book" charset="0"/>
                <a:ea typeface="Avenir Book" charset="0"/>
                <a:cs typeface="Avenir Book" charset="0"/>
              </a:rPr>
              <a:t> the most popular version control system in the industry, by far. </a:t>
            </a:r>
          </a:p>
          <a:p>
            <a:endParaRPr lang="en-US" sz="2800" dirty="0">
              <a:latin typeface="Avenir Book" charset="0"/>
              <a:ea typeface="Avenir Book" charset="0"/>
              <a:cs typeface="Avenir Book" charset="0"/>
            </a:endParaRPr>
          </a:p>
          <a:p>
            <a:r>
              <a:rPr lang="en-US" sz="2800" dirty="0">
                <a:latin typeface="Avenir Book" charset="0"/>
                <a:ea typeface="Avenir Book" charset="0"/>
                <a:cs typeface="Avenir Book" charset="0"/>
              </a:rPr>
              <a:t>A proper and detailed understanding of Git will allow you to make a transition to any other distributed VCS easily.</a:t>
            </a:r>
          </a:p>
          <a:p>
            <a:endParaRPr lang="en-US" sz="2800" dirty="0">
              <a:latin typeface="Avenir Book" charset="0"/>
              <a:ea typeface="Avenir Book" charset="0"/>
              <a:cs typeface="Avenir Book" charset="0"/>
            </a:endParaRPr>
          </a:p>
          <a:p>
            <a:r>
              <a:rPr lang="en-US" sz="2800" dirty="0">
                <a:latin typeface="Avenir Book" charset="0"/>
                <a:ea typeface="Avenir Book" charset="0"/>
                <a:cs typeface="Avenir Book" charset="0"/>
              </a:rPr>
              <a:t>Most popular VCS are similar to Git</a:t>
            </a:r>
          </a:p>
        </p:txBody>
      </p:sp>
    </p:spTree>
    <p:extLst>
      <p:ext uri="{BB962C8B-B14F-4D97-AF65-F5344CB8AC3E}">
        <p14:creationId xmlns:p14="http://schemas.microsoft.com/office/powerpoint/2010/main" val="116673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595718"/>
            <a:ext cx="8946541" cy="4195481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Things you’ll need: 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You need </a:t>
            </a:r>
            <a:r>
              <a:rPr lang="en-US" dirty="0" err="1"/>
              <a:t>Git</a:t>
            </a:r>
            <a:r>
              <a:rPr lang="en-US" dirty="0"/>
              <a:t> installed on your system, and you can access it in a UNIX Terminal, either the Terminal on the Mac or </a:t>
            </a:r>
            <a:r>
              <a:rPr lang="en-US" dirty="0" err="1"/>
              <a:t>Git</a:t>
            </a:r>
            <a:r>
              <a:rPr lang="en-US" dirty="0"/>
              <a:t> Bash on Windows. 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Download </a:t>
            </a:r>
            <a:r>
              <a:rPr lang="en-US" dirty="0" err="1"/>
              <a:t>Git</a:t>
            </a:r>
            <a:r>
              <a:rPr lang="en-US" dirty="0"/>
              <a:t> from the following link: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hlinkClick r:id="rId2"/>
              </a:rPr>
              <a:t>https://git-scm.com/downloads</a:t>
            </a:r>
            <a:endParaRPr lang="en-US" dirty="0"/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938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Version Control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Version Control System (VCS) or (SCM)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Commit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SHA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Working Directory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Checkout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Staging Area/Index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Branch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latin typeface="Avenir Book" charset="0"/>
              <a:ea typeface="Avenir Book" charset="0"/>
              <a:cs typeface="Avenir Book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86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41" y="441288"/>
            <a:ext cx="9404723" cy="767687"/>
          </a:xfrm>
        </p:spPr>
        <p:txBody>
          <a:bodyPr/>
          <a:lstStyle/>
          <a:p>
            <a:r>
              <a:rPr lang="en-US" b="1" dirty="0">
                <a:latin typeface="Avenir Heavy" charset="0"/>
                <a:ea typeface="Avenir Heavy" charset="0"/>
                <a:cs typeface="Avenir Heavy" charset="0"/>
              </a:rPr>
              <a:t>Version Control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012" y="1630008"/>
            <a:ext cx="8946541" cy="4195481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Version Control System : </a:t>
            </a:r>
          </a:p>
          <a:p>
            <a:pPr marL="0" indent="0"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A VCS allows you to: revert files back to a previous state, revert the entire project back to a previous state, review changes made over time, see who last modified something that might be causing a problem, who introduced an issue and when, and more. </a:t>
            </a:r>
          </a:p>
          <a:p>
            <a:pPr marL="0" indent="0">
              <a:buNone/>
            </a:pPr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  <a:p>
            <a:pPr marL="514350" indent="-514350">
              <a:buAutoNum type="arabicPeriod" startAt="2"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Repository:</a:t>
            </a:r>
          </a:p>
          <a:p>
            <a:pPr marL="0" indent="0"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A directory that contains your project work which are used to communicate with Git. Repositories can exist either locally on your computer or as a remote copy on another computer.</a:t>
            </a:r>
          </a:p>
        </p:txBody>
      </p:sp>
    </p:spTree>
    <p:extLst>
      <p:ext uri="{BB962C8B-B14F-4D97-AF65-F5344CB8AC3E}">
        <p14:creationId xmlns:p14="http://schemas.microsoft.com/office/powerpoint/2010/main" val="1728490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Heavy" charset="0"/>
                <a:ea typeface="Avenir Heavy" charset="0"/>
                <a:cs typeface="Avenir Heavy" charset="0"/>
              </a:rPr>
              <a:t>Version Control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1872" y="1489076"/>
            <a:ext cx="8946541" cy="4774564"/>
          </a:xfrm>
        </p:spPr>
        <p:txBody>
          <a:bodyPr>
            <a:noAutofit/>
          </a:bodyPr>
          <a:lstStyle/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3. Commit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Git thinks of its data like a set of snapshots of a mini file system.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Think of it as a save point during a video game.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4. SHA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A SHA is basically an ID number for each commit.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Ex. E2adf8ae3e2e4ed40add75cc44cf9d0a869afeb6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5. Working Directory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The files that you see in your computer's file system. When you open your project files up on a code editor, you're working with files in the Working Directory. </a:t>
            </a:r>
          </a:p>
        </p:txBody>
      </p:sp>
    </p:spTree>
    <p:extLst>
      <p:ext uri="{BB962C8B-B14F-4D97-AF65-F5344CB8AC3E}">
        <p14:creationId xmlns:p14="http://schemas.microsoft.com/office/powerpoint/2010/main" val="2140486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Heavy" charset="0"/>
                <a:ea typeface="Avenir Heavy" charset="0"/>
                <a:cs typeface="Avenir Heavy" charset="0"/>
              </a:rPr>
              <a:t>Version Control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331259"/>
            <a:ext cx="8946541" cy="5286711"/>
          </a:xfrm>
        </p:spPr>
        <p:txBody>
          <a:bodyPr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6. Checkout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When content in the repository has been copied to the Working Directory. It is possible to checkout many things from a repository; a file, a commit, a branch, etc.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7. Staging Area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You can think of the staging area as a prep table where Git will take the next commit. Files on the Staging Index are poised to be added to the repository.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8. Branch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A branch is when a new line of development is created that diverges from the main line of development. This alternative line of development can continue without altering the main line.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332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Let’s dive into the good stuff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549998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GIT COMMANDS: </a:t>
            </a:r>
          </a:p>
          <a:p>
            <a:pPr marL="0" indent="0">
              <a:buNone/>
            </a:pPr>
            <a:r>
              <a:rPr lang="en-US" sz="2000" dirty="0">
                <a:latin typeface="Avenir Book" charset="0"/>
                <a:ea typeface="Avenir Book" charset="0"/>
                <a:cs typeface="Avenir Book" charset="0"/>
              </a:rPr>
              <a:t>(THINGS WE’LL COVER)</a:t>
            </a:r>
          </a:p>
          <a:p>
            <a:pPr marL="0" indent="0">
              <a:buNone/>
            </a:pPr>
            <a:endParaRPr lang="en-US" sz="2000" dirty="0">
              <a:latin typeface="Avenir Book" charset="0"/>
              <a:ea typeface="Avenir Book" charset="0"/>
              <a:cs typeface="Avenir Book" charset="0"/>
            </a:endParaRPr>
          </a:p>
          <a:p>
            <a:r>
              <a:rPr lang="en-US" sz="2000" dirty="0">
                <a:latin typeface="Avenir Book" charset="0"/>
                <a:ea typeface="Avenir Book" charset="0"/>
                <a:cs typeface="Avenir Book" charset="0"/>
              </a:rPr>
              <a:t>BASIC GIT COMMANDS</a:t>
            </a:r>
          </a:p>
          <a:p>
            <a:r>
              <a:rPr lang="en-US" sz="2000" dirty="0">
                <a:latin typeface="Avenir Book" charset="0"/>
                <a:ea typeface="Avenir Book" charset="0"/>
                <a:cs typeface="Avenir Book" charset="0"/>
              </a:rPr>
              <a:t>REMOTE REPOSITORY </a:t>
            </a:r>
            <a:r>
              <a:rPr lang="mr-IN" sz="2000" dirty="0">
                <a:latin typeface="Avenir Book" charset="0"/>
                <a:ea typeface="Avenir Book" charset="0"/>
                <a:cs typeface="Avenir Book" charset="0"/>
              </a:rPr>
              <a:t>–</a:t>
            </a:r>
            <a:r>
              <a:rPr lang="en-US" sz="2000" dirty="0">
                <a:latin typeface="Avenir Book" charset="0"/>
                <a:ea typeface="Avenir Book" charset="0"/>
                <a:cs typeface="Avenir Book" charset="0"/>
              </a:rPr>
              <a:t> PUSH &amp; PULL</a:t>
            </a:r>
          </a:p>
          <a:p>
            <a:r>
              <a:rPr lang="en-US" sz="2000" dirty="0">
                <a:latin typeface="Avenir Book" charset="0"/>
                <a:ea typeface="Avenir Book" charset="0"/>
                <a:cs typeface="Avenir Book" charset="0"/>
              </a:rPr>
              <a:t>BRANCHING, TAGGING AND MERGING</a:t>
            </a:r>
          </a:p>
          <a:p>
            <a:r>
              <a:rPr lang="en-US" sz="2000" dirty="0">
                <a:latin typeface="Avenir Book" charset="0"/>
                <a:ea typeface="Avenir Book" charset="0"/>
                <a:cs typeface="Avenir Book" charset="0"/>
              </a:rPr>
              <a:t>DISASTER HAS STRUCK!</a:t>
            </a:r>
          </a:p>
        </p:txBody>
      </p:sp>
    </p:spTree>
    <p:extLst>
      <p:ext uri="{BB962C8B-B14F-4D97-AF65-F5344CB8AC3E}">
        <p14:creationId xmlns:p14="http://schemas.microsoft.com/office/powerpoint/2010/main" val="765169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 Git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651770"/>
            <a:ext cx="10109713" cy="4377071"/>
          </a:xfrm>
        </p:spPr>
        <p:txBody>
          <a:bodyPr>
            <a:normAutofit/>
          </a:bodyPr>
          <a:lstStyle/>
          <a:p>
            <a:r>
              <a:rPr lang="en-US" sz="2400" dirty="0"/>
              <a:t>Set the name and email for </a:t>
            </a:r>
            <a:r>
              <a:rPr lang="en-US" sz="2400" dirty="0" err="1"/>
              <a:t>Git</a:t>
            </a:r>
            <a:r>
              <a:rPr lang="en-US" sz="2400" dirty="0"/>
              <a:t> to use when you commit:</a:t>
            </a:r>
          </a:p>
          <a:p>
            <a:pPr marL="0" indent="0">
              <a:buNone/>
            </a:pPr>
            <a:r>
              <a:rPr lang="en-IN" sz="2400" dirty="0"/>
              <a:t>– git </a:t>
            </a:r>
            <a:r>
              <a:rPr lang="en-IN" sz="2400" dirty="0" err="1"/>
              <a:t>config</a:t>
            </a:r>
            <a:r>
              <a:rPr lang="en-IN" sz="2400" dirty="0"/>
              <a:t> --global user.name "Bugs Bunny"</a:t>
            </a:r>
          </a:p>
          <a:p>
            <a:pPr marL="0" indent="0">
              <a:buNone/>
            </a:pPr>
            <a:r>
              <a:rPr lang="en-IN" sz="2400" dirty="0"/>
              <a:t>– git </a:t>
            </a:r>
            <a:r>
              <a:rPr lang="en-IN" sz="2400" dirty="0" err="1"/>
              <a:t>config</a:t>
            </a:r>
            <a:r>
              <a:rPr lang="en-IN" sz="2400" dirty="0"/>
              <a:t> --global </a:t>
            </a:r>
            <a:r>
              <a:rPr lang="en-IN" sz="2400" dirty="0" err="1"/>
              <a:t>user.email</a:t>
            </a:r>
            <a:r>
              <a:rPr lang="en-IN" sz="2400" dirty="0"/>
              <a:t> bugs@gmail.com</a:t>
            </a:r>
          </a:p>
          <a:p>
            <a:r>
              <a:rPr lang="en-US" sz="2400" dirty="0"/>
              <a:t> You can call </a:t>
            </a:r>
            <a:r>
              <a:rPr lang="en-US" sz="2400" dirty="0" err="1"/>
              <a:t>git</a:t>
            </a:r>
            <a:r>
              <a:rPr lang="en-US" sz="2400" dirty="0"/>
              <a:t> </a:t>
            </a:r>
            <a:r>
              <a:rPr lang="en-US" sz="2400" dirty="0" err="1"/>
              <a:t>config</a:t>
            </a:r>
            <a:r>
              <a:rPr lang="en-US" sz="2400" dirty="0"/>
              <a:t> –list to verify these are set.</a:t>
            </a:r>
          </a:p>
          <a:p>
            <a:r>
              <a:rPr lang="en-US" sz="2400" dirty="0"/>
              <a:t> Set the editor that is used for writing commit messages:</a:t>
            </a:r>
          </a:p>
          <a:p>
            <a:pPr marL="0" indent="0">
              <a:buNone/>
            </a:pPr>
            <a:r>
              <a:rPr lang="en-IN" sz="2400" dirty="0"/>
              <a:t> git </a:t>
            </a:r>
            <a:r>
              <a:rPr lang="en-IN" sz="2400" dirty="0" err="1"/>
              <a:t>config</a:t>
            </a:r>
            <a:r>
              <a:rPr lang="en-IN" sz="2400" dirty="0"/>
              <a:t> --global </a:t>
            </a:r>
            <a:r>
              <a:rPr lang="en-IN" sz="2400" dirty="0" err="1"/>
              <a:t>core.editor</a:t>
            </a:r>
            <a:r>
              <a:rPr lang="en-IN" sz="2400" dirty="0"/>
              <a:t> </a:t>
            </a:r>
            <a:r>
              <a:rPr lang="en-IN" sz="2400" dirty="0" err="1"/>
              <a:t>nano</a:t>
            </a:r>
            <a:endParaRPr lang="en-IN" sz="2400" dirty="0"/>
          </a:p>
          <a:p>
            <a:r>
              <a:rPr lang="en-US" sz="2400" dirty="0"/>
              <a:t> (it is vim by default)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86636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Basic Git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720" y="1308376"/>
            <a:ext cx="10636280" cy="465427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git </a:t>
            </a:r>
            <a:r>
              <a:rPr lang="en-US" sz="2400" b="1" dirty="0" err="1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init</a:t>
            </a:r>
            <a:r>
              <a:rPr lang="en-US" sz="2400" b="1" dirty="0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git status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git add &lt;filename&gt;</a:t>
            </a:r>
            <a:r>
              <a:rPr lang="en-US" sz="2400" b="1" i="1" dirty="0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 / </a:t>
            </a:r>
            <a:r>
              <a:rPr lang="en-US" sz="2400" b="1" dirty="0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git add 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git commit / git commit </a:t>
            </a:r>
            <a:r>
              <a:rPr lang="mr-IN" sz="2400" b="1" dirty="0">
                <a:latin typeface="Courier New" panose="02070309020205020404" pitchFamily="49" charset="0"/>
                <a:ea typeface="Avenir Book" charset="0"/>
                <a:cs typeface="Avenir Book" charset="0"/>
              </a:rPr>
              <a:t>–</a:t>
            </a:r>
            <a:r>
              <a:rPr lang="en-US" sz="2400" b="1" dirty="0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m “commit message”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git log </a:t>
            </a:r>
            <a:r>
              <a:rPr lang="mr-IN" sz="2400" b="1" dirty="0">
                <a:latin typeface="Courier New" panose="02070309020205020404" pitchFamily="49" charset="0"/>
                <a:ea typeface="Avenir Book" charset="0"/>
                <a:cs typeface="Avenir Book" charset="0"/>
              </a:rPr>
              <a:t>–</a:t>
            </a:r>
            <a:r>
              <a:rPr lang="en-US" sz="2400" b="1" dirty="0" err="1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oneline</a:t>
            </a:r>
            <a:r>
              <a:rPr lang="en-US" sz="2400" b="1" dirty="0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 / git log —stat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Courier New" panose="02070309020205020404" pitchFamily="49" charset="0"/>
                <a:ea typeface="Avenir Book" charset="0"/>
                <a:cs typeface="Courier New" panose="02070309020205020404" pitchFamily="49" charset="0"/>
              </a:rPr>
              <a:t>git clone</a:t>
            </a:r>
          </a:p>
          <a:p>
            <a:pPr marL="0" indent="0">
              <a:lnSpc>
                <a:spcPct val="150000"/>
              </a:lnSpc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052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99533" y="24987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5400" b="1" dirty="0">
                <a:latin typeface="Avenir Book" charset="0"/>
                <a:ea typeface="Avenir Book" charset="0"/>
                <a:cs typeface="Avenir Book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385284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908A-FBF1-4A85-8D79-A2942219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Basic Git model locally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55988-DB8D-4406-890E-EF0B0B9B2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925" y="1690688"/>
            <a:ext cx="653415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73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297735"/>
            <a:ext cx="9404723" cy="787146"/>
          </a:xfrm>
        </p:spPr>
        <p:txBody>
          <a:bodyPr/>
          <a:lstStyle/>
          <a:p>
            <a:r>
              <a:rPr lang="en-US" b="1" dirty="0"/>
              <a:t>Add and commit a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348354"/>
            <a:ext cx="10156208" cy="491296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first time we ask a file to be tracked, and every time before we commit a file, we must add it to the staging area:</a:t>
            </a:r>
          </a:p>
          <a:p>
            <a:pPr marL="0" indent="0">
              <a:buNone/>
            </a:pPr>
            <a:r>
              <a:rPr lang="en-IN" sz="2400" dirty="0"/>
              <a:t>git add Hello.java Goodbye.java</a:t>
            </a:r>
          </a:p>
          <a:p>
            <a:r>
              <a:rPr lang="en-US" sz="2400" dirty="0"/>
              <a:t> Takes a snapshot of these files, adds them to the staging area.</a:t>
            </a:r>
          </a:p>
          <a:p>
            <a:r>
              <a:rPr lang="en-US" sz="2400" dirty="0"/>
              <a:t>In older VCS, "add" means "start tracking this file." In </a:t>
            </a:r>
            <a:r>
              <a:rPr lang="en-US" sz="2400" dirty="0" err="1"/>
              <a:t>Git</a:t>
            </a:r>
            <a:r>
              <a:rPr lang="en-US" sz="2400" dirty="0"/>
              <a:t>, "add“ means "add to staging area" so it will be part of the next commit.</a:t>
            </a:r>
          </a:p>
          <a:p>
            <a:r>
              <a:rPr lang="en-US" sz="2400" dirty="0"/>
              <a:t>To move staged changes into the repo, we commit:</a:t>
            </a:r>
          </a:p>
          <a:p>
            <a:pPr lvl="1"/>
            <a:r>
              <a:rPr lang="en-US" sz="2200" dirty="0"/>
              <a:t> </a:t>
            </a:r>
            <a:r>
              <a:rPr lang="en-US" sz="2200" dirty="0" err="1"/>
              <a:t>git</a:t>
            </a:r>
            <a:r>
              <a:rPr lang="en-US" sz="2200" dirty="0"/>
              <a:t> commit –m "Fixing bug #22"</a:t>
            </a:r>
          </a:p>
          <a:p>
            <a:r>
              <a:rPr lang="en-US" sz="2400" dirty="0"/>
              <a:t>To undo changes on a file before you have committed it: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err="1"/>
              <a:t>git</a:t>
            </a:r>
            <a:r>
              <a:rPr lang="en-US" sz="2400" dirty="0"/>
              <a:t> reset HEAD -- </a:t>
            </a:r>
            <a:r>
              <a:rPr lang="en-US" sz="2400" i="1" dirty="0"/>
              <a:t>filename </a:t>
            </a:r>
            <a:r>
              <a:rPr lang="en-US" sz="2400" dirty="0"/>
              <a:t>(</a:t>
            </a:r>
            <a:r>
              <a:rPr lang="en-US" sz="2400" dirty="0" err="1"/>
              <a:t>unstages</a:t>
            </a:r>
            <a:r>
              <a:rPr lang="en-US" sz="2400" dirty="0"/>
              <a:t> the file)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err="1"/>
              <a:t>git</a:t>
            </a:r>
            <a:r>
              <a:rPr lang="en-US" sz="2400" dirty="0"/>
              <a:t> checkout -- </a:t>
            </a:r>
            <a:r>
              <a:rPr lang="en-US" sz="2400" i="1" dirty="0"/>
              <a:t>filename </a:t>
            </a:r>
            <a:r>
              <a:rPr lang="en-US" sz="2400" dirty="0"/>
              <a:t>(undoes your changes)</a:t>
            </a:r>
          </a:p>
          <a:p>
            <a:r>
              <a:rPr lang="en-US" sz="2400" dirty="0"/>
              <a:t>All these commands are acting on your local version of repo.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82638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282236"/>
            <a:ext cx="9404723" cy="818143"/>
          </a:xfrm>
        </p:spPr>
        <p:txBody>
          <a:bodyPr/>
          <a:lstStyle/>
          <a:p>
            <a:r>
              <a:rPr lang="en-IN" b="1" dirty="0"/>
              <a:t>Viewing/undoing changes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130" y="1208868"/>
            <a:ext cx="10358667" cy="53004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view status of files in working directory and staging area: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git</a:t>
            </a:r>
            <a:r>
              <a:rPr lang="en-US" dirty="0"/>
              <a:t> status or </a:t>
            </a:r>
            <a:r>
              <a:rPr lang="en-US" dirty="0" err="1"/>
              <a:t>git</a:t>
            </a:r>
            <a:r>
              <a:rPr lang="en-US" dirty="0"/>
              <a:t> status –s (short version)</a:t>
            </a:r>
          </a:p>
          <a:p>
            <a:r>
              <a:rPr lang="en-US" dirty="0"/>
              <a:t> To see what is modified but </a:t>
            </a:r>
            <a:r>
              <a:rPr lang="en-US" dirty="0" err="1"/>
              <a:t>unstaged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IN" dirty="0"/>
              <a:t> git diff</a:t>
            </a:r>
          </a:p>
          <a:p>
            <a:r>
              <a:rPr lang="en-US" dirty="0"/>
              <a:t>To see a list of staged changes:</a:t>
            </a:r>
          </a:p>
          <a:p>
            <a:pPr marL="0" indent="0">
              <a:buNone/>
            </a:pPr>
            <a:r>
              <a:rPr lang="en-IN" dirty="0"/>
              <a:t> git diff --cached</a:t>
            </a:r>
          </a:p>
          <a:p>
            <a:r>
              <a:rPr lang="en-US" dirty="0"/>
              <a:t> To see a log of all changes in your local repo:</a:t>
            </a:r>
          </a:p>
          <a:p>
            <a:pPr marL="0" indent="0">
              <a:buNone/>
            </a:pPr>
            <a:r>
              <a:rPr lang="en-IN" dirty="0"/>
              <a:t> git log or git log --</a:t>
            </a:r>
            <a:r>
              <a:rPr lang="en-IN" dirty="0" err="1"/>
              <a:t>oneline</a:t>
            </a:r>
            <a:r>
              <a:rPr lang="en-IN" dirty="0"/>
              <a:t> (shorter version)</a:t>
            </a:r>
          </a:p>
          <a:p>
            <a:r>
              <a:rPr lang="en-US" dirty="0"/>
              <a:t>1677b2d Edited first line of readme</a:t>
            </a:r>
          </a:p>
          <a:p>
            <a:r>
              <a:rPr lang="en-US" dirty="0"/>
              <a:t>258efa7 Added line to readme</a:t>
            </a:r>
          </a:p>
          <a:p>
            <a:r>
              <a:rPr lang="en-IN" dirty="0"/>
              <a:t>0e52da7 Initial commit</a:t>
            </a:r>
          </a:p>
          <a:p>
            <a:r>
              <a:rPr lang="en-US" dirty="0"/>
              <a:t> </a:t>
            </a:r>
            <a:r>
              <a:rPr lang="en-US" dirty="0" err="1"/>
              <a:t>git</a:t>
            </a:r>
            <a:r>
              <a:rPr lang="en-US" dirty="0"/>
              <a:t> log -5 (to show only the 5 most recent updates),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4815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266738"/>
            <a:ext cx="9404723" cy="973126"/>
          </a:xfrm>
        </p:spPr>
        <p:txBody>
          <a:bodyPr/>
          <a:lstStyle/>
          <a:p>
            <a:r>
              <a:rPr lang="en-IN" dirty="0"/>
              <a:t>Branching and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130" y="1556972"/>
            <a:ext cx="10606639" cy="461135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Git</a:t>
            </a:r>
            <a:r>
              <a:rPr lang="en-US" dirty="0"/>
              <a:t> uses branching heavily to switch between multiple tasks.</a:t>
            </a:r>
          </a:p>
          <a:p>
            <a:r>
              <a:rPr lang="en-US" dirty="0"/>
              <a:t>To create a new local branch:</a:t>
            </a:r>
          </a:p>
          <a:p>
            <a:pPr marL="0" indent="0">
              <a:buNone/>
            </a:pPr>
            <a:r>
              <a:rPr lang="en-IN" dirty="0"/>
              <a:t> git branch </a:t>
            </a:r>
            <a:r>
              <a:rPr lang="en-IN" i="1" dirty="0"/>
              <a:t>name</a:t>
            </a:r>
          </a:p>
          <a:p>
            <a:r>
              <a:rPr lang="en-US" dirty="0"/>
              <a:t>To list all local branches: (* = current branch)</a:t>
            </a:r>
          </a:p>
          <a:p>
            <a:pPr marL="0" indent="0">
              <a:buNone/>
            </a:pPr>
            <a:r>
              <a:rPr lang="en-IN" dirty="0"/>
              <a:t> git branch</a:t>
            </a:r>
          </a:p>
          <a:p>
            <a:r>
              <a:rPr lang="en-US" dirty="0"/>
              <a:t> To switch to a given local branch:</a:t>
            </a:r>
          </a:p>
          <a:p>
            <a:pPr marL="0" indent="0">
              <a:buNone/>
            </a:pPr>
            <a:r>
              <a:rPr lang="en-IN" dirty="0"/>
              <a:t> git checkout </a:t>
            </a:r>
            <a:r>
              <a:rPr lang="en-IN" i="1" dirty="0" err="1"/>
              <a:t>branchname</a:t>
            </a:r>
            <a:endParaRPr lang="en-IN" i="1" dirty="0"/>
          </a:p>
          <a:p>
            <a:r>
              <a:rPr lang="en-US" dirty="0"/>
              <a:t>To merge changes from a branch into the local master:</a:t>
            </a:r>
          </a:p>
          <a:p>
            <a:pPr marL="0" indent="0">
              <a:buNone/>
            </a:pPr>
            <a:r>
              <a:rPr lang="en-IN" dirty="0"/>
              <a:t>git checkout master</a:t>
            </a:r>
          </a:p>
          <a:p>
            <a:pPr marL="0" indent="0">
              <a:buNone/>
            </a:pPr>
            <a:r>
              <a:rPr lang="en-IN" dirty="0"/>
              <a:t> git merge </a:t>
            </a:r>
            <a:r>
              <a:rPr lang="en-IN" i="1" dirty="0" err="1"/>
              <a:t>branchname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153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132" y="297734"/>
            <a:ext cx="9404723" cy="880137"/>
          </a:xfrm>
        </p:spPr>
        <p:txBody>
          <a:bodyPr/>
          <a:lstStyle/>
          <a:p>
            <a:r>
              <a:rPr lang="en-IN" b="1" dirty="0"/>
              <a:t>Merge conflicts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22" y="1177871"/>
            <a:ext cx="8715682" cy="537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13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235742"/>
            <a:ext cx="9404723" cy="1400530"/>
          </a:xfrm>
        </p:spPr>
        <p:txBody>
          <a:bodyPr/>
          <a:lstStyle/>
          <a:p>
            <a:r>
              <a:rPr lang="en-IN" dirty="0"/>
              <a:t>Interaction with remote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130" y="1705407"/>
            <a:ext cx="10343168" cy="4633400"/>
          </a:xfrm>
        </p:spPr>
        <p:txBody>
          <a:bodyPr>
            <a:normAutofit/>
          </a:bodyPr>
          <a:lstStyle/>
          <a:p>
            <a:r>
              <a:rPr lang="en-US" sz="2400" b="1" dirty="0"/>
              <a:t>Push </a:t>
            </a:r>
            <a:r>
              <a:rPr lang="en-US" sz="2400" dirty="0"/>
              <a:t>your local changes to the remote repo.</a:t>
            </a:r>
          </a:p>
          <a:p>
            <a:r>
              <a:rPr lang="en-US" sz="2400" b="1" dirty="0"/>
              <a:t>Pull </a:t>
            </a:r>
            <a:r>
              <a:rPr lang="en-US" sz="2400" dirty="0"/>
              <a:t>from remote repo to get most recent changes.</a:t>
            </a:r>
          </a:p>
          <a:p>
            <a:pPr lvl="1"/>
            <a:r>
              <a:rPr lang="en-US" sz="2200" dirty="0"/>
              <a:t>(fix conflicts if necessary, add/commit them to your local repo)</a:t>
            </a:r>
          </a:p>
          <a:p>
            <a:pPr lvl="1"/>
            <a:r>
              <a:rPr lang="en-US" sz="2200" dirty="0"/>
              <a:t> To fetch the most recent updates from the remote repo into </a:t>
            </a:r>
            <a:r>
              <a:rPr lang="en-US" sz="2400" dirty="0"/>
              <a:t>your local repo, and put them into your working directory:</a:t>
            </a:r>
          </a:p>
          <a:p>
            <a:pPr marL="0" indent="0">
              <a:buNone/>
            </a:pPr>
            <a:r>
              <a:rPr lang="en-IN" sz="2400" dirty="0"/>
              <a:t>	git pull origin master</a:t>
            </a:r>
          </a:p>
          <a:p>
            <a:r>
              <a:rPr lang="en-US" sz="2400" dirty="0"/>
              <a:t>To put your changes from your local repo in the remote repo:</a:t>
            </a:r>
          </a:p>
          <a:p>
            <a:pPr marL="0" indent="0">
              <a:buNone/>
            </a:pPr>
            <a:r>
              <a:rPr lang="en-IN" sz="2400" dirty="0"/>
              <a:t>	 git push origin master</a:t>
            </a:r>
          </a:p>
        </p:txBody>
      </p:sp>
    </p:spTree>
    <p:extLst>
      <p:ext uri="{BB962C8B-B14F-4D97-AF65-F5344CB8AC3E}">
        <p14:creationId xmlns:p14="http://schemas.microsoft.com/office/powerpoint/2010/main" val="3879374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7692388" cy="1758931"/>
          </a:xfrm>
        </p:spPr>
        <p:txBody>
          <a:bodyPr>
            <a:normAutofit/>
          </a:bodyPr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GitHub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48929" y="2150533"/>
            <a:ext cx="9827925" cy="397129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It’s a hosting medium/website for your Git repositories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Offers powerful collaborative abilities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A good indicator of what you code/how much you code/quality of your code</a:t>
            </a:r>
          </a:p>
        </p:txBody>
      </p:sp>
    </p:spTree>
    <p:extLst>
      <p:ext uri="{BB962C8B-B14F-4D97-AF65-F5344CB8AC3E}">
        <p14:creationId xmlns:p14="http://schemas.microsoft.com/office/powerpoint/2010/main" val="1563072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Working with a remote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349" y="1510478"/>
            <a:ext cx="8946541" cy="419548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Remote? </a:t>
            </a:r>
          </a:p>
          <a:p>
            <a:pPr marL="0" indent="0"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It’s the place where your code is stored.</a:t>
            </a:r>
          </a:p>
          <a:p>
            <a:pPr marL="0" indent="0"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By default, remote name is origin and default branch is master.</a:t>
            </a:r>
          </a:p>
          <a:p>
            <a:pPr marL="0" indent="0">
              <a:buNone/>
            </a:pPr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  <a:p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Certain things that come to play, namely collaboration. </a:t>
            </a:r>
          </a:p>
          <a:p>
            <a:pPr marL="0" indent="0"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How are we going to handle that with Git. </a:t>
            </a:r>
          </a:p>
          <a:p>
            <a:pPr marL="0" indent="0">
              <a:buNone/>
            </a:pPr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  <a:p>
            <a:pPr marL="0" indent="0">
              <a:buNone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So here comes, push, pull, branching, merging, </a:t>
            </a:r>
            <a:r>
              <a:rPr lang="en-US" sz="2400" b="1" dirty="0">
                <a:latin typeface="Avenir Book" charset="0"/>
                <a:ea typeface="Avenir Book" charset="0"/>
                <a:cs typeface="Avenir Book" charset="0"/>
              </a:rPr>
              <a:t>forking</a:t>
            </a: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  <a:p>
            <a:endParaRPr lang="en-US" sz="2400" dirty="0">
              <a:latin typeface="Avenir Book" charset="0"/>
              <a:ea typeface="Avenir Book" charset="0"/>
              <a:cs typeface="Avenir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553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Man">
            <a:extLst>
              <a:ext uri="{FF2B5EF4-FFF2-40B4-BE49-F238E27FC236}">
                <a16:creationId xmlns:a16="http://schemas.microsoft.com/office/drawing/2014/main" id="{542EFEFE-5339-475A-BF84-2DB80A8B75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9950" y="803364"/>
            <a:ext cx="914400" cy="914400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3B5EC47F-C646-4A3B-B95B-541D5EE14923}"/>
              </a:ext>
            </a:extLst>
          </p:cNvPr>
          <p:cNvSpPr/>
          <p:nvPr/>
        </p:nvSpPr>
        <p:spPr>
          <a:xfrm rot="17508801">
            <a:off x="2865991" y="1095649"/>
            <a:ext cx="969264" cy="1956816"/>
          </a:xfrm>
          <a:prstGeom prst="downArrow">
            <a:avLst>
              <a:gd name="adj1" fmla="val 50000"/>
              <a:gd name="adj2" fmla="val 398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2D8F54-B27E-49A4-832B-918E3644DFE6}"/>
              </a:ext>
            </a:extLst>
          </p:cNvPr>
          <p:cNvSpPr/>
          <p:nvPr/>
        </p:nvSpPr>
        <p:spPr>
          <a:xfrm>
            <a:off x="4439058" y="1876646"/>
            <a:ext cx="3732028" cy="33173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Paper">
            <a:extLst>
              <a:ext uri="{FF2B5EF4-FFF2-40B4-BE49-F238E27FC236}">
                <a16:creationId xmlns:a16="http://schemas.microsoft.com/office/drawing/2014/main" id="{1FDA6344-A31C-4530-9038-03CF622018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4009" y="2620925"/>
            <a:ext cx="914400" cy="9144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6BB8311-8131-4CAF-B00B-41D0E13CB68B}"/>
              </a:ext>
            </a:extLst>
          </p:cNvPr>
          <p:cNvGrpSpPr/>
          <p:nvPr/>
        </p:nvGrpSpPr>
        <p:grpSpPr>
          <a:xfrm>
            <a:off x="1132113" y="803364"/>
            <a:ext cx="1130075" cy="1442613"/>
            <a:chOff x="1132113" y="803364"/>
            <a:chExt cx="1130075" cy="144261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851DB4-61D2-4F5B-B442-A1A3C0CDA1A5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12" name="Graphic 11" descr="Man">
              <a:extLst>
                <a:ext uri="{FF2B5EF4-FFF2-40B4-BE49-F238E27FC236}">
                  <a16:creationId xmlns:a16="http://schemas.microsoft.com/office/drawing/2014/main" id="{0F8D869C-CF87-467B-B91E-9FA6CBAFC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6092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Down 4">
            <a:extLst>
              <a:ext uri="{FF2B5EF4-FFF2-40B4-BE49-F238E27FC236}">
                <a16:creationId xmlns:a16="http://schemas.microsoft.com/office/drawing/2014/main" id="{3B5EC47F-C646-4A3B-B95B-541D5EE14923}"/>
              </a:ext>
            </a:extLst>
          </p:cNvPr>
          <p:cNvSpPr/>
          <p:nvPr/>
        </p:nvSpPr>
        <p:spPr>
          <a:xfrm rot="17508801">
            <a:off x="2865991" y="1095649"/>
            <a:ext cx="969264" cy="1956816"/>
          </a:xfrm>
          <a:prstGeom prst="downArrow">
            <a:avLst>
              <a:gd name="adj1" fmla="val 50000"/>
              <a:gd name="adj2" fmla="val 398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2D8F54-B27E-49A4-832B-918E3644DFE6}"/>
              </a:ext>
            </a:extLst>
          </p:cNvPr>
          <p:cNvSpPr/>
          <p:nvPr/>
        </p:nvSpPr>
        <p:spPr>
          <a:xfrm>
            <a:off x="4439058" y="1876646"/>
            <a:ext cx="3732028" cy="33173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Paper">
            <a:extLst>
              <a:ext uri="{FF2B5EF4-FFF2-40B4-BE49-F238E27FC236}">
                <a16:creationId xmlns:a16="http://schemas.microsoft.com/office/drawing/2014/main" id="{1FDA6344-A31C-4530-9038-03CF622018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4009" y="2620925"/>
            <a:ext cx="914400" cy="914400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70121D76-41E0-40E6-9015-B9AC8DCA8721}"/>
              </a:ext>
            </a:extLst>
          </p:cNvPr>
          <p:cNvSpPr/>
          <p:nvPr/>
        </p:nvSpPr>
        <p:spPr>
          <a:xfrm rot="3097134">
            <a:off x="8558641" y="1095649"/>
            <a:ext cx="969264" cy="1956816"/>
          </a:xfrm>
          <a:prstGeom prst="downArrow">
            <a:avLst>
              <a:gd name="adj1" fmla="val 50000"/>
              <a:gd name="adj2" fmla="val 398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Graphic 10" descr="Paper">
            <a:extLst>
              <a:ext uri="{FF2B5EF4-FFF2-40B4-BE49-F238E27FC236}">
                <a16:creationId xmlns:a16="http://schemas.microsoft.com/office/drawing/2014/main" id="{FF07B739-B96F-44CB-B0E9-A01DA54B5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0067" y="2620925"/>
            <a:ext cx="914400" cy="914400"/>
          </a:xfrm>
          <a:prstGeom prst="rect">
            <a:avLst/>
          </a:prstGeom>
        </p:spPr>
      </p:pic>
      <p:pic>
        <p:nvPicPr>
          <p:cNvPr id="3" name="Graphic 2" descr="Document">
            <a:extLst>
              <a:ext uri="{FF2B5EF4-FFF2-40B4-BE49-F238E27FC236}">
                <a16:creationId xmlns:a16="http://schemas.microsoft.com/office/drawing/2014/main" id="{690DB643-19F5-48D3-8245-701A462B4E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0187" y="3512490"/>
            <a:ext cx="914400" cy="9144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E7C1A8B-FB2E-4007-A6A8-A040B107888B}"/>
              </a:ext>
            </a:extLst>
          </p:cNvPr>
          <p:cNvGrpSpPr/>
          <p:nvPr/>
        </p:nvGrpSpPr>
        <p:grpSpPr>
          <a:xfrm>
            <a:off x="1132113" y="803364"/>
            <a:ext cx="1130075" cy="1442613"/>
            <a:chOff x="1132113" y="803364"/>
            <a:chExt cx="1130075" cy="144261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7D84D6-B16F-4235-85CE-21F18522CA5E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17" name="Graphic 16" descr="Man">
              <a:extLst>
                <a:ext uri="{FF2B5EF4-FFF2-40B4-BE49-F238E27FC236}">
                  <a16:creationId xmlns:a16="http://schemas.microsoft.com/office/drawing/2014/main" id="{D61BBF8D-B08F-45A9-91FE-D218AB36A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D187ED-67FC-43BF-B60F-C085A3FF4FB3}"/>
              </a:ext>
            </a:extLst>
          </p:cNvPr>
          <p:cNvGrpSpPr/>
          <p:nvPr/>
        </p:nvGrpSpPr>
        <p:grpSpPr>
          <a:xfrm>
            <a:off x="10180468" y="803364"/>
            <a:ext cx="1084521" cy="1554256"/>
            <a:chOff x="10180468" y="803364"/>
            <a:chExt cx="1084521" cy="1554256"/>
          </a:xfrm>
        </p:grpSpPr>
        <p:pic>
          <p:nvPicPr>
            <p:cNvPr id="8" name="Graphic 7" descr="Man">
              <a:extLst>
                <a:ext uri="{FF2B5EF4-FFF2-40B4-BE49-F238E27FC236}">
                  <a16:creationId xmlns:a16="http://schemas.microsoft.com/office/drawing/2014/main" id="{8CD1D164-B997-4D11-851D-9D1151201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265528" y="803364"/>
              <a:ext cx="914400" cy="914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93C571-867B-4343-BDB4-A2A32194C74A}"/>
                </a:ext>
              </a:extLst>
            </p:cNvPr>
            <p:cNvSpPr txBox="1"/>
            <p:nvPr/>
          </p:nvSpPr>
          <p:spPr>
            <a:xfrm>
              <a:off x="10180468" y="1988288"/>
              <a:ext cx="108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851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Down 4">
            <a:extLst>
              <a:ext uri="{FF2B5EF4-FFF2-40B4-BE49-F238E27FC236}">
                <a16:creationId xmlns:a16="http://schemas.microsoft.com/office/drawing/2014/main" id="{3B5EC47F-C646-4A3B-B95B-541D5EE14923}"/>
              </a:ext>
            </a:extLst>
          </p:cNvPr>
          <p:cNvSpPr/>
          <p:nvPr/>
        </p:nvSpPr>
        <p:spPr>
          <a:xfrm rot="17508801">
            <a:off x="2865991" y="1095649"/>
            <a:ext cx="969264" cy="1956816"/>
          </a:xfrm>
          <a:prstGeom prst="downArrow">
            <a:avLst>
              <a:gd name="adj1" fmla="val 50000"/>
              <a:gd name="adj2" fmla="val 398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2D8F54-B27E-49A4-832B-918E3644DFE6}"/>
              </a:ext>
            </a:extLst>
          </p:cNvPr>
          <p:cNvSpPr/>
          <p:nvPr/>
        </p:nvSpPr>
        <p:spPr>
          <a:xfrm>
            <a:off x="4439058" y="1876646"/>
            <a:ext cx="3732028" cy="33173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0121D76-41E0-40E6-9015-B9AC8DCA8721}"/>
              </a:ext>
            </a:extLst>
          </p:cNvPr>
          <p:cNvSpPr/>
          <p:nvPr/>
        </p:nvSpPr>
        <p:spPr>
          <a:xfrm rot="3097134">
            <a:off x="8558641" y="1095649"/>
            <a:ext cx="969264" cy="1956816"/>
          </a:xfrm>
          <a:prstGeom prst="downArrow">
            <a:avLst>
              <a:gd name="adj1" fmla="val 50000"/>
              <a:gd name="adj2" fmla="val 398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 descr="Document">
            <a:extLst>
              <a:ext uri="{FF2B5EF4-FFF2-40B4-BE49-F238E27FC236}">
                <a16:creationId xmlns:a16="http://schemas.microsoft.com/office/drawing/2014/main" id="{690DB643-19F5-48D3-8245-701A462B4E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4992" y="3450264"/>
            <a:ext cx="914400" cy="914400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1099A952-0066-4040-942E-1F2AAD9F3237}"/>
              </a:ext>
            </a:extLst>
          </p:cNvPr>
          <p:cNvSpPr/>
          <p:nvPr/>
        </p:nvSpPr>
        <p:spPr>
          <a:xfrm rot="17508801">
            <a:off x="2864323" y="1095649"/>
            <a:ext cx="969264" cy="1956816"/>
          </a:xfrm>
          <a:prstGeom prst="downArrow">
            <a:avLst>
              <a:gd name="adj1" fmla="val 50000"/>
              <a:gd name="adj2" fmla="val 398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2D1F8C5-DEB7-4931-862E-72AB81AB2CC1}"/>
              </a:ext>
            </a:extLst>
          </p:cNvPr>
          <p:cNvSpPr/>
          <p:nvPr/>
        </p:nvSpPr>
        <p:spPr>
          <a:xfrm rot="16368172">
            <a:off x="2460556" y="2814065"/>
            <a:ext cx="969264" cy="1784264"/>
          </a:xfrm>
          <a:prstGeom prst="downArrow">
            <a:avLst>
              <a:gd name="adj1" fmla="val 50000"/>
              <a:gd name="adj2" fmla="val 398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770279-1952-425A-A4F8-F938C86A95E9}"/>
              </a:ext>
            </a:extLst>
          </p:cNvPr>
          <p:cNvGrpSpPr/>
          <p:nvPr/>
        </p:nvGrpSpPr>
        <p:grpSpPr>
          <a:xfrm>
            <a:off x="1132113" y="803364"/>
            <a:ext cx="1130075" cy="1442613"/>
            <a:chOff x="1132113" y="803364"/>
            <a:chExt cx="1130075" cy="144261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0609937-BDB5-40E1-9140-E866BABED8B4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20" name="Graphic 19" descr="Man">
              <a:extLst>
                <a:ext uri="{FF2B5EF4-FFF2-40B4-BE49-F238E27FC236}">
                  <a16:creationId xmlns:a16="http://schemas.microsoft.com/office/drawing/2014/main" id="{A99F8156-419E-4E4D-8B2E-B9B780655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C5EBE0-7360-48FD-AC70-DF17374F139E}"/>
              </a:ext>
            </a:extLst>
          </p:cNvPr>
          <p:cNvGrpSpPr/>
          <p:nvPr/>
        </p:nvGrpSpPr>
        <p:grpSpPr>
          <a:xfrm>
            <a:off x="10180468" y="803364"/>
            <a:ext cx="1084521" cy="1554256"/>
            <a:chOff x="10180468" y="803364"/>
            <a:chExt cx="1084521" cy="1554256"/>
          </a:xfrm>
        </p:grpSpPr>
        <p:pic>
          <p:nvPicPr>
            <p:cNvPr id="22" name="Graphic 21" descr="Man">
              <a:extLst>
                <a:ext uri="{FF2B5EF4-FFF2-40B4-BE49-F238E27FC236}">
                  <a16:creationId xmlns:a16="http://schemas.microsoft.com/office/drawing/2014/main" id="{9AD38308-D708-453E-96FA-F3E757872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265528" y="803364"/>
              <a:ext cx="914400" cy="9144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72CF04-2BE6-467A-BD4F-72645D257BC9}"/>
                </a:ext>
              </a:extLst>
            </p:cNvPr>
            <p:cNvSpPr txBox="1"/>
            <p:nvPr/>
          </p:nvSpPr>
          <p:spPr>
            <a:xfrm>
              <a:off x="10180468" y="1988288"/>
              <a:ext cx="108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72344AA-B1BB-4EC4-9B29-465645FC423F}"/>
              </a:ext>
            </a:extLst>
          </p:cNvPr>
          <p:cNvGrpSpPr/>
          <p:nvPr/>
        </p:nvGrpSpPr>
        <p:grpSpPr>
          <a:xfrm>
            <a:off x="1186032" y="3078125"/>
            <a:ext cx="1020569" cy="1448537"/>
            <a:chOff x="1186032" y="3078125"/>
            <a:chExt cx="1020569" cy="1448537"/>
          </a:xfrm>
        </p:grpSpPr>
        <p:pic>
          <p:nvPicPr>
            <p:cNvPr id="12" name="Graphic 11" descr="Man">
              <a:extLst>
                <a:ext uri="{FF2B5EF4-FFF2-40B4-BE49-F238E27FC236}">
                  <a16:creationId xmlns:a16="http://schemas.microsoft.com/office/drawing/2014/main" id="{4FFB3877-7775-426D-B6DB-C3582A998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39116" y="3078125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78B1771-BB83-4A59-AA26-6788376F2114}"/>
                </a:ext>
              </a:extLst>
            </p:cNvPr>
            <p:cNvSpPr txBox="1"/>
            <p:nvPr/>
          </p:nvSpPr>
          <p:spPr>
            <a:xfrm>
              <a:off x="1186032" y="4157330"/>
              <a:ext cx="1020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Joe</a:t>
              </a:r>
            </a:p>
          </p:txBody>
        </p:sp>
      </p:grpSp>
      <p:pic>
        <p:nvPicPr>
          <p:cNvPr id="26" name="Graphic 25" descr="Document">
            <a:extLst>
              <a:ext uri="{FF2B5EF4-FFF2-40B4-BE49-F238E27FC236}">
                <a16:creationId xmlns:a16="http://schemas.microsoft.com/office/drawing/2014/main" id="{F84371C2-6850-42D3-9C94-9FF7922E69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9392" y="28875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73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6B2D8F54-B27E-49A4-832B-918E3644DFE6}"/>
              </a:ext>
            </a:extLst>
          </p:cNvPr>
          <p:cNvSpPr/>
          <p:nvPr/>
        </p:nvSpPr>
        <p:spPr>
          <a:xfrm>
            <a:off x="4439058" y="1876646"/>
            <a:ext cx="3732028" cy="33173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Paper">
            <a:extLst>
              <a:ext uri="{FF2B5EF4-FFF2-40B4-BE49-F238E27FC236}">
                <a16:creationId xmlns:a16="http://schemas.microsoft.com/office/drawing/2014/main" id="{1FDA6344-A31C-4530-9038-03CF622018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4009" y="2620925"/>
            <a:ext cx="914400" cy="914400"/>
          </a:xfrm>
          <a:prstGeom prst="rect">
            <a:avLst/>
          </a:prstGeom>
        </p:spPr>
      </p:pic>
      <p:pic>
        <p:nvPicPr>
          <p:cNvPr id="11" name="Graphic 10" descr="Paper">
            <a:extLst>
              <a:ext uri="{FF2B5EF4-FFF2-40B4-BE49-F238E27FC236}">
                <a16:creationId xmlns:a16="http://schemas.microsoft.com/office/drawing/2014/main" id="{FF07B739-B96F-44CB-B0E9-A01DA54B5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0067" y="2620925"/>
            <a:ext cx="914400" cy="914400"/>
          </a:xfrm>
          <a:prstGeom prst="rect">
            <a:avLst/>
          </a:prstGeom>
        </p:spPr>
      </p:pic>
      <p:pic>
        <p:nvPicPr>
          <p:cNvPr id="3" name="Graphic 2" descr="Document">
            <a:extLst>
              <a:ext uri="{FF2B5EF4-FFF2-40B4-BE49-F238E27FC236}">
                <a16:creationId xmlns:a16="http://schemas.microsoft.com/office/drawing/2014/main" id="{690DB643-19F5-48D3-8245-701A462B4E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74992" y="3450264"/>
            <a:ext cx="914400" cy="9144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5770279-1952-425A-A4F8-F938C86A95E9}"/>
              </a:ext>
            </a:extLst>
          </p:cNvPr>
          <p:cNvGrpSpPr/>
          <p:nvPr/>
        </p:nvGrpSpPr>
        <p:grpSpPr>
          <a:xfrm>
            <a:off x="1132113" y="803364"/>
            <a:ext cx="1130075" cy="1442613"/>
            <a:chOff x="1132113" y="803364"/>
            <a:chExt cx="1130075" cy="144261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0609937-BDB5-40E1-9140-E866BABED8B4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20" name="Graphic 19" descr="Man">
              <a:extLst>
                <a:ext uri="{FF2B5EF4-FFF2-40B4-BE49-F238E27FC236}">
                  <a16:creationId xmlns:a16="http://schemas.microsoft.com/office/drawing/2014/main" id="{A99F8156-419E-4E4D-8B2E-B9B780655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C5EBE0-7360-48FD-AC70-DF17374F139E}"/>
              </a:ext>
            </a:extLst>
          </p:cNvPr>
          <p:cNvGrpSpPr/>
          <p:nvPr/>
        </p:nvGrpSpPr>
        <p:grpSpPr>
          <a:xfrm>
            <a:off x="10180468" y="803364"/>
            <a:ext cx="1084521" cy="1554256"/>
            <a:chOff x="10180468" y="803364"/>
            <a:chExt cx="1084521" cy="1554256"/>
          </a:xfrm>
        </p:grpSpPr>
        <p:pic>
          <p:nvPicPr>
            <p:cNvPr id="22" name="Graphic 21" descr="Man">
              <a:extLst>
                <a:ext uri="{FF2B5EF4-FFF2-40B4-BE49-F238E27FC236}">
                  <a16:creationId xmlns:a16="http://schemas.microsoft.com/office/drawing/2014/main" id="{9AD38308-D708-453E-96FA-F3E757872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265528" y="803364"/>
              <a:ext cx="914400" cy="9144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72CF04-2BE6-467A-BD4F-72645D257BC9}"/>
                </a:ext>
              </a:extLst>
            </p:cNvPr>
            <p:cNvSpPr txBox="1"/>
            <p:nvPr/>
          </p:nvSpPr>
          <p:spPr>
            <a:xfrm>
              <a:off x="10180468" y="1988288"/>
              <a:ext cx="108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72344AA-B1BB-4EC4-9B29-465645FC423F}"/>
              </a:ext>
            </a:extLst>
          </p:cNvPr>
          <p:cNvGrpSpPr/>
          <p:nvPr/>
        </p:nvGrpSpPr>
        <p:grpSpPr>
          <a:xfrm>
            <a:off x="1186032" y="3078125"/>
            <a:ext cx="1020569" cy="1448537"/>
            <a:chOff x="1186032" y="3078125"/>
            <a:chExt cx="1020569" cy="1448537"/>
          </a:xfrm>
        </p:grpSpPr>
        <p:pic>
          <p:nvPicPr>
            <p:cNvPr id="12" name="Graphic 11" descr="Man">
              <a:extLst>
                <a:ext uri="{FF2B5EF4-FFF2-40B4-BE49-F238E27FC236}">
                  <a16:creationId xmlns:a16="http://schemas.microsoft.com/office/drawing/2014/main" id="{4FFB3877-7775-426D-B6DB-C3582A998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39116" y="3078125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78B1771-BB83-4A59-AA26-6788376F2114}"/>
                </a:ext>
              </a:extLst>
            </p:cNvPr>
            <p:cNvSpPr txBox="1"/>
            <p:nvPr/>
          </p:nvSpPr>
          <p:spPr>
            <a:xfrm>
              <a:off x="1186032" y="4157330"/>
              <a:ext cx="1020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Joe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6F32027-9190-4CF3-9A05-50F7BC3DD701}"/>
              </a:ext>
            </a:extLst>
          </p:cNvPr>
          <p:cNvSpPr txBox="1"/>
          <p:nvPr/>
        </p:nvSpPr>
        <p:spPr>
          <a:xfrm>
            <a:off x="4253023" y="5938282"/>
            <a:ext cx="4284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Who replaced the files? When ?</a:t>
            </a:r>
          </a:p>
        </p:txBody>
      </p:sp>
      <p:pic>
        <p:nvPicPr>
          <p:cNvPr id="6" name="Graphic 5" descr="Help">
            <a:extLst>
              <a:ext uri="{FF2B5EF4-FFF2-40B4-BE49-F238E27FC236}">
                <a16:creationId xmlns:a16="http://schemas.microsoft.com/office/drawing/2014/main" id="{53EC5E3E-0025-4171-A3C9-A13BA5DE8F0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34889" y="5265071"/>
            <a:ext cx="740366" cy="740366"/>
          </a:xfrm>
          <a:prstGeom prst="rect">
            <a:avLst/>
          </a:prstGeom>
        </p:spPr>
      </p:pic>
      <p:pic>
        <p:nvPicPr>
          <p:cNvPr id="26" name="Graphic 25" descr="Document">
            <a:extLst>
              <a:ext uri="{FF2B5EF4-FFF2-40B4-BE49-F238E27FC236}">
                <a16:creationId xmlns:a16="http://schemas.microsoft.com/office/drawing/2014/main" id="{836DD356-1D1E-441D-81A9-F57BBF49CF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4009" y="3450264"/>
            <a:ext cx="914400" cy="914400"/>
          </a:xfrm>
          <a:prstGeom prst="rect">
            <a:avLst/>
          </a:prstGeom>
        </p:spPr>
      </p:pic>
      <p:pic>
        <p:nvPicPr>
          <p:cNvPr id="27" name="Graphic 26" descr="Document">
            <a:extLst>
              <a:ext uri="{FF2B5EF4-FFF2-40B4-BE49-F238E27FC236}">
                <a16:creationId xmlns:a16="http://schemas.microsoft.com/office/drawing/2014/main" id="{66F83257-46A4-484C-AEE4-9FB4DC8DE4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27800" y="2921997"/>
            <a:ext cx="914400" cy="914400"/>
          </a:xfrm>
          <a:prstGeom prst="rect">
            <a:avLst/>
          </a:prstGeom>
        </p:spPr>
      </p:pic>
      <p:pic>
        <p:nvPicPr>
          <p:cNvPr id="28" name="Graphic 27" descr="Document">
            <a:extLst>
              <a:ext uri="{FF2B5EF4-FFF2-40B4-BE49-F238E27FC236}">
                <a16:creationId xmlns:a16="http://schemas.microsoft.com/office/drawing/2014/main" id="{69BFFA87-6521-4E58-ACA0-D8B07D0C18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1591" y="3535325"/>
            <a:ext cx="914400" cy="914400"/>
          </a:xfrm>
          <a:prstGeom prst="rect">
            <a:avLst/>
          </a:prstGeom>
        </p:spPr>
      </p:pic>
      <p:pic>
        <p:nvPicPr>
          <p:cNvPr id="15" name="Graphic 14" descr="Close">
            <a:extLst>
              <a:ext uri="{FF2B5EF4-FFF2-40B4-BE49-F238E27FC236}">
                <a16:creationId xmlns:a16="http://schemas.microsoft.com/office/drawing/2014/main" id="{7DA33AE1-F068-4958-8D41-0B66681E3F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39465" y="2589877"/>
            <a:ext cx="1931214" cy="193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784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How to access GitHub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Access it on 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github.com</a:t>
            </a:r>
            <a:endParaRPr lang="en-US" dirty="0">
              <a:latin typeface="Avenir Book" charset="0"/>
              <a:ea typeface="Avenir Book" charset="0"/>
              <a:cs typeface="Avenir Book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Create an account if you don’t already have one.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GitHub Clone link: </a:t>
            </a:r>
          </a:p>
          <a:p>
            <a:pPr marL="0" indent="0">
              <a:buNone/>
            </a:pP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	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github.com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/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intley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/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Version_Control_Workshop</a:t>
            </a:r>
            <a:endParaRPr lang="en-US" dirty="0">
              <a:latin typeface="Avenir Book" charset="0"/>
              <a:ea typeface="Avenir Book" charset="0"/>
              <a:cs typeface="Avenir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30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667" y="256645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GitHub Demo</a:t>
            </a:r>
          </a:p>
        </p:txBody>
      </p:sp>
    </p:spTree>
    <p:extLst>
      <p:ext uri="{BB962C8B-B14F-4D97-AF65-F5344CB8AC3E}">
        <p14:creationId xmlns:p14="http://schemas.microsoft.com/office/powerpoint/2010/main" val="14332392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More Git commands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git push </a:t>
            </a:r>
            <a:r>
              <a:rPr lang="mr-IN" dirty="0">
                <a:latin typeface="Avenir Book" charset="0"/>
                <a:ea typeface="Avenir Book" charset="0"/>
                <a:cs typeface="Avenir Book" charset="0"/>
              </a:rPr>
              <a:t>–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 push your changes into the remote repository </a:t>
            </a:r>
          </a:p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git pull </a:t>
            </a:r>
            <a:r>
              <a:rPr lang="mr-IN" dirty="0">
                <a:latin typeface="Avenir Book" charset="0"/>
                <a:ea typeface="Avenir Book" charset="0"/>
                <a:cs typeface="Avenir Book" charset="0"/>
              </a:rPr>
              <a:t>–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 pull your latest changes from the remote repository</a:t>
            </a:r>
          </a:p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git branch </a:t>
            </a:r>
            <a:r>
              <a:rPr lang="mr-IN" dirty="0">
                <a:latin typeface="Avenir Book" charset="0"/>
                <a:ea typeface="Avenir Book" charset="0"/>
                <a:cs typeface="Avenir Book" charset="0"/>
              </a:rPr>
              <a:t>–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 view branches in your repository</a:t>
            </a:r>
          </a:p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git branch &lt;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branchname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&gt; - create a branch</a:t>
            </a:r>
          </a:p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git checkout &lt;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branchname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&gt; - move to that branch </a:t>
            </a:r>
          </a:p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git merge &lt;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branchname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&gt; - merge into that branch</a:t>
            </a:r>
          </a:p>
          <a:p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git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 revert &lt;commit 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sha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109045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28" y="2438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Demo </a:t>
            </a:r>
          </a:p>
        </p:txBody>
      </p:sp>
    </p:spTree>
    <p:extLst>
      <p:ext uri="{BB962C8B-B14F-4D97-AF65-F5344CB8AC3E}">
        <p14:creationId xmlns:p14="http://schemas.microsoft.com/office/powerpoint/2010/main" val="19198307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56B2-5934-4913-A84B-3F68F1DA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1047" cy="650692"/>
          </a:xfrm>
        </p:spPr>
        <p:txBody>
          <a:bodyPr>
            <a:normAutofit/>
          </a:bodyPr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Collaboration with GitHub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52775A-FBF4-446A-9A34-0CF9F012B484}"/>
              </a:ext>
            </a:extLst>
          </p:cNvPr>
          <p:cNvGrpSpPr/>
          <p:nvPr/>
        </p:nvGrpSpPr>
        <p:grpSpPr>
          <a:xfrm>
            <a:off x="1339702" y="1690688"/>
            <a:ext cx="8203905" cy="4178484"/>
            <a:chOff x="1339702" y="1690688"/>
            <a:chExt cx="8203905" cy="41784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BC2D39F-0EAA-4A2E-A3D9-81603A552FBA}"/>
                </a:ext>
              </a:extLst>
            </p:cNvPr>
            <p:cNvSpPr/>
            <p:nvPr/>
          </p:nvSpPr>
          <p:spPr>
            <a:xfrm>
              <a:off x="1339702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DA35DB5-CE03-4B94-8FA2-63494852D44C}"/>
                </a:ext>
              </a:extLst>
            </p:cNvPr>
            <p:cNvSpPr/>
            <p:nvPr/>
          </p:nvSpPr>
          <p:spPr>
            <a:xfrm>
              <a:off x="4622948" y="1690688"/>
              <a:ext cx="1637414" cy="417848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E6450C-5764-4B93-B7D6-A9C4FCAF40CD}"/>
                </a:ext>
              </a:extLst>
            </p:cNvPr>
            <p:cNvSpPr/>
            <p:nvPr/>
          </p:nvSpPr>
          <p:spPr>
            <a:xfrm>
              <a:off x="7906193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BAFDAF-07A5-48FE-9ED1-D56B7D71CC00}"/>
              </a:ext>
            </a:extLst>
          </p:cNvPr>
          <p:cNvGrpSpPr/>
          <p:nvPr/>
        </p:nvGrpSpPr>
        <p:grpSpPr>
          <a:xfrm>
            <a:off x="4904711" y="2045975"/>
            <a:ext cx="1073888" cy="1940552"/>
            <a:chOff x="4837814" y="2039680"/>
            <a:chExt cx="1073888" cy="19405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2D86DE-5F38-4F53-9231-1D491BE51982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A298C9-4506-4BD5-97C2-A2A79D053256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76E215-FB56-4A9E-8452-D6210F01A3CD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FC0CF3-E514-4C66-87D6-005E92B52C20}"/>
              </a:ext>
            </a:extLst>
          </p:cNvPr>
          <p:cNvGrpSpPr/>
          <p:nvPr/>
        </p:nvGrpSpPr>
        <p:grpSpPr>
          <a:xfrm>
            <a:off x="209627" y="2047682"/>
            <a:ext cx="1130075" cy="1442613"/>
            <a:chOff x="1132113" y="803364"/>
            <a:chExt cx="1130075" cy="14426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7DC5F5-E916-46E7-B1D5-0F55AF029461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19" name="Graphic 18" descr="Man">
              <a:extLst>
                <a:ext uri="{FF2B5EF4-FFF2-40B4-BE49-F238E27FC236}">
                  <a16:creationId xmlns:a16="http://schemas.microsoft.com/office/drawing/2014/main" id="{BC8BB1BB-E5CE-4D15-B198-94924700F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F76DAC-2AAA-417A-9273-35B959803EB6}"/>
              </a:ext>
            </a:extLst>
          </p:cNvPr>
          <p:cNvGrpSpPr/>
          <p:nvPr/>
        </p:nvGrpSpPr>
        <p:grpSpPr>
          <a:xfrm>
            <a:off x="10020980" y="1936039"/>
            <a:ext cx="1084521" cy="1554256"/>
            <a:chOff x="10180468" y="803364"/>
            <a:chExt cx="1084521" cy="1554256"/>
          </a:xfrm>
        </p:grpSpPr>
        <p:pic>
          <p:nvPicPr>
            <p:cNvPr id="21" name="Graphic 20" descr="Man">
              <a:extLst>
                <a:ext uri="{FF2B5EF4-FFF2-40B4-BE49-F238E27FC236}">
                  <a16:creationId xmlns:a16="http://schemas.microsoft.com/office/drawing/2014/main" id="{E2CE21DE-AA5A-4C71-BD44-C590574ED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65528" y="803364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8A4807-895C-4F23-A57B-6DAD07D60246}"/>
                </a:ext>
              </a:extLst>
            </p:cNvPr>
            <p:cNvSpPr txBox="1"/>
            <p:nvPr/>
          </p:nvSpPr>
          <p:spPr>
            <a:xfrm>
              <a:off x="10180468" y="1988288"/>
              <a:ext cx="108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689CB68-6CCB-4142-89A6-7D7D13C26FCB}"/>
              </a:ext>
            </a:extLst>
          </p:cNvPr>
          <p:cNvSpPr txBox="1"/>
          <p:nvPr/>
        </p:nvSpPr>
        <p:spPr>
          <a:xfrm>
            <a:off x="4622948" y="1191883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Remote Repo</a:t>
            </a:r>
          </a:p>
        </p:txBody>
      </p:sp>
    </p:spTree>
    <p:extLst>
      <p:ext uri="{BB962C8B-B14F-4D97-AF65-F5344CB8AC3E}">
        <p14:creationId xmlns:p14="http://schemas.microsoft.com/office/powerpoint/2010/main" val="369068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56B2-5934-4913-A84B-3F68F1DA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1047" cy="650692"/>
          </a:xfrm>
        </p:spPr>
        <p:txBody>
          <a:bodyPr>
            <a:normAutofit/>
          </a:bodyPr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Collaborate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52775A-FBF4-446A-9A34-0CF9F012B484}"/>
              </a:ext>
            </a:extLst>
          </p:cNvPr>
          <p:cNvGrpSpPr/>
          <p:nvPr/>
        </p:nvGrpSpPr>
        <p:grpSpPr>
          <a:xfrm>
            <a:off x="1339702" y="1690688"/>
            <a:ext cx="8203905" cy="4178484"/>
            <a:chOff x="1339702" y="1690688"/>
            <a:chExt cx="8203905" cy="41784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BC2D39F-0EAA-4A2E-A3D9-81603A552FBA}"/>
                </a:ext>
              </a:extLst>
            </p:cNvPr>
            <p:cNvSpPr/>
            <p:nvPr/>
          </p:nvSpPr>
          <p:spPr>
            <a:xfrm>
              <a:off x="1339702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DA35DB5-CE03-4B94-8FA2-63494852D44C}"/>
                </a:ext>
              </a:extLst>
            </p:cNvPr>
            <p:cNvSpPr/>
            <p:nvPr/>
          </p:nvSpPr>
          <p:spPr>
            <a:xfrm>
              <a:off x="4622948" y="1690688"/>
              <a:ext cx="1637414" cy="417848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E6450C-5764-4B93-B7D6-A9C4FCAF40CD}"/>
                </a:ext>
              </a:extLst>
            </p:cNvPr>
            <p:cNvSpPr/>
            <p:nvPr/>
          </p:nvSpPr>
          <p:spPr>
            <a:xfrm>
              <a:off x="7906193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BAFDAF-07A5-48FE-9ED1-D56B7D71CC00}"/>
              </a:ext>
            </a:extLst>
          </p:cNvPr>
          <p:cNvGrpSpPr/>
          <p:nvPr/>
        </p:nvGrpSpPr>
        <p:grpSpPr>
          <a:xfrm>
            <a:off x="4904711" y="2045975"/>
            <a:ext cx="1073888" cy="1940552"/>
            <a:chOff x="4837814" y="2039680"/>
            <a:chExt cx="1073888" cy="19405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2D86DE-5F38-4F53-9231-1D491BE51982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A298C9-4506-4BD5-97C2-A2A79D053256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76E215-FB56-4A9E-8452-D6210F01A3CD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FC0CF3-E514-4C66-87D6-005E92B52C20}"/>
              </a:ext>
            </a:extLst>
          </p:cNvPr>
          <p:cNvGrpSpPr/>
          <p:nvPr/>
        </p:nvGrpSpPr>
        <p:grpSpPr>
          <a:xfrm>
            <a:off x="209627" y="2047682"/>
            <a:ext cx="1130075" cy="1442613"/>
            <a:chOff x="1132113" y="803364"/>
            <a:chExt cx="1130075" cy="14426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7DC5F5-E916-46E7-B1D5-0F55AF029461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19" name="Graphic 18" descr="Man">
              <a:extLst>
                <a:ext uri="{FF2B5EF4-FFF2-40B4-BE49-F238E27FC236}">
                  <a16:creationId xmlns:a16="http://schemas.microsoft.com/office/drawing/2014/main" id="{BC8BB1BB-E5CE-4D15-B198-94924700F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F76DAC-2AAA-417A-9273-35B959803EB6}"/>
              </a:ext>
            </a:extLst>
          </p:cNvPr>
          <p:cNvGrpSpPr/>
          <p:nvPr/>
        </p:nvGrpSpPr>
        <p:grpSpPr>
          <a:xfrm>
            <a:off x="10020980" y="1936039"/>
            <a:ext cx="1084521" cy="1554256"/>
            <a:chOff x="10180468" y="803364"/>
            <a:chExt cx="1084521" cy="1554256"/>
          </a:xfrm>
        </p:grpSpPr>
        <p:pic>
          <p:nvPicPr>
            <p:cNvPr id="21" name="Graphic 20" descr="Man">
              <a:extLst>
                <a:ext uri="{FF2B5EF4-FFF2-40B4-BE49-F238E27FC236}">
                  <a16:creationId xmlns:a16="http://schemas.microsoft.com/office/drawing/2014/main" id="{E2CE21DE-AA5A-4C71-BD44-C590574ED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65528" y="803364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8A4807-895C-4F23-A57B-6DAD07D60246}"/>
                </a:ext>
              </a:extLst>
            </p:cNvPr>
            <p:cNvSpPr txBox="1"/>
            <p:nvPr/>
          </p:nvSpPr>
          <p:spPr>
            <a:xfrm>
              <a:off x="10180468" y="1988288"/>
              <a:ext cx="108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</p:grpSp>
      <p:sp>
        <p:nvSpPr>
          <p:cNvPr id="3" name="Arrow: Right 2">
            <a:extLst>
              <a:ext uri="{FF2B5EF4-FFF2-40B4-BE49-F238E27FC236}">
                <a16:creationId xmlns:a16="http://schemas.microsoft.com/office/drawing/2014/main" id="{74B3CEBD-F3A0-4777-8F81-398AC5AF49B3}"/>
              </a:ext>
            </a:extLst>
          </p:cNvPr>
          <p:cNvSpPr/>
          <p:nvPr/>
        </p:nvSpPr>
        <p:spPr>
          <a:xfrm rot="10800000">
            <a:off x="3258879" y="2215639"/>
            <a:ext cx="1041991" cy="383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A796EEB9-C1DA-4C4F-AA34-2927BB0C91F4}"/>
              </a:ext>
            </a:extLst>
          </p:cNvPr>
          <p:cNvSpPr/>
          <p:nvPr/>
        </p:nvSpPr>
        <p:spPr>
          <a:xfrm>
            <a:off x="6582985" y="2220622"/>
            <a:ext cx="1041991" cy="383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B54CDD-5A6A-4A2D-A2DF-55795D79B0E3}"/>
              </a:ext>
            </a:extLst>
          </p:cNvPr>
          <p:cNvSpPr txBox="1"/>
          <p:nvPr/>
        </p:nvSpPr>
        <p:spPr>
          <a:xfrm>
            <a:off x="3258879" y="1690687"/>
            <a:ext cx="11684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clone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497DD5-C091-4A63-A9DD-8C114F6E6EA1}"/>
              </a:ext>
            </a:extLst>
          </p:cNvPr>
          <p:cNvSpPr txBox="1"/>
          <p:nvPr/>
        </p:nvSpPr>
        <p:spPr>
          <a:xfrm>
            <a:off x="6541032" y="1645865"/>
            <a:ext cx="11684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clone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CD1091-C41E-4193-B50E-3A9C91A21AF9}"/>
              </a:ext>
            </a:extLst>
          </p:cNvPr>
          <p:cNvGrpSpPr/>
          <p:nvPr/>
        </p:nvGrpSpPr>
        <p:grpSpPr>
          <a:xfrm>
            <a:off x="1556967" y="2045975"/>
            <a:ext cx="1073888" cy="1940552"/>
            <a:chOff x="4837814" y="2039680"/>
            <a:chExt cx="1073888" cy="194055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2D4100-280D-4CB5-A486-F06691FAB861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C9EDA0A-F7A3-41B1-876E-027968BA9ED2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CABF7B-6EE6-4085-AB24-9072C5DD07E0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19C5E70-2933-4B18-B1DE-8CB990819C7F}"/>
              </a:ext>
            </a:extLst>
          </p:cNvPr>
          <p:cNvGrpSpPr/>
          <p:nvPr/>
        </p:nvGrpSpPr>
        <p:grpSpPr>
          <a:xfrm>
            <a:off x="8195251" y="2045975"/>
            <a:ext cx="1073888" cy="1940552"/>
            <a:chOff x="4837814" y="2039680"/>
            <a:chExt cx="1073888" cy="194055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FB236E-17E5-4456-8A84-B6547158E707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389AA9-15AF-42B7-B0C3-13F889BFB09F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B780CED-D7BD-4CAE-A9D7-07C191275446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4177DEC-A0E4-4CE3-8971-CCE7129F0552}"/>
              </a:ext>
            </a:extLst>
          </p:cNvPr>
          <p:cNvSpPr txBox="1"/>
          <p:nvPr/>
        </p:nvSpPr>
        <p:spPr>
          <a:xfrm>
            <a:off x="4622948" y="1191883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Remote Repo</a:t>
            </a:r>
          </a:p>
        </p:txBody>
      </p:sp>
    </p:spTree>
    <p:extLst>
      <p:ext uri="{BB962C8B-B14F-4D97-AF65-F5344CB8AC3E}">
        <p14:creationId xmlns:p14="http://schemas.microsoft.com/office/powerpoint/2010/main" val="32930875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56B2-5934-4913-A84B-3F68F1DA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1047" cy="650692"/>
          </a:xfrm>
        </p:spPr>
        <p:txBody>
          <a:bodyPr>
            <a:normAutofit/>
          </a:bodyPr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Collaborate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52775A-FBF4-446A-9A34-0CF9F012B484}"/>
              </a:ext>
            </a:extLst>
          </p:cNvPr>
          <p:cNvGrpSpPr/>
          <p:nvPr/>
        </p:nvGrpSpPr>
        <p:grpSpPr>
          <a:xfrm>
            <a:off x="1339702" y="1690688"/>
            <a:ext cx="8203905" cy="4178484"/>
            <a:chOff x="1339702" y="1690688"/>
            <a:chExt cx="8203905" cy="41784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BC2D39F-0EAA-4A2E-A3D9-81603A552FBA}"/>
                </a:ext>
              </a:extLst>
            </p:cNvPr>
            <p:cNvSpPr/>
            <p:nvPr/>
          </p:nvSpPr>
          <p:spPr>
            <a:xfrm>
              <a:off x="1339702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DA35DB5-CE03-4B94-8FA2-63494852D44C}"/>
                </a:ext>
              </a:extLst>
            </p:cNvPr>
            <p:cNvSpPr/>
            <p:nvPr/>
          </p:nvSpPr>
          <p:spPr>
            <a:xfrm>
              <a:off x="4622948" y="1690688"/>
              <a:ext cx="1637414" cy="417848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E6450C-5764-4B93-B7D6-A9C4FCAF40CD}"/>
                </a:ext>
              </a:extLst>
            </p:cNvPr>
            <p:cNvSpPr/>
            <p:nvPr/>
          </p:nvSpPr>
          <p:spPr>
            <a:xfrm>
              <a:off x="7906193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BAFDAF-07A5-48FE-9ED1-D56B7D71CC00}"/>
              </a:ext>
            </a:extLst>
          </p:cNvPr>
          <p:cNvGrpSpPr/>
          <p:nvPr/>
        </p:nvGrpSpPr>
        <p:grpSpPr>
          <a:xfrm>
            <a:off x="4904711" y="2045975"/>
            <a:ext cx="1073888" cy="1940552"/>
            <a:chOff x="4837814" y="2039680"/>
            <a:chExt cx="1073888" cy="19405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2D86DE-5F38-4F53-9231-1D491BE51982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A298C9-4506-4BD5-97C2-A2A79D053256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76E215-FB56-4A9E-8452-D6210F01A3CD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FC0CF3-E514-4C66-87D6-005E92B52C20}"/>
              </a:ext>
            </a:extLst>
          </p:cNvPr>
          <p:cNvGrpSpPr/>
          <p:nvPr/>
        </p:nvGrpSpPr>
        <p:grpSpPr>
          <a:xfrm>
            <a:off x="209627" y="2047682"/>
            <a:ext cx="1130075" cy="1442613"/>
            <a:chOff x="1132113" y="803364"/>
            <a:chExt cx="1130075" cy="14426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7DC5F5-E916-46E7-B1D5-0F55AF029461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19" name="Graphic 18" descr="Man">
              <a:extLst>
                <a:ext uri="{FF2B5EF4-FFF2-40B4-BE49-F238E27FC236}">
                  <a16:creationId xmlns:a16="http://schemas.microsoft.com/office/drawing/2014/main" id="{BC8BB1BB-E5CE-4D15-B198-94924700F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F76DAC-2AAA-417A-9273-35B959803EB6}"/>
              </a:ext>
            </a:extLst>
          </p:cNvPr>
          <p:cNvGrpSpPr/>
          <p:nvPr/>
        </p:nvGrpSpPr>
        <p:grpSpPr>
          <a:xfrm>
            <a:off x="10020980" y="1936039"/>
            <a:ext cx="1084521" cy="1554256"/>
            <a:chOff x="10180468" y="803364"/>
            <a:chExt cx="1084521" cy="1554256"/>
          </a:xfrm>
        </p:grpSpPr>
        <p:pic>
          <p:nvPicPr>
            <p:cNvPr id="21" name="Graphic 20" descr="Man">
              <a:extLst>
                <a:ext uri="{FF2B5EF4-FFF2-40B4-BE49-F238E27FC236}">
                  <a16:creationId xmlns:a16="http://schemas.microsoft.com/office/drawing/2014/main" id="{E2CE21DE-AA5A-4C71-BD44-C590574ED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65528" y="803364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8A4807-895C-4F23-A57B-6DAD07D60246}"/>
                </a:ext>
              </a:extLst>
            </p:cNvPr>
            <p:cNvSpPr txBox="1"/>
            <p:nvPr/>
          </p:nvSpPr>
          <p:spPr>
            <a:xfrm>
              <a:off x="10180468" y="1988288"/>
              <a:ext cx="108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CD1091-C41E-4193-B50E-3A9C91A21AF9}"/>
              </a:ext>
            </a:extLst>
          </p:cNvPr>
          <p:cNvGrpSpPr/>
          <p:nvPr/>
        </p:nvGrpSpPr>
        <p:grpSpPr>
          <a:xfrm>
            <a:off x="1556967" y="2045975"/>
            <a:ext cx="1073888" cy="1940552"/>
            <a:chOff x="4837814" y="2039680"/>
            <a:chExt cx="1073888" cy="194055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2D4100-280D-4CB5-A486-F06691FAB861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C9EDA0A-F7A3-41B1-876E-027968BA9ED2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CABF7B-6EE6-4085-AB24-9072C5DD07E0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19C5E70-2933-4B18-B1DE-8CB990819C7F}"/>
              </a:ext>
            </a:extLst>
          </p:cNvPr>
          <p:cNvGrpSpPr/>
          <p:nvPr/>
        </p:nvGrpSpPr>
        <p:grpSpPr>
          <a:xfrm>
            <a:off x="8195251" y="2045975"/>
            <a:ext cx="1073888" cy="1940552"/>
            <a:chOff x="4837814" y="2039680"/>
            <a:chExt cx="1073888" cy="194055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FB236E-17E5-4456-8A84-B6547158E707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389AA9-15AF-42B7-B0C3-13F889BFB09F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B780CED-D7BD-4CAE-A9D7-07C191275446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F51C607-4EDF-4BBA-951F-DE65AE241633}"/>
              </a:ext>
            </a:extLst>
          </p:cNvPr>
          <p:cNvSpPr/>
          <p:nvPr/>
        </p:nvSpPr>
        <p:spPr>
          <a:xfrm>
            <a:off x="1732404" y="4180285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4B4A7E-AA72-4C3C-9D7C-E8A8B66CD20D}"/>
              </a:ext>
            </a:extLst>
          </p:cNvPr>
          <p:cNvSpPr txBox="1"/>
          <p:nvPr/>
        </p:nvSpPr>
        <p:spPr>
          <a:xfrm>
            <a:off x="2932790" y="4180285"/>
            <a:ext cx="1522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add </a:t>
            </a:r>
          </a:p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commit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3D225A-0809-44F0-8E22-77BD4CD3E4C8}"/>
              </a:ext>
            </a:extLst>
          </p:cNvPr>
          <p:cNvSpPr/>
          <p:nvPr/>
        </p:nvSpPr>
        <p:spPr>
          <a:xfrm>
            <a:off x="8370688" y="4306011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2DAB36-7037-4211-9458-C320FA8D8552}"/>
              </a:ext>
            </a:extLst>
          </p:cNvPr>
          <p:cNvSpPr txBox="1"/>
          <p:nvPr/>
        </p:nvSpPr>
        <p:spPr>
          <a:xfrm>
            <a:off x="9583249" y="4305836"/>
            <a:ext cx="1522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add </a:t>
            </a:r>
          </a:p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commit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0F927C-536F-4353-902B-58892563BA95}"/>
              </a:ext>
            </a:extLst>
          </p:cNvPr>
          <p:cNvSpPr txBox="1"/>
          <p:nvPr/>
        </p:nvSpPr>
        <p:spPr>
          <a:xfrm>
            <a:off x="4622948" y="1191883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Remote Repo</a:t>
            </a:r>
          </a:p>
        </p:txBody>
      </p:sp>
    </p:spTree>
    <p:extLst>
      <p:ext uri="{BB962C8B-B14F-4D97-AF65-F5344CB8AC3E}">
        <p14:creationId xmlns:p14="http://schemas.microsoft.com/office/powerpoint/2010/main" val="3719774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56B2-5934-4913-A84B-3F68F1DA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1047" cy="650692"/>
          </a:xfrm>
        </p:spPr>
        <p:txBody>
          <a:bodyPr>
            <a:normAutofit/>
          </a:bodyPr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Collaborate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52775A-FBF4-446A-9A34-0CF9F012B484}"/>
              </a:ext>
            </a:extLst>
          </p:cNvPr>
          <p:cNvGrpSpPr/>
          <p:nvPr/>
        </p:nvGrpSpPr>
        <p:grpSpPr>
          <a:xfrm>
            <a:off x="1339702" y="1690688"/>
            <a:ext cx="8203905" cy="4178484"/>
            <a:chOff x="1339702" y="1690688"/>
            <a:chExt cx="8203905" cy="41784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BC2D39F-0EAA-4A2E-A3D9-81603A552FBA}"/>
                </a:ext>
              </a:extLst>
            </p:cNvPr>
            <p:cNvSpPr/>
            <p:nvPr/>
          </p:nvSpPr>
          <p:spPr>
            <a:xfrm>
              <a:off x="1339702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DA35DB5-CE03-4B94-8FA2-63494852D44C}"/>
                </a:ext>
              </a:extLst>
            </p:cNvPr>
            <p:cNvSpPr/>
            <p:nvPr/>
          </p:nvSpPr>
          <p:spPr>
            <a:xfrm>
              <a:off x="4622948" y="1690688"/>
              <a:ext cx="1637414" cy="417848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E6450C-5764-4B93-B7D6-A9C4FCAF40CD}"/>
                </a:ext>
              </a:extLst>
            </p:cNvPr>
            <p:cNvSpPr/>
            <p:nvPr/>
          </p:nvSpPr>
          <p:spPr>
            <a:xfrm>
              <a:off x="7906193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BAFDAF-07A5-48FE-9ED1-D56B7D71CC00}"/>
              </a:ext>
            </a:extLst>
          </p:cNvPr>
          <p:cNvGrpSpPr/>
          <p:nvPr/>
        </p:nvGrpSpPr>
        <p:grpSpPr>
          <a:xfrm>
            <a:off x="4904711" y="2045975"/>
            <a:ext cx="1073888" cy="1940552"/>
            <a:chOff x="4837814" y="2039680"/>
            <a:chExt cx="1073888" cy="19405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2D86DE-5F38-4F53-9231-1D491BE51982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A298C9-4506-4BD5-97C2-A2A79D053256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76E215-FB56-4A9E-8452-D6210F01A3CD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FC0CF3-E514-4C66-87D6-005E92B52C20}"/>
              </a:ext>
            </a:extLst>
          </p:cNvPr>
          <p:cNvGrpSpPr/>
          <p:nvPr/>
        </p:nvGrpSpPr>
        <p:grpSpPr>
          <a:xfrm>
            <a:off x="209627" y="2047682"/>
            <a:ext cx="1130075" cy="1442613"/>
            <a:chOff x="1132113" y="803364"/>
            <a:chExt cx="1130075" cy="14426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7DC5F5-E916-46E7-B1D5-0F55AF029461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19" name="Graphic 18" descr="Man">
              <a:extLst>
                <a:ext uri="{FF2B5EF4-FFF2-40B4-BE49-F238E27FC236}">
                  <a16:creationId xmlns:a16="http://schemas.microsoft.com/office/drawing/2014/main" id="{BC8BB1BB-E5CE-4D15-B198-94924700F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F76DAC-2AAA-417A-9273-35B959803EB6}"/>
              </a:ext>
            </a:extLst>
          </p:cNvPr>
          <p:cNvGrpSpPr/>
          <p:nvPr/>
        </p:nvGrpSpPr>
        <p:grpSpPr>
          <a:xfrm>
            <a:off x="10020980" y="1936039"/>
            <a:ext cx="1084521" cy="1554256"/>
            <a:chOff x="10180468" y="803364"/>
            <a:chExt cx="1084521" cy="1554256"/>
          </a:xfrm>
        </p:grpSpPr>
        <p:pic>
          <p:nvPicPr>
            <p:cNvPr id="21" name="Graphic 20" descr="Man">
              <a:extLst>
                <a:ext uri="{FF2B5EF4-FFF2-40B4-BE49-F238E27FC236}">
                  <a16:creationId xmlns:a16="http://schemas.microsoft.com/office/drawing/2014/main" id="{E2CE21DE-AA5A-4C71-BD44-C590574ED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65528" y="803364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8A4807-895C-4F23-A57B-6DAD07D60246}"/>
                </a:ext>
              </a:extLst>
            </p:cNvPr>
            <p:cNvSpPr txBox="1"/>
            <p:nvPr/>
          </p:nvSpPr>
          <p:spPr>
            <a:xfrm>
              <a:off x="10180468" y="1988288"/>
              <a:ext cx="108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CD1091-C41E-4193-B50E-3A9C91A21AF9}"/>
              </a:ext>
            </a:extLst>
          </p:cNvPr>
          <p:cNvGrpSpPr/>
          <p:nvPr/>
        </p:nvGrpSpPr>
        <p:grpSpPr>
          <a:xfrm>
            <a:off x="1556967" y="2045975"/>
            <a:ext cx="1073888" cy="1940552"/>
            <a:chOff x="4837814" y="2039680"/>
            <a:chExt cx="1073888" cy="194055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2D4100-280D-4CB5-A486-F06691FAB861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C9EDA0A-F7A3-41B1-876E-027968BA9ED2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CABF7B-6EE6-4085-AB24-9072C5DD07E0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19C5E70-2933-4B18-B1DE-8CB990819C7F}"/>
              </a:ext>
            </a:extLst>
          </p:cNvPr>
          <p:cNvGrpSpPr/>
          <p:nvPr/>
        </p:nvGrpSpPr>
        <p:grpSpPr>
          <a:xfrm>
            <a:off x="8195251" y="2045975"/>
            <a:ext cx="1073888" cy="1940552"/>
            <a:chOff x="4837814" y="2039680"/>
            <a:chExt cx="1073888" cy="194055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FB236E-17E5-4456-8A84-B6547158E707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389AA9-15AF-42B7-B0C3-13F889BFB09F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B780CED-D7BD-4CAE-A9D7-07C191275446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F51C607-4EDF-4BBA-951F-DE65AE241633}"/>
              </a:ext>
            </a:extLst>
          </p:cNvPr>
          <p:cNvSpPr/>
          <p:nvPr/>
        </p:nvSpPr>
        <p:spPr>
          <a:xfrm>
            <a:off x="1732404" y="4180285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3D225A-0809-44F0-8E22-77BD4CD3E4C8}"/>
              </a:ext>
            </a:extLst>
          </p:cNvPr>
          <p:cNvSpPr/>
          <p:nvPr/>
        </p:nvSpPr>
        <p:spPr>
          <a:xfrm>
            <a:off x="8370688" y="4306011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CB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3EE1D81-3015-431F-B127-37C20FFF63C4}"/>
              </a:ext>
            </a:extLst>
          </p:cNvPr>
          <p:cNvSpPr/>
          <p:nvPr/>
        </p:nvSpPr>
        <p:spPr>
          <a:xfrm>
            <a:off x="3258879" y="2215639"/>
            <a:ext cx="1041991" cy="383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9857FC-35D8-4B51-857D-2975717AD003}"/>
              </a:ext>
            </a:extLst>
          </p:cNvPr>
          <p:cNvSpPr txBox="1"/>
          <p:nvPr/>
        </p:nvSpPr>
        <p:spPr>
          <a:xfrm>
            <a:off x="3258879" y="2805364"/>
            <a:ext cx="152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push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CA48CA-5770-48C1-B915-90418B5FA9ED}"/>
              </a:ext>
            </a:extLst>
          </p:cNvPr>
          <p:cNvSpPr/>
          <p:nvPr/>
        </p:nvSpPr>
        <p:spPr>
          <a:xfrm>
            <a:off x="5080148" y="4246838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D88C47-02CE-4C66-AF02-137067E74AA4}"/>
              </a:ext>
            </a:extLst>
          </p:cNvPr>
          <p:cNvSpPr txBox="1"/>
          <p:nvPr/>
        </p:nvSpPr>
        <p:spPr>
          <a:xfrm>
            <a:off x="4622948" y="1191883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Remote Repo</a:t>
            </a:r>
          </a:p>
        </p:txBody>
      </p:sp>
    </p:spTree>
    <p:extLst>
      <p:ext uri="{BB962C8B-B14F-4D97-AF65-F5344CB8AC3E}">
        <p14:creationId xmlns:p14="http://schemas.microsoft.com/office/powerpoint/2010/main" val="2153870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56B2-5934-4913-A84B-3F68F1DA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1047" cy="650692"/>
          </a:xfrm>
        </p:spPr>
        <p:txBody>
          <a:bodyPr>
            <a:normAutofit/>
          </a:bodyPr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Collaborate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52775A-FBF4-446A-9A34-0CF9F012B484}"/>
              </a:ext>
            </a:extLst>
          </p:cNvPr>
          <p:cNvGrpSpPr/>
          <p:nvPr/>
        </p:nvGrpSpPr>
        <p:grpSpPr>
          <a:xfrm>
            <a:off x="1339702" y="1690688"/>
            <a:ext cx="8203905" cy="4178484"/>
            <a:chOff x="1339702" y="1690688"/>
            <a:chExt cx="8203905" cy="41784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BC2D39F-0EAA-4A2E-A3D9-81603A552FBA}"/>
                </a:ext>
              </a:extLst>
            </p:cNvPr>
            <p:cNvSpPr/>
            <p:nvPr/>
          </p:nvSpPr>
          <p:spPr>
            <a:xfrm>
              <a:off x="1339702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DA35DB5-CE03-4B94-8FA2-63494852D44C}"/>
                </a:ext>
              </a:extLst>
            </p:cNvPr>
            <p:cNvSpPr/>
            <p:nvPr/>
          </p:nvSpPr>
          <p:spPr>
            <a:xfrm>
              <a:off x="4622948" y="1690688"/>
              <a:ext cx="1637414" cy="417848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E6450C-5764-4B93-B7D6-A9C4FCAF40CD}"/>
                </a:ext>
              </a:extLst>
            </p:cNvPr>
            <p:cNvSpPr/>
            <p:nvPr/>
          </p:nvSpPr>
          <p:spPr>
            <a:xfrm>
              <a:off x="7906193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BAFDAF-07A5-48FE-9ED1-D56B7D71CC00}"/>
              </a:ext>
            </a:extLst>
          </p:cNvPr>
          <p:cNvGrpSpPr/>
          <p:nvPr/>
        </p:nvGrpSpPr>
        <p:grpSpPr>
          <a:xfrm>
            <a:off x="4904711" y="2045975"/>
            <a:ext cx="1073888" cy="1940552"/>
            <a:chOff x="4837814" y="2039680"/>
            <a:chExt cx="1073888" cy="19405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2D86DE-5F38-4F53-9231-1D491BE51982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A298C9-4506-4BD5-97C2-A2A79D053256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76E215-FB56-4A9E-8452-D6210F01A3CD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FC0CF3-E514-4C66-87D6-005E92B52C20}"/>
              </a:ext>
            </a:extLst>
          </p:cNvPr>
          <p:cNvGrpSpPr/>
          <p:nvPr/>
        </p:nvGrpSpPr>
        <p:grpSpPr>
          <a:xfrm>
            <a:off x="209627" y="2047682"/>
            <a:ext cx="1130075" cy="1442613"/>
            <a:chOff x="1132113" y="803364"/>
            <a:chExt cx="1130075" cy="14426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7DC5F5-E916-46E7-B1D5-0F55AF029461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19" name="Graphic 18" descr="Man">
              <a:extLst>
                <a:ext uri="{FF2B5EF4-FFF2-40B4-BE49-F238E27FC236}">
                  <a16:creationId xmlns:a16="http://schemas.microsoft.com/office/drawing/2014/main" id="{BC8BB1BB-E5CE-4D15-B198-94924700F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F76DAC-2AAA-417A-9273-35B959803EB6}"/>
              </a:ext>
            </a:extLst>
          </p:cNvPr>
          <p:cNvGrpSpPr/>
          <p:nvPr/>
        </p:nvGrpSpPr>
        <p:grpSpPr>
          <a:xfrm>
            <a:off x="10020980" y="1936039"/>
            <a:ext cx="1084521" cy="1554256"/>
            <a:chOff x="10180468" y="803364"/>
            <a:chExt cx="1084521" cy="1554256"/>
          </a:xfrm>
        </p:grpSpPr>
        <p:pic>
          <p:nvPicPr>
            <p:cNvPr id="21" name="Graphic 20" descr="Man">
              <a:extLst>
                <a:ext uri="{FF2B5EF4-FFF2-40B4-BE49-F238E27FC236}">
                  <a16:creationId xmlns:a16="http://schemas.microsoft.com/office/drawing/2014/main" id="{E2CE21DE-AA5A-4C71-BD44-C590574ED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65528" y="803364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8A4807-895C-4F23-A57B-6DAD07D60246}"/>
                </a:ext>
              </a:extLst>
            </p:cNvPr>
            <p:cNvSpPr txBox="1"/>
            <p:nvPr/>
          </p:nvSpPr>
          <p:spPr>
            <a:xfrm>
              <a:off x="10180468" y="1988288"/>
              <a:ext cx="108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CD1091-C41E-4193-B50E-3A9C91A21AF9}"/>
              </a:ext>
            </a:extLst>
          </p:cNvPr>
          <p:cNvGrpSpPr/>
          <p:nvPr/>
        </p:nvGrpSpPr>
        <p:grpSpPr>
          <a:xfrm>
            <a:off x="1556967" y="2045975"/>
            <a:ext cx="1073888" cy="1940552"/>
            <a:chOff x="4837814" y="2039680"/>
            <a:chExt cx="1073888" cy="194055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2D4100-280D-4CB5-A486-F06691FAB861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C9EDA0A-F7A3-41B1-876E-027968BA9ED2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CABF7B-6EE6-4085-AB24-9072C5DD07E0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19C5E70-2933-4B18-B1DE-8CB990819C7F}"/>
              </a:ext>
            </a:extLst>
          </p:cNvPr>
          <p:cNvGrpSpPr/>
          <p:nvPr/>
        </p:nvGrpSpPr>
        <p:grpSpPr>
          <a:xfrm>
            <a:off x="8195251" y="2045975"/>
            <a:ext cx="1073888" cy="1940552"/>
            <a:chOff x="4837814" y="2039680"/>
            <a:chExt cx="1073888" cy="194055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FB236E-17E5-4456-8A84-B6547158E707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389AA9-15AF-42B7-B0C3-13F889BFB09F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B780CED-D7BD-4CAE-A9D7-07C191275446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F51C607-4EDF-4BBA-951F-DE65AE241633}"/>
              </a:ext>
            </a:extLst>
          </p:cNvPr>
          <p:cNvSpPr/>
          <p:nvPr/>
        </p:nvSpPr>
        <p:spPr>
          <a:xfrm>
            <a:off x="1732404" y="4180285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3D225A-0809-44F0-8E22-77BD4CD3E4C8}"/>
              </a:ext>
            </a:extLst>
          </p:cNvPr>
          <p:cNvSpPr/>
          <p:nvPr/>
        </p:nvSpPr>
        <p:spPr>
          <a:xfrm>
            <a:off x="8370688" y="4306011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CB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3EE1D81-3015-431F-B127-37C20FFF63C4}"/>
              </a:ext>
            </a:extLst>
          </p:cNvPr>
          <p:cNvSpPr/>
          <p:nvPr/>
        </p:nvSpPr>
        <p:spPr>
          <a:xfrm>
            <a:off x="6481484" y="2215639"/>
            <a:ext cx="1041991" cy="383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9857FC-35D8-4B51-857D-2975717AD003}"/>
              </a:ext>
            </a:extLst>
          </p:cNvPr>
          <p:cNvSpPr txBox="1"/>
          <p:nvPr/>
        </p:nvSpPr>
        <p:spPr>
          <a:xfrm>
            <a:off x="6398531" y="2898462"/>
            <a:ext cx="152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fetch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CA48CA-5770-48C1-B915-90418B5FA9ED}"/>
              </a:ext>
            </a:extLst>
          </p:cNvPr>
          <p:cNvSpPr/>
          <p:nvPr/>
        </p:nvSpPr>
        <p:spPr>
          <a:xfrm>
            <a:off x="5080148" y="4246838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1F7962-B137-45E7-8A11-C86F9B354B1A}"/>
              </a:ext>
            </a:extLst>
          </p:cNvPr>
          <p:cNvSpPr/>
          <p:nvPr/>
        </p:nvSpPr>
        <p:spPr>
          <a:xfrm>
            <a:off x="9646595" y="3563380"/>
            <a:ext cx="723014" cy="414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D3A39B-D62C-4B11-A13B-F927EBE11B8E}"/>
              </a:ext>
            </a:extLst>
          </p:cNvPr>
          <p:cNvSpPr txBox="1"/>
          <p:nvPr/>
        </p:nvSpPr>
        <p:spPr>
          <a:xfrm>
            <a:off x="4622948" y="1191883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Remote Repo</a:t>
            </a:r>
          </a:p>
        </p:txBody>
      </p:sp>
    </p:spTree>
    <p:extLst>
      <p:ext uri="{BB962C8B-B14F-4D97-AF65-F5344CB8AC3E}">
        <p14:creationId xmlns:p14="http://schemas.microsoft.com/office/powerpoint/2010/main" val="988703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56B2-5934-4913-A84B-3F68F1DA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1047" cy="650692"/>
          </a:xfrm>
        </p:spPr>
        <p:txBody>
          <a:bodyPr>
            <a:normAutofit/>
          </a:bodyPr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Collaborate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52775A-FBF4-446A-9A34-0CF9F012B484}"/>
              </a:ext>
            </a:extLst>
          </p:cNvPr>
          <p:cNvGrpSpPr/>
          <p:nvPr/>
        </p:nvGrpSpPr>
        <p:grpSpPr>
          <a:xfrm>
            <a:off x="1339702" y="1690688"/>
            <a:ext cx="8203905" cy="4178484"/>
            <a:chOff x="1339702" y="1690688"/>
            <a:chExt cx="8203905" cy="41784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BC2D39F-0EAA-4A2E-A3D9-81603A552FBA}"/>
                </a:ext>
              </a:extLst>
            </p:cNvPr>
            <p:cNvSpPr/>
            <p:nvPr/>
          </p:nvSpPr>
          <p:spPr>
            <a:xfrm>
              <a:off x="1339702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DA35DB5-CE03-4B94-8FA2-63494852D44C}"/>
                </a:ext>
              </a:extLst>
            </p:cNvPr>
            <p:cNvSpPr/>
            <p:nvPr/>
          </p:nvSpPr>
          <p:spPr>
            <a:xfrm>
              <a:off x="4622948" y="1690688"/>
              <a:ext cx="1637414" cy="417848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E6450C-5764-4B93-B7D6-A9C4FCAF40CD}"/>
                </a:ext>
              </a:extLst>
            </p:cNvPr>
            <p:cNvSpPr/>
            <p:nvPr/>
          </p:nvSpPr>
          <p:spPr>
            <a:xfrm>
              <a:off x="7906193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BAFDAF-07A5-48FE-9ED1-D56B7D71CC00}"/>
              </a:ext>
            </a:extLst>
          </p:cNvPr>
          <p:cNvGrpSpPr/>
          <p:nvPr/>
        </p:nvGrpSpPr>
        <p:grpSpPr>
          <a:xfrm>
            <a:off x="4904711" y="2045975"/>
            <a:ext cx="1073888" cy="1940552"/>
            <a:chOff x="4837814" y="2039680"/>
            <a:chExt cx="1073888" cy="19405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2D86DE-5F38-4F53-9231-1D491BE51982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A298C9-4506-4BD5-97C2-A2A79D053256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76E215-FB56-4A9E-8452-D6210F01A3CD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FC0CF3-E514-4C66-87D6-005E92B52C20}"/>
              </a:ext>
            </a:extLst>
          </p:cNvPr>
          <p:cNvGrpSpPr/>
          <p:nvPr/>
        </p:nvGrpSpPr>
        <p:grpSpPr>
          <a:xfrm>
            <a:off x="209627" y="2047682"/>
            <a:ext cx="1130075" cy="1442613"/>
            <a:chOff x="1132113" y="803364"/>
            <a:chExt cx="1130075" cy="14426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7DC5F5-E916-46E7-B1D5-0F55AF029461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19" name="Graphic 18" descr="Man">
              <a:extLst>
                <a:ext uri="{FF2B5EF4-FFF2-40B4-BE49-F238E27FC236}">
                  <a16:creationId xmlns:a16="http://schemas.microsoft.com/office/drawing/2014/main" id="{BC8BB1BB-E5CE-4D15-B198-94924700F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F76DAC-2AAA-417A-9273-35B959803EB6}"/>
              </a:ext>
            </a:extLst>
          </p:cNvPr>
          <p:cNvGrpSpPr/>
          <p:nvPr/>
        </p:nvGrpSpPr>
        <p:grpSpPr>
          <a:xfrm>
            <a:off x="10020980" y="1936039"/>
            <a:ext cx="1084521" cy="1554256"/>
            <a:chOff x="10180468" y="803364"/>
            <a:chExt cx="1084521" cy="1554256"/>
          </a:xfrm>
        </p:grpSpPr>
        <p:pic>
          <p:nvPicPr>
            <p:cNvPr id="21" name="Graphic 20" descr="Man">
              <a:extLst>
                <a:ext uri="{FF2B5EF4-FFF2-40B4-BE49-F238E27FC236}">
                  <a16:creationId xmlns:a16="http://schemas.microsoft.com/office/drawing/2014/main" id="{E2CE21DE-AA5A-4C71-BD44-C590574ED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65528" y="803364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8A4807-895C-4F23-A57B-6DAD07D60246}"/>
                </a:ext>
              </a:extLst>
            </p:cNvPr>
            <p:cNvSpPr txBox="1"/>
            <p:nvPr/>
          </p:nvSpPr>
          <p:spPr>
            <a:xfrm>
              <a:off x="10180468" y="1988288"/>
              <a:ext cx="108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CD1091-C41E-4193-B50E-3A9C91A21AF9}"/>
              </a:ext>
            </a:extLst>
          </p:cNvPr>
          <p:cNvGrpSpPr/>
          <p:nvPr/>
        </p:nvGrpSpPr>
        <p:grpSpPr>
          <a:xfrm>
            <a:off x="1556967" y="2045975"/>
            <a:ext cx="1073888" cy="1940552"/>
            <a:chOff x="4837814" y="2039680"/>
            <a:chExt cx="1073888" cy="194055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2D4100-280D-4CB5-A486-F06691FAB861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C9EDA0A-F7A3-41B1-876E-027968BA9ED2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CABF7B-6EE6-4085-AB24-9072C5DD07E0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19C5E70-2933-4B18-B1DE-8CB990819C7F}"/>
              </a:ext>
            </a:extLst>
          </p:cNvPr>
          <p:cNvGrpSpPr/>
          <p:nvPr/>
        </p:nvGrpSpPr>
        <p:grpSpPr>
          <a:xfrm>
            <a:off x="8195251" y="2045975"/>
            <a:ext cx="1073888" cy="1940552"/>
            <a:chOff x="4837814" y="2039680"/>
            <a:chExt cx="1073888" cy="194055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FB236E-17E5-4456-8A84-B6547158E707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389AA9-15AF-42B7-B0C3-13F889BFB09F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B780CED-D7BD-4CAE-A9D7-07C191275446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F51C607-4EDF-4BBA-951F-DE65AE241633}"/>
              </a:ext>
            </a:extLst>
          </p:cNvPr>
          <p:cNvSpPr/>
          <p:nvPr/>
        </p:nvSpPr>
        <p:spPr>
          <a:xfrm>
            <a:off x="1732404" y="4180285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3D225A-0809-44F0-8E22-77BD4CD3E4C8}"/>
              </a:ext>
            </a:extLst>
          </p:cNvPr>
          <p:cNvSpPr/>
          <p:nvPr/>
        </p:nvSpPr>
        <p:spPr>
          <a:xfrm>
            <a:off x="8370688" y="4675846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9857FC-35D8-4B51-857D-2975717AD003}"/>
              </a:ext>
            </a:extLst>
          </p:cNvPr>
          <p:cNvSpPr txBox="1"/>
          <p:nvPr/>
        </p:nvSpPr>
        <p:spPr>
          <a:xfrm>
            <a:off x="6398531" y="2898462"/>
            <a:ext cx="152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merge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CA48CA-5770-48C1-B915-90418B5FA9ED}"/>
              </a:ext>
            </a:extLst>
          </p:cNvPr>
          <p:cNvSpPr/>
          <p:nvPr/>
        </p:nvSpPr>
        <p:spPr>
          <a:xfrm>
            <a:off x="5080148" y="4246838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1F7962-B137-45E7-8A11-C86F9B354B1A}"/>
              </a:ext>
            </a:extLst>
          </p:cNvPr>
          <p:cNvSpPr/>
          <p:nvPr/>
        </p:nvSpPr>
        <p:spPr>
          <a:xfrm>
            <a:off x="8370688" y="4123907"/>
            <a:ext cx="723014" cy="414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1949D1-5372-415A-B6F4-03429E467D82}"/>
              </a:ext>
            </a:extLst>
          </p:cNvPr>
          <p:cNvSpPr txBox="1"/>
          <p:nvPr/>
        </p:nvSpPr>
        <p:spPr>
          <a:xfrm>
            <a:off x="4622948" y="1191883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Remote Repo</a:t>
            </a:r>
          </a:p>
        </p:txBody>
      </p:sp>
    </p:spTree>
    <p:extLst>
      <p:ext uri="{BB962C8B-B14F-4D97-AF65-F5344CB8AC3E}">
        <p14:creationId xmlns:p14="http://schemas.microsoft.com/office/powerpoint/2010/main" val="27451912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56B2-5934-4913-A84B-3F68F1DA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1047" cy="650692"/>
          </a:xfrm>
        </p:spPr>
        <p:txBody>
          <a:bodyPr>
            <a:normAutofit/>
          </a:bodyPr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Collaborate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52775A-FBF4-446A-9A34-0CF9F012B484}"/>
              </a:ext>
            </a:extLst>
          </p:cNvPr>
          <p:cNvGrpSpPr/>
          <p:nvPr/>
        </p:nvGrpSpPr>
        <p:grpSpPr>
          <a:xfrm>
            <a:off x="1339702" y="1690688"/>
            <a:ext cx="8203905" cy="4178484"/>
            <a:chOff x="1339702" y="1690688"/>
            <a:chExt cx="8203905" cy="41784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BC2D39F-0EAA-4A2E-A3D9-81603A552FBA}"/>
                </a:ext>
              </a:extLst>
            </p:cNvPr>
            <p:cNvSpPr/>
            <p:nvPr/>
          </p:nvSpPr>
          <p:spPr>
            <a:xfrm>
              <a:off x="1339702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DA35DB5-CE03-4B94-8FA2-63494852D44C}"/>
                </a:ext>
              </a:extLst>
            </p:cNvPr>
            <p:cNvSpPr/>
            <p:nvPr/>
          </p:nvSpPr>
          <p:spPr>
            <a:xfrm>
              <a:off x="4622948" y="1690688"/>
              <a:ext cx="1637414" cy="417848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E6450C-5764-4B93-B7D6-A9C4FCAF40CD}"/>
                </a:ext>
              </a:extLst>
            </p:cNvPr>
            <p:cNvSpPr/>
            <p:nvPr/>
          </p:nvSpPr>
          <p:spPr>
            <a:xfrm>
              <a:off x="7906193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BAFDAF-07A5-48FE-9ED1-D56B7D71CC00}"/>
              </a:ext>
            </a:extLst>
          </p:cNvPr>
          <p:cNvGrpSpPr/>
          <p:nvPr/>
        </p:nvGrpSpPr>
        <p:grpSpPr>
          <a:xfrm>
            <a:off x="4904711" y="2045975"/>
            <a:ext cx="1073888" cy="1940552"/>
            <a:chOff x="4837814" y="2039680"/>
            <a:chExt cx="1073888" cy="19405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2D86DE-5F38-4F53-9231-1D491BE51982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A298C9-4506-4BD5-97C2-A2A79D053256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76E215-FB56-4A9E-8452-D6210F01A3CD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FC0CF3-E514-4C66-87D6-005E92B52C20}"/>
              </a:ext>
            </a:extLst>
          </p:cNvPr>
          <p:cNvGrpSpPr/>
          <p:nvPr/>
        </p:nvGrpSpPr>
        <p:grpSpPr>
          <a:xfrm>
            <a:off x="209627" y="2047682"/>
            <a:ext cx="1130075" cy="1442613"/>
            <a:chOff x="1132113" y="803364"/>
            <a:chExt cx="1130075" cy="14426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7DC5F5-E916-46E7-B1D5-0F55AF029461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19" name="Graphic 18" descr="Man">
              <a:extLst>
                <a:ext uri="{FF2B5EF4-FFF2-40B4-BE49-F238E27FC236}">
                  <a16:creationId xmlns:a16="http://schemas.microsoft.com/office/drawing/2014/main" id="{BC8BB1BB-E5CE-4D15-B198-94924700F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F76DAC-2AAA-417A-9273-35B959803EB6}"/>
              </a:ext>
            </a:extLst>
          </p:cNvPr>
          <p:cNvGrpSpPr/>
          <p:nvPr/>
        </p:nvGrpSpPr>
        <p:grpSpPr>
          <a:xfrm>
            <a:off x="10020980" y="1936039"/>
            <a:ext cx="1084521" cy="1554256"/>
            <a:chOff x="10180468" y="803364"/>
            <a:chExt cx="1084521" cy="1554256"/>
          </a:xfrm>
        </p:grpSpPr>
        <p:pic>
          <p:nvPicPr>
            <p:cNvPr id="21" name="Graphic 20" descr="Man">
              <a:extLst>
                <a:ext uri="{FF2B5EF4-FFF2-40B4-BE49-F238E27FC236}">
                  <a16:creationId xmlns:a16="http://schemas.microsoft.com/office/drawing/2014/main" id="{E2CE21DE-AA5A-4C71-BD44-C590574ED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65528" y="803364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8A4807-895C-4F23-A57B-6DAD07D60246}"/>
                </a:ext>
              </a:extLst>
            </p:cNvPr>
            <p:cNvSpPr txBox="1"/>
            <p:nvPr/>
          </p:nvSpPr>
          <p:spPr>
            <a:xfrm>
              <a:off x="10180468" y="1988288"/>
              <a:ext cx="108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CD1091-C41E-4193-B50E-3A9C91A21AF9}"/>
              </a:ext>
            </a:extLst>
          </p:cNvPr>
          <p:cNvGrpSpPr/>
          <p:nvPr/>
        </p:nvGrpSpPr>
        <p:grpSpPr>
          <a:xfrm>
            <a:off x="1556967" y="2045975"/>
            <a:ext cx="1073888" cy="1940552"/>
            <a:chOff x="4837814" y="2039680"/>
            <a:chExt cx="1073888" cy="194055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2D4100-280D-4CB5-A486-F06691FAB861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C9EDA0A-F7A3-41B1-876E-027968BA9ED2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CABF7B-6EE6-4085-AB24-9072C5DD07E0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19C5E70-2933-4B18-B1DE-8CB990819C7F}"/>
              </a:ext>
            </a:extLst>
          </p:cNvPr>
          <p:cNvGrpSpPr/>
          <p:nvPr/>
        </p:nvGrpSpPr>
        <p:grpSpPr>
          <a:xfrm>
            <a:off x="8195251" y="2045975"/>
            <a:ext cx="1073888" cy="1940552"/>
            <a:chOff x="4837814" y="2039680"/>
            <a:chExt cx="1073888" cy="194055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FB236E-17E5-4456-8A84-B6547158E707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389AA9-15AF-42B7-B0C3-13F889BFB09F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B780CED-D7BD-4CAE-A9D7-07C191275446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F51C607-4EDF-4BBA-951F-DE65AE241633}"/>
              </a:ext>
            </a:extLst>
          </p:cNvPr>
          <p:cNvSpPr/>
          <p:nvPr/>
        </p:nvSpPr>
        <p:spPr>
          <a:xfrm>
            <a:off x="1732404" y="4180285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3D225A-0809-44F0-8E22-77BD4CD3E4C8}"/>
              </a:ext>
            </a:extLst>
          </p:cNvPr>
          <p:cNvSpPr/>
          <p:nvPr/>
        </p:nvSpPr>
        <p:spPr>
          <a:xfrm>
            <a:off x="8370688" y="4823252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CB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3EE1D81-3015-431F-B127-37C20FFF63C4}"/>
              </a:ext>
            </a:extLst>
          </p:cNvPr>
          <p:cNvSpPr/>
          <p:nvPr/>
        </p:nvSpPr>
        <p:spPr>
          <a:xfrm rot="10800000">
            <a:off x="6481484" y="2215639"/>
            <a:ext cx="1041991" cy="383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9857FC-35D8-4B51-857D-2975717AD003}"/>
              </a:ext>
            </a:extLst>
          </p:cNvPr>
          <p:cNvSpPr txBox="1"/>
          <p:nvPr/>
        </p:nvSpPr>
        <p:spPr>
          <a:xfrm>
            <a:off x="6398531" y="2898462"/>
            <a:ext cx="152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push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CA48CA-5770-48C1-B915-90418B5FA9ED}"/>
              </a:ext>
            </a:extLst>
          </p:cNvPr>
          <p:cNvSpPr/>
          <p:nvPr/>
        </p:nvSpPr>
        <p:spPr>
          <a:xfrm>
            <a:off x="5080148" y="4246838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1F7962-B137-45E7-8A11-C86F9B354B1A}"/>
              </a:ext>
            </a:extLst>
          </p:cNvPr>
          <p:cNvSpPr/>
          <p:nvPr/>
        </p:nvSpPr>
        <p:spPr>
          <a:xfrm>
            <a:off x="8370688" y="4191892"/>
            <a:ext cx="723014" cy="414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EE01E7-0A84-4075-A414-3CA27CC7AD85}"/>
              </a:ext>
            </a:extLst>
          </p:cNvPr>
          <p:cNvSpPr/>
          <p:nvPr/>
        </p:nvSpPr>
        <p:spPr>
          <a:xfrm>
            <a:off x="5080148" y="5030531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8CA7C3-01BD-45D1-8730-850BF33AF33C}"/>
              </a:ext>
            </a:extLst>
          </p:cNvPr>
          <p:cNvSpPr txBox="1"/>
          <p:nvPr/>
        </p:nvSpPr>
        <p:spPr>
          <a:xfrm>
            <a:off x="4622948" y="1191883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Remote Repo</a:t>
            </a:r>
          </a:p>
        </p:txBody>
      </p:sp>
    </p:spTree>
    <p:extLst>
      <p:ext uri="{BB962C8B-B14F-4D97-AF65-F5344CB8AC3E}">
        <p14:creationId xmlns:p14="http://schemas.microsoft.com/office/powerpoint/2010/main" val="20773616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56B2-5934-4913-A84B-3F68F1DA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1047" cy="650692"/>
          </a:xfrm>
        </p:spPr>
        <p:txBody>
          <a:bodyPr>
            <a:normAutofit/>
          </a:bodyPr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Collaborate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52775A-FBF4-446A-9A34-0CF9F012B484}"/>
              </a:ext>
            </a:extLst>
          </p:cNvPr>
          <p:cNvGrpSpPr/>
          <p:nvPr/>
        </p:nvGrpSpPr>
        <p:grpSpPr>
          <a:xfrm>
            <a:off x="1339702" y="1690688"/>
            <a:ext cx="8203905" cy="4178484"/>
            <a:chOff x="1339702" y="1690688"/>
            <a:chExt cx="8203905" cy="41784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BC2D39F-0EAA-4A2E-A3D9-81603A552FBA}"/>
                </a:ext>
              </a:extLst>
            </p:cNvPr>
            <p:cNvSpPr/>
            <p:nvPr/>
          </p:nvSpPr>
          <p:spPr>
            <a:xfrm>
              <a:off x="1339702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DA35DB5-CE03-4B94-8FA2-63494852D44C}"/>
                </a:ext>
              </a:extLst>
            </p:cNvPr>
            <p:cNvSpPr/>
            <p:nvPr/>
          </p:nvSpPr>
          <p:spPr>
            <a:xfrm>
              <a:off x="4622948" y="1690688"/>
              <a:ext cx="1637414" cy="417848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E6450C-5764-4B93-B7D6-A9C4FCAF40CD}"/>
                </a:ext>
              </a:extLst>
            </p:cNvPr>
            <p:cNvSpPr/>
            <p:nvPr/>
          </p:nvSpPr>
          <p:spPr>
            <a:xfrm>
              <a:off x="7906193" y="1690688"/>
              <a:ext cx="1637414" cy="41784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BAFDAF-07A5-48FE-9ED1-D56B7D71CC00}"/>
              </a:ext>
            </a:extLst>
          </p:cNvPr>
          <p:cNvGrpSpPr/>
          <p:nvPr/>
        </p:nvGrpSpPr>
        <p:grpSpPr>
          <a:xfrm>
            <a:off x="4904711" y="2045975"/>
            <a:ext cx="1073888" cy="1940552"/>
            <a:chOff x="4837814" y="2039680"/>
            <a:chExt cx="1073888" cy="19405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2D86DE-5F38-4F53-9231-1D491BE51982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A298C9-4506-4BD5-97C2-A2A79D053256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76E215-FB56-4A9E-8452-D6210F01A3CD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FC0CF3-E514-4C66-87D6-005E92B52C20}"/>
              </a:ext>
            </a:extLst>
          </p:cNvPr>
          <p:cNvGrpSpPr/>
          <p:nvPr/>
        </p:nvGrpSpPr>
        <p:grpSpPr>
          <a:xfrm>
            <a:off x="209627" y="2047682"/>
            <a:ext cx="1130075" cy="1442613"/>
            <a:chOff x="1132113" y="803364"/>
            <a:chExt cx="1130075" cy="144261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7DC5F5-E916-46E7-B1D5-0F55AF029461}"/>
                </a:ext>
              </a:extLst>
            </p:cNvPr>
            <p:cNvSpPr txBox="1"/>
            <p:nvPr/>
          </p:nvSpPr>
          <p:spPr>
            <a:xfrm>
              <a:off x="1132113" y="1876645"/>
              <a:ext cx="1130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19" name="Graphic 18" descr="Man">
              <a:extLst>
                <a:ext uri="{FF2B5EF4-FFF2-40B4-BE49-F238E27FC236}">
                  <a16:creationId xmlns:a16="http://schemas.microsoft.com/office/drawing/2014/main" id="{BC8BB1BB-E5CE-4D15-B198-94924700F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39951" y="803364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F76DAC-2AAA-417A-9273-35B959803EB6}"/>
              </a:ext>
            </a:extLst>
          </p:cNvPr>
          <p:cNvGrpSpPr/>
          <p:nvPr/>
        </p:nvGrpSpPr>
        <p:grpSpPr>
          <a:xfrm>
            <a:off x="10020980" y="1936039"/>
            <a:ext cx="1084521" cy="1554256"/>
            <a:chOff x="10180468" y="803364"/>
            <a:chExt cx="1084521" cy="1554256"/>
          </a:xfrm>
        </p:grpSpPr>
        <p:pic>
          <p:nvPicPr>
            <p:cNvPr id="21" name="Graphic 20" descr="Man">
              <a:extLst>
                <a:ext uri="{FF2B5EF4-FFF2-40B4-BE49-F238E27FC236}">
                  <a16:creationId xmlns:a16="http://schemas.microsoft.com/office/drawing/2014/main" id="{E2CE21DE-AA5A-4C71-BD44-C590574ED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65528" y="803364"/>
              <a:ext cx="914400" cy="9144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8A4807-895C-4F23-A57B-6DAD07D60246}"/>
                </a:ext>
              </a:extLst>
            </p:cNvPr>
            <p:cNvSpPr txBox="1"/>
            <p:nvPr/>
          </p:nvSpPr>
          <p:spPr>
            <a:xfrm>
              <a:off x="10180468" y="1988288"/>
              <a:ext cx="1084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CD1091-C41E-4193-B50E-3A9C91A21AF9}"/>
              </a:ext>
            </a:extLst>
          </p:cNvPr>
          <p:cNvGrpSpPr/>
          <p:nvPr/>
        </p:nvGrpSpPr>
        <p:grpSpPr>
          <a:xfrm>
            <a:off x="1556967" y="2045975"/>
            <a:ext cx="1073888" cy="1940552"/>
            <a:chOff x="4837814" y="2039680"/>
            <a:chExt cx="1073888" cy="194055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2D4100-280D-4CB5-A486-F06691FAB861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C9EDA0A-F7A3-41B1-876E-027968BA9ED2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CABF7B-6EE6-4085-AB24-9072C5DD07E0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19C5E70-2933-4B18-B1DE-8CB990819C7F}"/>
              </a:ext>
            </a:extLst>
          </p:cNvPr>
          <p:cNvGrpSpPr/>
          <p:nvPr/>
        </p:nvGrpSpPr>
        <p:grpSpPr>
          <a:xfrm>
            <a:off x="8195251" y="2045975"/>
            <a:ext cx="1073888" cy="1940552"/>
            <a:chOff x="4837814" y="2039680"/>
            <a:chExt cx="1073888" cy="194055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FB236E-17E5-4456-8A84-B6547158E707}"/>
                </a:ext>
              </a:extLst>
            </p:cNvPr>
            <p:cNvSpPr/>
            <p:nvPr/>
          </p:nvSpPr>
          <p:spPr>
            <a:xfrm>
              <a:off x="5013251" y="2892167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389AA9-15AF-42B7-B0C3-13F889BFB09F}"/>
                </a:ext>
              </a:extLst>
            </p:cNvPr>
            <p:cNvSpPr/>
            <p:nvPr/>
          </p:nvSpPr>
          <p:spPr>
            <a:xfrm>
              <a:off x="5013251" y="3565673"/>
              <a:ext cx="723014" cy="4145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B780CED-D7BD-4CAE-A9D7-07C191275446}"/>
                </a:ext>
              </a:extLst>
            </p:cNvPr>
            <p:cNvSpPr/>
            <p:nvPr/>
          </p:nvSpPr>
          <p:spPr>
            <a:xfrm>
              <a:off x="4837814" y="2039680"/>
              <a:ext cx="1073888" cy="723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Master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F51C607-4EDF-4BBA-951F-DE65AE241633}"/>
              </a:ext>
            </a:extLst>
          </p:cNvPr>
          <p:cNvSpPr/>
          <p:nvPr/>
        </p:nvSpPr>
        <p:spPr>
          <a:xfrm>
            <a:off x="1732404" y="4180285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3D225A-0809-44F0-8E22-77BD4CD3E4C8}"/>
              </a:ext>
            </a:extLst>
          </p:cNvPr>
          <p:cNvSpPr/>
          <p:nvPr/>
        </p:nvSpPr>
        <p:spPr>
          <a:xfrm>
            <a:off x="8370688" y="4823252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CB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3EE1D81-3015-431F-B127-37C20FFF63C4}"/>
              </a:ext>
            </a:extLst>
          </p:cNvPr>
          <p:cNvSpPr/>
          <p:nvPr/>
        </p:nvSpPr>
        <p:spPr>
          <a:xfrm rot="10800000">
            <a:off x="3303139" y="2313039"/>
            <a:ext cx="1041991" cy="383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9857FC-35D8-4B51-857D-2975717AD003}"/>
              </a:ext>
            </a:extLst>
          </p:cNvPr>
          <p:cNvSpPr txBox="1"/>
          <p:nvPr/>
        </p:nvSpPr>
        <p:spPr>
          <a:xfrm>
            <a:off x="3325649" y="2962082"/>
            <a:ext cx="1522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 pull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CA48CA-5770-48C1-B915-90418B5FA9ED}"/>
              </a:ext>
            </a:extLst>
          </p:cNvPr>
          <p:cNvSpPr/>
          <p:nvPr/>
        </p:nvSpPr>
        <p:spPr>
          <a:xfrm>
            <a:off x="5080148" y="4246838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1F7962-B137-45E7-8A11-C86F9B354B1A}"/>
              </a:ext>
            </a:extLst>
          </p:cNvPr>
          <p:cNvSpPr/>
          <p:nvPr/>
        </p:nvSpPr>
        <p:spPr>
          <a:xfrm>
            <a:off x="8370688" y="4191892"/>
            <a:ext cx="723014" cy="414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EE01E7-0A84-4075-A414-3CA27CC7AD85}"/>
              </a:ext>
            </a:extLst>
          </p:cNvPr>
          <p:cNvSpPr/>
          <p:nvPr/>
        </p:nvSpPr>
        <p:spPr>
          <a:xfrm>
            <a:off x="1732404" y="4855155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71434E-9EDD-40EB-8513-043E0A1BF43A}"/>
              </a:ext>
            </a:extLst>
          </p:cNvPr>
          <p:cNvSpPr txBox="1"/>
          <p:nvPr/>
        </p:nvSpPr>
        <p:spPr>
          <a:xfrm>
            <a:off x="4622948" y="1191883"/>
            <a:ext cx="163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Remote Repo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C65305-EA32-4C59-B7C4-37E5DAE2CE55}"/>
              </a:ext>
            </a:extLst>
          </p:cNvPr>
          <p:cNvSpPr/>
          <p:nvPr/>
        </p:nvSpPr>
        <p:spPr>
          <a:xfrm>
            <a:off x="5080148" y="4865788"/>
            <a:ext cx="723014" cy="4145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CB</a:t>
            </a:r>
          </a:p>
        </p:txBody>
      </p:sp>
    </p:spTree>
    <p:extLst>
      <p:ext uri="{BB962C8B-B14F-4D97-AF65-F5344CB8AC3E}">
        <p14:creationId xmlns:p14="http://schemas.microsoft.com/office/powerpoint/2010/main" val="20710001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7E407-3609-4559-8121-33A46DE3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More on Collaborative Git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6CF1B-E6E3-444A-9FCB-D505C63B5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Deleting a branch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Avenir Book" charset="0"/>
                <a:ea typeface="Avenir Book" charset="0"/>
                <a:cs typeface="Avenir Book" charset="0"/>
              </a:rPr>
              <a:t>git branch </a:t>
            </a:r>
            <a:r>
              <a:rPr lang="mr-IN" sz="2000" dirty="0">
                <a:latin typeface="Avenir Book" charset="0"/>
                <a:ea typeface="Avenir Book" charset="0"/>
                <a:cs typeface="Avenir Book" charset="0"/>
              </a:rPr>
              <a:t>–</a:t>
            </a:r>
            <a:r>
              <a:rPr lang="en-US" sz="2000" dirty="0">
                <a:latin typeface="Avenir Book" charset="0"/>
                <a:ea typeface="Avenir Book" charset="0"/>
                <a:cs typeface="Avenir Book" charset="0"/>
              </a:rPr>
              <a:t>d &lt;</a:t>
            </a:r>
            <a:r>
              <a:rPr lang="en-US" sz="2000" dirty="0" err="1">
                <a:latin typeface="Avenir Book" charset="0"/>
                <a:ea typeface="Avenir Book" charset="0"/>
                <a:cs typeface="Avenir Book" charset="0"/>
              </a:rPr>
              <a:t>branchname</a:t>
            </a:r>
            <a:r>
              <a:rPr lang="en-US" sz="2000" dirty="0">
                <a:latin typeface="Avenir Book" charset="0"/>
                <a:ea typeface="Avenir Book" charset="0"/>
                <a:cs typeface="Avenir Book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Merge conflicts! How do you resolve?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Pull requests ?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git tag </a:t>
            </a:r>
            <a:r>
              <a:rPr lang="mr-IN" dirty="0">
                <a:latin typeface="Avenir Book" charset="0"/>
                <a:ea typeface="Avenir Book" charset="0"/>
                <a:cs typeface="Avenir Book" charset="0"/>
              </a:rPr>
              <a:t>–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a v1.0 / git tag </a:t>
            </a:r>
            <a:r>
              <a:rPr lang="mr-IN" dirty="0">
                <a:latin typeface="Avenir Book" charset="0"/>
                <a:ea typeface="Avenir Book" charset="0"/>
                <a:cs typeface="Avenir Book" charset="0"/>
              </a:rPr>
              <a:t>–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a v1.0 &lt;commit 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sha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&gt;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866" y="2781829"/>
            <a:ext cx="3395134" cy="339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3513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venir Book" charset="0"/>
                <a:ea typeface="Avenir Book" charset="0"/>
                <a:cs typeface="Avenir Book" charset="0"/>
              </a:rPr>
              <a:t>Dealing with Merge Conflicts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Avenir Book" charset="0"/>
                <a:ea typeface="Avenir Book" charset="0"/>
                <a:cs typeface="Avenir Book" charset="0"/>
              </a:rPr>
              <a:t>Two typical cases of merge conflicts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Normal merge where you’re a collaborator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Avenir Book" charset="0"/>
                <a:ea typeface="Avenir Book" charset="0"/>
                <a:cs typeface="Avenir Book" charset="0"/>
              </a:rPr>
              <a:t>Pull request (handled by the repository owner)</a:t>
            </a:r>
          </a:p>
        </p:txBody>
      </p:sp>
    </p:spTree>
    <p:extLst>
      <p:ext uri="{BB962C8B-B14F-4D97-AF65-F5344CB8AC3E}">
        <p14:creationId xmlns:p14="http://schemas.microsoft.com/office/powerpoint/2010/main" val="15315820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More to learn in 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Git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/Forward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Firstly, I highly recommended building a project from scratch with 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Git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 integrated and if possible, with other programmers.</a:t>
            </a:r>
          </a:p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As far as </a:t>
            </a:r>
            <a:r>
              <a:rPr lang="en-US" dirty="0" err="1">
                <a:latin typeface="Avenir Book" charset="0"/>
                <a:ea typeface="Avenir Book" charset="0"/>
                <a:cs typeface="Avenir Book" charset="0"/>
              </a:rPr>
              <a:t>Git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 goes, this PowerPoint covers the basics to help you get started, but as you work with version control, you will encounter new commands required.</a:t>
            </a:r>
          </a:p>
          <a:p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Rebasing </a:t>
            </a:r>
            <a:r>
              <a:rPr lang="mr-IN" dirty="0">
                <a:latin typeface="Avenir Book" charset="0"/>
                <a:ea typeface="Avenir Book" charset="0"/>
                <a:cs typeface="Avenir Book" charset="0"/>
              </a:rPr>
              <a:t>–</a:t>
            </a:r>
            <a:r>
              <a:rPr lang="en-US" dirty="0">
                <a:latin typeface="Avenir Book" charset="0"/>
                <a:ea typeface="Avenir Book" charset="0"/>
                <a:cs typeface="Avenir Book" charset="0"/>
              </a:rPr>
              <a:t> concept you could cover.</a:t>
            </a:r>
          </a:p>
        </p:txBody>
      </p:sp>
    </p:spTree>
    <p:extLst>
      <p:ext uri="{BB962C8B-B14F-4D97-AF65-F5344CB8AC3E}">
        <p14:creationId xmlns:p14="http://schemas.microsoft.com/office/powerpoint/2010/main" val="12467816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4438</TotalTime>
  <Words>2195</Words>
  <Application>Microsoft Office PowerPoint</Application>
  <PresentationFormat>Widescreen</PresentationFormat>
  <Paragraphs>409</Paragraphs>
  <Slides>46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Arial</vt:lpstr>
      <vt:lpstr>Avenir Book</vt:lpstr>
      <vt:lpstr>Avenir Heavy</vt:lpstr>
      <vt:lpstr>Avenir Light</vt:lpstr>
      <vt:lpstr>Avenir Medium</vt:lpstr>
      <vt:lpstr>Calibri</vt:lpstr>
      <vt:lpstr>Century Gothic</vt:lpstr>
      <vt:lpstr>Courier New</vt:lpstr>
      <vt:lpstr>Tahoma</vt:lpstr>
      <vt:lpstr>Times New Roman</vt:lpstr>
      <vt:lpstr>Wingdings 3</vt:lpstr>
      <vt:lpstr>Ion</vt:lpstr>
      <vt:lpstr>Version Control with Git and GitHub</vt:lpstr>
      <vt:lpstr>What’s the plan for today? </vt:lpstr>
      <vt:lpstr>How do you work with other developers? </vt:lpstr>
      <vt:lpstr>So what’s version control? </vt:lpstr>
      <vt:lpstr>Why version control?</vt:lpstr>
      <vt:lpstr>Centralized Version Control</vt:lpstr>
      <vt:lpstr>Distributed Version Control</vt:lpstr>
      <vt:lpstr>Git</vt:lpstr>
      <vt:lpstr>A Brief History of Git</vt:lpstr>
      <vt:lpstr>Why Git and not other VCS? </vt:lpstr>
      <vt:lpstr>Installing Git</vt:lpstr>
      <vt:lpstr>Version Control Terminology</vt:lpstr>
      <vt:lpstr>Version Control Terminology</vt:lpstr>
      <vt:lpstr>Version Control Terminology</vt:lpstr>
      <vt:lpstr>Version Control Terminology</vt:lpstr>
      <vt:lpstr>Let’s dive into the good stuff now</vt:lpstr>
      <vt:lpstr>Initial Git Configuration</vt:lpstr>
      <vt:lpstr>Basic Git Commands</vt:lpstr>
      <vt:lpstr>PowerPoint Presentation</vt:lpstr>
      <vt:lpstr>Basic Git model locally</vt:lpstr>
      <vt:lpstr>Add and commit a file</vt:lpstr>
      <vt:lpstr>Viewing/undoing changes</vt:lpstr>
      <vt:lpstr>Branching and Merging</vt:lpstr>
      <vt:lpstr>Merge conflicts</vt:lpstr>
      <vt:lpstr>Interaction with remote Repo</vt:lpstr>
      <vt:lpstr>GitHub</vt:lpstr>
      <vt:lpstr>Working with a remote repository</vt:lpstr>
      <vt:lpstr>PowerPoint Presentation</vt:lpstr>
      <vt:lpstr>PowerPoint Presentation</vt:lpstr>
      <vt:lpstr>PowerPoint Presentation</vt:lpstr>
      <vt:lpstr>PowerPoint Presentation</vt:lpstr>
      <vt:lpstr>How to access GitHub</vt:lpstr>
      <vt:lpstr>GitHub Demo</vt:lpstr>
      <vt:lpstr>More Git commands</vt:lpstr>
      <vt:lpstr>Demo </vt:lpstr>
      <vt:lpstr>Collaboration with GitHub</vt:lpstr>
      <vt:lpstr>Collaborate</vt:lpstr>
      <vt:lpstr>Collaborate</vt:lpstr>
      <vt:lpstr>Collaborate</vt:lpstr>
      <vt:lpstr>Collaborate</vt:lpstr>
      <vt:lpstr>Collaborate</vt:lpstr>
      <vt:lpstr>Collaborate</vt:lpstr>
      <vt:lpstr>Collaborate</vt:lpstr>
      <vt:lpstr>More on Collaborative Git commands</vt:lpstr>
      <vt:lpstr>Dealing with Merge Conflicts</vt:lpstr>
      <vt:lpstr>More to learn in Git/Forward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 Patel</dc:creator>
  <cp:lastModifiedBy>Shantanu Banerjee</cp:lastModifiedBy>
  <cp:revision>239</cp:revision>
  <dcterms:created xsi:type="dcterms:W3CDTF">2017-08-30T02:16:33Z</dcterms:created>
  <dcterms:modified xsi:type="dcterms:W3CDTF">2022-08-07T17:04:44Z</dcterms:modified>
</cp:coreProperties>
</file>